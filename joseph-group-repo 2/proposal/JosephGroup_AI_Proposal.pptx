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731520"/>
            <a:ext cx="8229600" cy="347472"/>
          </a:xfrm>
          <a:prstGeom prst="rect">
            <a:avLst/>
          </a:prstGeom>
          <a:noFill/>
        </p:spPr>
        <p:txBody>
          <a:bodyPr wrap="square">
            <a:spAutoFit/>
          </a:bodyPr>
          <a:lstStyle/>
          <a:p>
            <a:pPr algn="l"/>
            <a:r>
              <a:rPr sz="1100" b="1" i="0">
                <a:solidFill>
                  <a:srgbClr val="185FA5"/>
                </a:solidFill>
                <a:latin typeface="Calibri"/>
              </a:rPr>
              <a:t>THE JOSEPH GROUP</a:t>
            </a:r>
          </a:p>
        </p:txBody>
      </p:sp>
      <p:sp>
        <p:nvSpPr>
          <p:cNvPr id="5" name="TextBox 4"/>
          <p:cNvSpPr txBox="1"/>
          <p:nvPr/>
        </p:nvSpPr>
        <p:spPr>
          <a:xfrm>
            <a:off x="594360" y="1170432"/>
            <a:ext cx="10058400" cy="841248"/>
          </a:xfrm>
          <a:prstGeom prst="rect">
            <a:avLst/>
          </a:prstGeom>
          <a:noFill/>
        </p:spPr>
        <p:txBody>
          <a:bodyPr wrap="square">
            <a:spAutoFit/>
          </a:bodyPr>
          <a:lstStyle/>
          <a:p>
            <a:pPr algn="l"/>
            <a:r>
              <a:rPr sz="5200" b="1" i="0">
                <a:solidFill>
                  <a:srgbClr val="FFFFFF"/>
                </a:solidFill>
                <a:latin typeface="Calibri"/>
              </a:rPr>
              <a:t>AI &amp; Technology</a:t>
            </a:r>
          </a:p>
        </p:txBody>
      </p:sp>
      <p:sp>
        <p:nvSpPr>
          <p:cNvPr id="6" name="TextBox 5"/>
          <p:cNvSpPr txBox="1"/>
          <p:nvPr/>
        </p:nvSpPr>
        <p:spPr>
          <a:xfrm>
            <a:off x="594360" y="1956816"/>
            <a:ext cx="10058400" cy="713232"/>
          </a:xfrm>
          <a:prstGeom prst="rect">
            <a:avLst/>
          </a:prstGeom>
          <a:noFill/>
        </p:spPr>
        <p:txBody>
          <a:bodyPr wrap="square">
            <a:spAutoFit/>
          </a:bodyPr>
          <a:lstStyle/>
          <a:p>
            <a:pPr algn="l"/>
            <a:r>
              <a:rPr sz="4200" b="0" i="0">
                <a:solidFill>
                  <a:srgbClr val="FFFFFF"/>
                </a:solidFill>
                <a:latin typeface="Calibri"/>
              </a:rPr>
              <a:t>Operations Proposal</a:t>
            </a:r>
          </a:p>
        </p:txBody>
      </p:sp>
      <p:sp>
        <p:nvSpPr>
          <p:cNvPr id="7" name="Rectangle 6"/>
          <p:cNvSpPr/>
          <p:nvPr/>
        </p:nvSpPr>
        <p:spPr>
          <a:xfrm>
            <a:off x="594360" y="2798064"/>
            <a:ext cx="6583680" cy="457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2944368"/>
            <a:ext cx="9875520" cy="777240"/>
          </a:xfrm>
          <a:prstGeom prst="rect">
            <a:avLst/>
          </a:prstGeom>
          <a:noFill/>
        </p:spPr>
        <p:txBody>
          <a:bodyPr wrap="square">
            <a:spAutoFit/>
          </a:bodyPr>
          <a:lstStyle/>
          <a:p>
            <a:pPr algn="l"/>
            <a:r>
              <a:rPr sz="1300" b="0" i="1">
                <a:solidFill>
                  <a:srgbClr val="CCCCD8"/>
                </a:solidFill>
                <a:latin typeface="Calibri"/>
              </a:rPr>
              <a:t>Three implementation tiers — from deploying tools today to owning a
proprietary AI platform and launching an R&amp;D division.</a:t>
            </a:r>
          </a:p>
        </p:txBody>
      </p:sp>
      <p:sp>
        <p:nvSpPr>
          <p:cNvPr id="9" name="TextBox 8"/>
          <p:cNvSpPr txBox="1"/>
          <p:nvPr/>
        </p:nvSpPr>
        <p:spPr>
          <a:xfrm>
            <a:off x="8778240" y="1280160"/>
            <a:ext cx="3108960" cy="749808"/>
          </a:xfrm>
          <a:prstGeom prst="rect">
            <a:avLst/>
          </a:prstGeom>
          <a:noFill/>
        </p:spPr>
        <p:txBody>
          <a:bodyPr wrap="square">
            <a:spAutoFit/>
          </a:bodyPr>
          <a:lstStyle/>
          <a:p>
            <a:pPr algn="r"/>
            <a:r>
              <a:rPr sz="4400" b="1" i="0">
                <a:solidFill>
                  <a:srgbClr val="185FA5"/>
                </a:solidFill>
                <a:latin typeface="Calibri"/>
              </a:rPr>
              <a:t>3</a:t>
            </a:r>
          </a:p>
        </p:txBody>
      </p:sp>
      <p:sp>
        <p:nvSpPr>
          <p:cNvPr id="10" name="TextBox 9"/>
          <p:cNvSpPr txBox="1"/>
          <p:nvPr/>
        </p:nvSpPr>
        <p:spPr>
          <a:xfrm>
            <a:off x="8778240" y="1993391"/>
            <a:ext cx="3108960" cy="292608"/>
          </a:xfrm>
          <a:prstGeom prst="rect">
            <a:avLst/>
          </a:prstGeom>
          <a:noFill/>
        </p:spPr>
        <p:txBody>
          <a:bodyPr wrap="square">
            <a:spAutoFit/>
          </a:bodyPr>
          <a:lstStyle/>
          <a:p>
            <a:pPr algn="r"/>
            <a:r>
              <a:rPr sz="1000" b="0" i="0">
                <a:solidFill>
                  <a:srgbClr val="666677"/>
                </a:solidFill>
                <a:latin typeface="Calibri"/>
              </a:rPr>
              <a:t>implementation tiers</a:t>
            </a:r>
          </a:p>
        </p:txBody>
      </p:sp>
      <p:sp>
        <p:nvSpPr>
          <p:cNvPr id="11" name="TextBox 10"/>
          <p:cNvSpPr txBox="1"/>
          <p:nvPr/>
        </p:nvSpPr>
        <p:spPr>
          <a:xfrm>
            <a:off x="8778240" y="2331720"/>
            <a:ext cx="3108960" cy="749808"/>
          </a:xfrm>
          <a:prstGeom prst="rect">
            <a:avLst/>
          </a:prstGeom>
          <a:noFill/>
        </p:spPr>
        <p:txBody>
          <a:bodyPr wrap="square">
            <a:spAutoFit/>
          </a:bodyPr>
          <a:lstStyle/>
          <a:p>
            <a:pPr algn="r"/>
            <a:r>
              <a:rPr sz="4400" b="1" i="0">
                <a:solidFill>
                  <a:srgbClr val="1D9E75"/>
                </a:solidFill>
                <a:latin typeface="Calibri"/>
              </a:rPr>
              <a:t>$469K+</a:t>
            </a:r>
          </a:p>
        </p:txBody>
      </p:sp>
      <p:sp>
        <p:nvSpPr>
          <p:cNvPr id="12" name="TextBox 11"/>
          <p:cNvSpPr txBox="1"/>
          <p:nvPr/>
        </p:nvSpPr>
        <p:spPr>
          <a:xfrm>
            <a:off x="8778240" y="3044952"/>
            <a:ext cx="3108960" cy="292608"/>
          </a:xfrm>
          <a:prstGeom prst="rect">
            <a:avLst/>
          </a:prstGeom>
          <a:noFill/>
        </p:spPr>
        <p:txBody>
          <a:bodyPr wrap="square">
            <a:spAutoFit/>
          </a:bodyPr>
          <a:lstStyle/>
          <a:p>
            <a:pPr algn="r"/>
            <a:r>
              <a:rPr sz="1000" b="0" i="0">
                <a:solidFill>
                  <a:srgbClr val="666677"/>
                </a:solidFill>
                <a:latin typeface="Calibri"/>
              </a:rPr>
              <a:t>est. net annual benefit</a:t>
            </a:r>
          </a:p>
        </p:txBody>
      </p:sp>
      <p:sp>
        <p:nvSpPr>
          <p:cNvPr id="13" name="TextBox 12"/>
          <p:cNvSpPr txBox="1"/>
          <p:nvPr/>
        </p:nvSpPr>
        <p:spPr>
          <a:xfrm>
            <a:off x="8778240" y="3383280"/>
            <a:ext cx="3108960" cy="749808"/>
          </a:xfrm>
          <a:prstGeom prst="rect">
            <a:avLst/>
          </a:prstGeom>
          <a:noFill/>
        </p:spPr>
        <p:txBody>
          <a:bodyPr wrap="square">
            <a:spAutoFit/>
          </a:bodyPr>
          <a:lstStyle/>
          <a:p>
            <a:pPr algn="r"/>
            <a:r>
              <a:rPr sz="4400" b="1" i="0">
                <a:solidFill>
                  <a:srgbClr val="534AB7"/>
                </a:solidFill>
                <a:latin typeface="Calibri"/>
              </a:rPr>
              <a:t>100%</a:t>
            </a:r>
          </a:p>
        </p:txBody>
      </p:sp>
      <p:sp>
        <p:nvSpPr>
          <p:cNvPr id="14" name="TextBox 13"/>
          <p:cNvSpPr txBox="1"/>
          <p:nvPr/>
        </p:nvSpPr>
        <p:spPr>
          <a:xfrm>
            <a:off x="8778240" y="4096512"/>
            <a:ext cx="3108960" cy="292608"/>
          </a:xfrm>
          <a:prstGeom prst="rect">
            <a:avLst/>
          </a:prstGeom>
          <a:noFill/>
        </p:spPr>
        <p:txBody>
          <a:bodyPr wrap="square">
            <a:spAutoFit/>
          </a:bodyPr>
          <a:lstStyle/>
          <a:p>
            <a:pPr algn="r"/>
            <a:r>
              <a:rPr sz="1000" b="0" i="0">
                <a:solidFill>
                  <a:srgbClr val="666677"/>
                </a:solidFill>
                <a:latin typeface="Calibri"/>
              </a:rPr>
              <a:t>IP owned at Tier 3</a:t>
            </a:r>
          </a:p>
        </p:txBody>
      </p:sp>
      <p:sp>
        <p:nvSpPr>
          <p:cNvPr id="15" name="TextBox 14"/>
          <p:cNvSpPr txBox="1"/>
          <p:nvPr/>
        </p:nvSpPr>
        <p:spPr>
          <a:xfrm>
            <a:off x="594360" y="6327648"/>
            <a:ext cx="9144000" cy="320040"/>
          </a:xfrm>
          <a:prstGeom prst="rect">
            <a:avLst/>
          </a:prstGeom>
          <a:noFill/>
        </p:spPr>
        <p:txBody>
          <a:bodyPr wrap="square">
            <a:spAutoFit/>
          </a:bodyPr>
          <a:lstStyle/>
          <a:p>
            <a:pPr algn="l"/>
            <a:r>
              <a:rPr sz="1000" b="0" i="0">
                <a:solidFill>
                  <a:srgbClr val="666677"/>
                </a:solidFill>
                <a:latin typeface="Calibri"/>
              </a:rPr>
              <a:t>Presented by Michael M.   |   April 13, 2026   |   Confidential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The Three-Tier Strategy — One Direction, Three Speeds</a:t>
            </a:r>
          </a:p>
        </p:txBody>
      </p:sp>
      <p:sp>
        <p:nvSpPr>
          <p:cNvPr id="4" name="Rectangle 3"/>
          <p:cNvSpPr/>
          <p:nvPr/>
        </p:nvSpPr>
        <p:spPr>
          <a:xfrm>
            <a:off x="274320" y="804672"/>
            <a:ext cx="3840480" cy="5559552"/>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04672"/>
            <a:ext cx="3840480" cy="9601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832104"/>
            <a:ext cx="3566160" cy="329184"/>
          </a:xfrm>
          <a:prstGeom prst="rect">
            <a:avLst/>
          </a:prstGeom>
          <a:noFill/>
        </p:spPr>
        <p:txBody>
          <a:bodyPr wrap="square">
            <a:spAutoFit/>
          </a:bodyPr>
          <a:lstStyle/>
          <a:p>
            <a:pPr algn="l"/>
            <a:r>
              <a:rPr sz="1100" b="1" i="0">
                <a:solidFill>
                  <a:srgbClr val="FFFFFF"/>
                </a:solidFill>
                <a:latin typeface="Calibri"/>
              </a:rPr>
              <a:t>TIER 1</a:t>
            </a:r>
          </a:p>
        </p:txBody>
      </p:sp>
      <p:sp>
        <p:nvSpPr>
          <p:cNvPr id="7" name="TextBox 6"/>
          <p:cNvSpPr txBox="1"/>
          <p:nvPr/>
        </p:nvSpPr>
        <p:spPr>
          <a:xfrm>
            <a:off x="411479" y="1133856"/>
            <a:ext cx="3566160" cy="402336"/>
          </a:xfrm>
          <a:prstGeom prst="rect">
            <a:avLst/>
          </a:prstGeom>
          <a:noFill/>
        </p:spPr>
        <p:txBody>
          <a:bodyPr wrap="square">
            <a:spAutoFit/>
          </a:bodyPr>
          <a:lstStyle/>
          <a:p>
            <a:pPr algn="l"/>
            <a:r>
              <a:rPr sz="1500" b="1" i="0">
                <a:solidFill>
                  <a:srgbClr val="FFFFFF"/>
                </a:solidFill>
                <a:latin typeface="Calibri"/>
              </a:rPr>
              <a:t>Lean Stack</a:t>
            </a:r>
          </a:p>
        </p:txBody>
      </p:sp>
      <p:sp>
        <p:nvSpPr>
          <p:cNvPr id="8" name="Rectangle 7"/>
          <p:cNvSpPr/>
          <p:nvPr/>
        </p:nvSpPr>
        <p:spPr>
          <a:xfrm>
            <a:off x="384048" y="1883664"/>
            <a:ext cx="360273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938528"/>
            <a:ext cx="3419856" cy="292608"/>
          </a:xfrm>
          <a:prstGeom prst="rect">
            <a:avLst/>
          </a:prstGeom>
          <a:noFill/>
        </p:spPr>
        <p:txBody>
          <a:bodyPr wrap="square">
            <a:spAutoFit/>
          </a:bodyPr>
          <a:lstStyle/>
          <a:p>
            <a:pPr algn="l"/>
            <a:r>
              <a:rPr sz="1000" b="1" i="0">
                <a:solidFill>
                  <a:srgbClr val="185FA5"/>
                </a:solidFill>
                <a:latin typeface="Calibri"/>
              </a:rPr>
              <a:t>Start here — Week 1, under 5 reps</a:t>
            </a:r>
          </a:p>
        </p:txBody>
      </p:sp>
      <p:sp>
        <p:nvSpPr>
          <p:cNvPr id="10" name="TextBox 9"/>
          <p:cNvSpPr txBox="1"/>
          <p:nvPr/>
        </p:nvSpPr>
        <p:spPr>
          <a:xfrm>
            <a:off x="411479" y="2423160"/>
            <a:ext cx="3566160" cy="1115568"/>
          </a:xfrm>
          <a:prstGeom prst="rect">
            <a:avLst/>
          </a:prstGeom>
          <a:noFill/>
        </p:spPr>
        <p:txBody>
          <a:bodyPr wrap="square">
            <a:spAutoFit/>
          </a:bodyPr>
          <a:lstStyle/>
          <a:p>
            <a:pPr algn="l"/>
            <a:r>
              <a:rPr sz="950" b="0" i="1">
                <a:solidFill>
                  <a:srgbClr val="1A1A2E"/>
                </a:solidFill>
                <a:latin typeface="Calibri"/>
              </a:rPr>
              <a:t>Buy best-in-class tools that solve the immediate problem. Fast to deploy, no build required. Proves the concept before committing to infrastructure.</a:t>
            </a:r>
          </a:p>
        </p:txBody>
      </p:sp>
      <p:sp>
        <p:nvSpPr>
          <p:cNvPr id="11" name="Rectangle 10"/>
          <p:cNvSpPr/>
          <p:nvPr/>
        </p:nvSpPr>
        <p:spPr>
          <a:xfrm>
            <a:off x="384048" y="3657600"/>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5488" y="3712463"/>
            <a:ext cx="3419856" cy="237744"/>
          </a:xfrm>
          <a:prstGeom prst="rect">
            <a:avLst/>
          </a:prstGeom>
          <a:noFill/>
        </p:spPr>
        <p:txBody>
          <a:bodyPr wrap="square">
            <a:spAutoFit/>
          </a:bodyPr>
          <a:lstStyle/>
          <a:p>
            <a:pPr algn="l"/>
            <a:r>
              <a:rPr sz="900" b="0" i="0">
                <a:solidFill>
                  <a:srgbClr val="1A1A2E"/>
                </a:solidFill>
                <a:latin typeface="Calibri"/>
              </a:rPr>
              <a:t>→  HubSpot Starter — CRM + pipeline</a:t>
            </a:r>
          </a:p>
        </p:txBody>
      </p:sp>
      <p:sp>
        <p:nvSpPr>
          <p:cNvPr id="13" name="Rectangle 12"/>
          <p:cNvSpPr/>
          <p:nvPr/>
        </p:nvSpPr>
        <p:spPr>
          <a:xfrm>
            <a:off x="384048" y="4059936"/>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75488" y="4114800"/>
            <a:ext cx="3419856" cy="237744"/>
          </a:xfrm>
          <a:prstGeom prst="rect">
            <a:avLst/>
          </a:prstGeom>
          <a:noFill/>
        </p:spPr>
        <p:txBody>
          <a:bodyPr wrap="square">
            <a:spAutoFit/>
          </a:bodyPr>
          <a:lstStyle/>
          <a:p>
            <a:pPr algn="l"/>
            <a:r>
              <a:rPr sz="900" b="0" i="0">
                <a:solidFill>
                  <a:srgbClr val="1A1A2E"/>
                </a:solidFill>
                <a:latin typeface="Calibri"/>
              </a:rPr>
              <a:t>→  Fathom — AI notetaker (NOT combined with Attention)</a:t>
            </a:r>
          </a:p>
        </p:txBody>
      </p:sp>
      <p:sp>
        <p:nvSpPr>
          <p:cNvPr id="15" name="Rectangle 14"/>
          <p:cNvSpPr/>
          <p:nvPr/>
        </p:nvSpPr>
        <p:spPr>
          <a:xfrm>
            <a:off x="384048" y="4462272"/>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 y="4517136"/>
            <a:ext cx="3419856" cy="237744"/>
          </a:xfrm>
          <a:prstGeom prst="rect">
            <a:avLst/>
          </a:prstGeom>
          <a:noFill/>
        </p:spPr>
        <p:txBody>
          <a:bodyPr wrap="square">
            <a:spAutoFit/>
          </a:bodyPr>
          <a:lstStyle/>
          <a:p>
            <a:pPr algn="l"/>
            <a:r>
              <a:rPr sz="900" b="0" i="0">
                <a:solidFill>
                  <a:srgbClr val="1A1A2E"/>
                </a:solidFill>
                <a:latin typeface="Calibri"/>
              </a:rPr>
              <a:t>→  Calendly — Booking automation</a:t>
            </a:r>
          </a:p>
        </p:txBody>
      </p:sp>
      <p:sp>
        <p:nvSpPr>
          <p:cNvPr id="17" name="Rectangle 16"/>
          <p:cNvSpPr/>
          <p:nvPr/>
        </p:nvSpPr>
        <p:spPr>
          <a:xfrm>
            <a:off x="384048" y="4864608"/>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4919472"/>
            <a:ext cx="3419856" cy="237744"/>
          </a:xfrm>
          <a:prstGeom prst="rect">
            <a:avLst/>
          </a:prstGeom>
          <a:noFill/>
        </p:spPr>
        <p:txBody>
          <a:bodyPr wrap="square">
            <a:spAutoFit/>
          </a:bodyPr>
          <a:lstStyle/>
          <a:p>
            <a:pPr algn="l"/>
            <a:r>
              <a:rPr sz="900" b="0" i="0">
                <a:solidFill>
                  <a:srgbClr val="1A1A2E"/>
                </a:solidFill>
                <a:latin typeface="Calibri"/>
              </a:rPr>
              <a:t>→  Otter.ai — Drive-by voice capture</a:t>
            </a:r>
          </a:p>
        </p:txBody>
      </p:sp>
      <p:sp>
        <p:nvSpPr>
          <p:cNvPr id="19" name="Rectangle 18"/>
          <p:cNvSpPr/>
          <p:nvPr/>
        </p:nvSpPr>
        <p:spPr>
          <a:xfrm>
            <a:off x="384048" y="5266944"/>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75488" y="5321808"/>
            <a:ext cx="3419856" cy="237744"/>
          </a:xfrm>
          <a:prstGeom prst="rect">
            <a:avLst/>
          </a:prstGeom>
          <a:noFill/>
        </p:spPr>
        <p:txBody>
          <a:bodyPr wrap="square">
            <a:spAutoFit/>
          </a:bodyPr>
          <a:lstStyle/>
          <a:p>
            <a:pPr algn="l"/>
            <a:r>
              <a:rPr sz="900" b="0" i="0">
                <a:solidFill>
                  <a:srgbClr val="1A1A2E"/>
                </a:solidFill>
                <a:latin typeface="Calibri"/>
              </a:rPr>
              <a:t>→  Zapier — Automation glue layer</a:t>
            </a:r>
          </a:p>
        </p:txBody>
      </p:sp>
      <p:sp>
        <p:nvSpPr>
          <p:cNvPr id="21" name="Rectangle 20"/>
          <p:cNvSpPr/>
          <p:nvPr/>
        </p:nvSpPr>
        <p:spPr>
          <a:xfrm>
            <a:off x="274320" y="5943600"/>
            <a:ext cx="3840480" cy="420624"/>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11479" y="5989320"/>
            <a:ext cx="3566160" cy="310896"/>
          </a:xfrm>
          <a:prstGeom prst="rect">
            <a:avLst/>
          </a:prstGeom>
          <a:noFill/>
        </p:spPr>
        <p:txBody>
          <a:bodyPr wrap="square">
            <a:spAutoFit/>
          </a:bodyPr>
          <a:lstStyle/>
          <a:p>
            <a:pPr algn="l"/>
            <a:r>
              <a:rPr sz="850" b="1" i="0">
                <a:solidFill>
                  <a:srgbClr val="FFFFFF"/>
                </a:solidFill>
                <a:latin typeface="Calibri"/>
              </a:rPr>
              <a:t>$128/mo · 3 reps · Deploy in 2 days · No IP owned</a:t>
            </a:r>
          </a:p>
        </p:txBody>
      </p:sp>
      <p:sp>
        <p:nvSpPr>
          <p:cNvPr id="23" name="Rectangle 22"/>
          <p:cNvSpPr/>
          <p:nvPr/>
        </p:nvSpPr>
        <p:spPr>
          <a:xfrm>
            <a:off x="4279392" y="804672"/>
            <a:ext cx="3840480" cy="5559552"/>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279392" y="804672"/>
            <a:ext cx="3840480" cy="960120"/>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16552" y="832104"/>
            <a:ext cx="3566160" cy="329184"/>
          </a:xfrm>
          <a:prstGeom prst="rect">
            <a:avLst/>
          </a:prstGeom>
          <a:noFill/>
        </p:spPr>
        <p:txBody>
          <a:bodyPr wrap="square">
            <a:spAutoFit/>
          </a:bodyPr>
          <a:lstStyle/>
          <a:p>
            <a:pPr algn="l"/>
            <a:r>
              <a:rPr sz="1100" b="1" i="0">
                <a:solidFill>
                  <a:srgbClr val="FFFFFF"/>
                </a:solidFill>
                <a:latin typeface="Calibri"/>
              </a:rPr>
              <a:t>TIER 2</a:t>
            </a:r>
          </a:p>
        </p:txBody>
      </p:sp>
      <p:sp>
        <p:nvSpPr>
          <p:cNvPr id="26" name="TextBox 25"/>
          <p:cNvSpPr txBox="1"/>
          <p:nvPr/>
        </p:nvSpPr>
        <p:spPr>
          <a:xfrm>
            <a:off x="4416552" y="1133856"/>
            <a:ext cx="3566160" cy="402336"/>
          </a:xfrm>
          <a:prstGeom prst="rect">
            <a:avLst/>
          </a:prstGeom>
          <a:noFill/>
        </p:spPr>
        <p:txBody>
          <a:bodyPr wrap="square">
            <a:spAutoFit/>
          </a:bodyPr>
          <a:lstStyle/>
          <a:p>
            <a:pPr algn="l"/>
            <a:r>
              <a:rPr sz="1500" b="1" i="0">
                <a:solidFill>
                  <a:srgbClr val="FFFFFF"/>
                </a:solidFill>
                <a:latin typeface="Calibri"/>
              </a:rPr>
              <a:t>Enterprise Stack</a:t>
            </a:r>
          </a:p>
        </p:txBody>
      </p:sp>
      <p:sp>
        <p:nvSpPr>
          <p:cNvPr id="27" name="Rectangle 26"/>
          <p:cNvSpPr/>
          <p:nvPr/>
        </p:nvSpPr>
        <p:spPr>
          <a:xfrm>
            <a:off x="4389120" y="1883664"/>
            <a:ext cx="360273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80559" y="1938528"/>
            <a:ext cx="3419856" cy="292608"/>
          </a:xfrm>
          <a:prstGeom prst="rect">
            <a:avLst/>
          </a:prstGeom>
          <a:noFill/>
        </p:spPr>
        <p:txBody>
          <a:bodyPr wrap="square">
            <a:spAutoFit/>
          </a:bodyPr>
          <a:lstStyle/>
          <a:p>
            <a:pPr algn="l"/>
            <a:r>
              <a:rPr sz="1000" b="1" i="0">
                <a:solidFill>
                  <a:srgbClr val="1D9E75"/>
                </a:solidFill>
                <a:latin typeface="Calibri"/>
              </a:rPr>
              <a:t>Upgrade at 5+ reps — manager visibility</a:t>
            </a:r>
          </a:p>
        </p:txBody>
      </p:sp>
      <p:sp>
        <p:nvSpPr>
          <p:cNvPr id="29" name="TextBox 28"/>
          <p:cNvSpPr txBox="1"/>
          <p:nvPr/>
        </p:nvSpPr>
        <p:spPr>
          <a:xfrm>
            <a:off x="4416552" y="2423160"/>
            <a:ext cx="3566160" cy="1115568"/>
          </a:xfrm>
          <a:prstGeom prst="rect">
            <a:avLst/>
          </a:prstGeom>
          <a:noFill/>
        </p:spPr>
        <p:txBody>
          <a:bodyPr wrap="square">
            <a:spAutoFit/>
          </a:bodyPr>
          <a:lstStyle/>
          <a:p>
            <a:pPr algn="l"/>
            <a:r>
              <a:rPr sz="950" b="0" i="1">
                <a:solidFill>
                  <a:srgbClr val="1A1A2E"/>
                </a:solidFill>
                <a:latin typeface="Calibri"/>
              </a:rPr>
              <a:t>Graduate when Ian needs visibility across the whole team. Attention replaces Fathom. Chili Piper replaces Calendly. Platform thinking, not tool thinking.</a:t>
            </a:r>
          </a:p>
        </p:txBody>
      </p:sp>
      <p:sp>
        <p:nvSpPr>
          <p:cNvPr id="30" name="Rectangle 29"/>
          <p:cNvSpPr/>
          <p:nvPr/>
        </p:nvSpPr>
        <p:spPr>
          <a:xfrm>
            <a:off x="4389120" y="3657600"/>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59" y="3712463"/>
            <a:ext cx="3419856" cy="237744"/>
          </a:xfrm>
          <a:prstGeom prst="rect">
            <a:avLst/>
          </a:prstGeom>
          <a:noFill/>
        </p:spPr>
        <p:txBody>
          <a:bodyPr wrap="square">
            <a:spAutoFit/>
          </a:bodyPr>
          <a:lstStyle/>
          <a:p>
            <a:pPr algn="l"/>
            <a:r>
              <a:rPr sz="900" b="0" i="0">
                <a:solidFill>
                  <a:srgbClr val="1A1A2E"/>
                </a:solidFill>
                <a:latin typeface="Calibri"/>
              </a:rPr>
              <a:t>→  HubSpot Professional — Full CRM suite</a:t>
            </a:r>
          </a:p>
        </p:txBody>
      </p:sp>
      <p:sp>
        <p:nvSpPr>
          <p:cNvPr id="32" name="Rectangle 31"/>
          <p:cNvSpPr/>
          <p:nvPr/>
        </p:nvSpPr>
        <p:spPr>
          <a:xfrm>
            <a:off x="4389120" y="4059936"/>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59" y="4114800"/>
            <a:ext cx="3419856" cy="237744"/>
          </a:xfrm>
          <a:prstGeom prst="rect">
            <a:avLst/>
          </a:prstGeom>
          <a:noFill/>
        </p:spPr>
        <p:txBody>
          <a:bodyPr wrap="square">
            <a:spAutoFit/>
          </a:bodyPr>
          <a:lstStyle/>
          <a:p>
            <a:pPr algn="l"/>
            <a:r>
              <a:rPr sz="900" b="0" i="0">
                <a:solidFill>
                  <a:srgbClr val="1A1A2E"/>
                </a:solidFill>
                <a:latin typeface="Calibri"/>
              </a:rPr>
              <a:t>→  Attention — Replaces Fathom: coaching + deal alerts</a:t>
            </a:r>
          </a:p>
        </p:txBody>
      </p:sp>
      <p:sp>
        <p:nvSpPr>
          <p:cNvPr id="34" name="Rectangle 33"/>
          <p:cNvSpPr/>
          <p:nvPr/>
        </p:nvSpPr>
        <p:spPr>
          <a:xfrm>
            <a:off x="4389120" y="4462272"/>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59" y="4517136"/>
            <a:ext cx="3419856" cy="237744"/>
          </a:xfrm>
          <a:prstGeom prst="rect">
            <a:avLst/>
          </a:prstGeom>
          <a:noFill/>
        </p:spPr>
        <p:txBody>
          <a:bodyPr wrap="square">
            <a:spAutoFit/>
          </a:bodyPr>
          <a:lstStyle/>
          <a:p>
            <a:pPr algn="l"/>
            <a:r>
              <a:rPr sz="900" b="0" i="0">
                <a:solidFill>
                  <a:srgbClr val="1A1A2E"/>
                </a:solidFill>
                <a:latin typeface="Calibri"/>
              </a:rPr>
              <a:t>→  Chili Piper — Replaces Calendly: inbound routing</a:t>
            </a:r>
          </a:p>
        </p:txBody>
      </p:sp>
      <p:sp>
        <p:nvSpPr>
          <p:cNvPr id="36" name="Rectangle 35"/>
          <p:cNvSpPr/>
          <p:nvPr/>
        </p:nvSpPr>
        <p:spPr>
          <a:xfrm>
            <a:off x="4389120" y="4864608"/>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59" y="4919472"/>
            <a:ext cx="3419856" cy="237744"/>
          </a:xfrm>
          <a:prstGeom prst="rect">
            <a:avLst/>
          </a:prstGeom>
          <a:noFill/>
        </p:spPr>
        <p:txBody>
          <a:bodyPr wrap="square">
            <a:spAutoFit/>
          </a:bodyPr>
          <a:lstStyle/>
          <a:p>
            <a:pPr algn="l"/>
            <a:r>
              <a:rPr sz="900" b="0" i="0">
                <a:solidFill>
                  <a:srgbClr val="1A1A2E"/>
                </a:solidFill>
                <a:latin typeface="Calibri"/>
              </a:rPr>
              <a:t>→  Otter.ai — Drive-by voice (unchanged)</a:t>
            </a:r>
          </a:p>
        </p:txBody>
      </p:sp>
      <p:sp>
        <p:nvSpPr>
          <p:cNvPr id="38" name="Rectangle 37"/>
          <p:cNvSpPr/>
          <p:nvPr/>
        </p:nvSpPr>
        <p:spPr>
          <a:xfrm>
            <a:off x="4389120" y="5266944"/>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59" y="5321808"/>
            <a:ext cx="3419856" cy="237744"/>
          </a:xfrm>
          <a:prstGeom prst="rect">
            <a:avLst/>
          </a:prstGeom>
          <a:noFill/>
        </p:spPr>
        <p:txBody>
          <a:bodyPr wrap="square">
            <a:spAutoFit/>
          </a:bodyPr>
          <a:lstStyle/>
          <a:p>
            <a:pPr algn="l"/>
            <a:r>
              <a:rPr sz="900" b="0" i="0">
                <a:solidFill>
                  <a:srgbClr val="1A1A2E"/>
                </a:solidFill>
                <a:latin typeface="Calibri"/>
              </a:rPr>
              <a:t>→  Zapier Pro — Higher task volume</a:t>
            </a:r>
          </a:p>
        </p:txBody>
      </p:sp>
      <p:sp>
        <p:nvSpPr>
          <p:cNvPr id="40" name="Rectangle 39"/>
          <p:cNvSpPr/>
          <p:nvPr/>
        </p:nvSpPr>
        <p:spPr>
          <a:xfrm>
            <a:off x="4279392" y="5943600"/>
            <a:ext cx="3840480" cy="420624"/>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6552" y="5989320"/>
            <a:ext cx="3566160" cy="310896"/>
          </a:xfrm>
          <a:prstGeom prst="rect">
            <a:avLst/>
          </a:prstGeom>
          <a:noFill/>
        </p:spPr>
        <p:txBody>
          <a:bodyPr wrap="square">
            <a:spAutoFit/>
          </a:bodyPr>
          <a:lstStyle/>
          <a:p>
            <a:pPr algn="l"/>
            <a:r>
              <a:rPr sz="850" b="1" i="0">
                <a:solidFill>
                  <a:srgbClr val="FFFFFF"/>
                </a:solidFill>
                <a:latin typeface="Calibri"/>
              </a:rPr>
              <a:t>$540/mo · 5 reps · 2–4 weeks · No IP owned</a:t>
            </a:r>
          </a:p>
        </p:txBody>
      </p:sp>
      <p:sp>
        <p:nvSpPr>
          <p:cNvPr id="42" name="Rectangle 41"/>
          <p:cNvSpPr/>
          <p:nvPr/>
        </p:nvSpPr>
        <p:spPr>
          <a:xfrm>
            <a:off x="8284463" y="804672"/>
            <a:ext cx="3840480" cy="5559552"/>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84463" y="804672"/>
            <a:ext cx="3840480" cy="960120"/>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8421624" y="832104"/>
            <a:ext cx="3566160" cy="329184"/>
          </a:xfrm>
          <a:prstGeom prst="rect">
            <a:avLst/>
          </a:prstGeom>
          <a:noFill/>
        </p:spPr>
        <p:txBody>
          <a:bodyPr wrap="square">
            <a:spAutoFit/>
          </a:bodyPr>
          <a:lstStyle/>
          <a:p>
            <a:pPr algn="l"/>
            <a:r>
              <a:rPr sz="1100" b="1" i="0">
                <a:solidFill>
                  <a:srgbClr val="FFFFFF"/>
                </a:solidFill>
                <a:latin typeface="Calibri"/>
              </a:rPr>
              <a:t>TIER 3</a:t>
            </a:r>
          </a:p>
        </p:txBody>
      </p:sp>
      <p:sp>
        <p:nvSpPr>
          <p:cNvPr id="45" name="TextBox 44"/>
          <p:cNvSpPr txBox="1"/>
          <p:nvPr/>
        </p:nvSpPr>
        <p:spPr>
          <a:xfrm>
            <a:off x="8421624" y="1133856"/>
            <a:ext cx="3566160" cy="402336"/>
          </a:xfrm>
          <a:prstGeom prst="rect">
            <a:avLst/>
          </a:prstGeom>
          <a:noFill/>
        </p:spPr>
        <p:txBody>
          <a:bodyPr wrap="square">
            <a:spAutoFit/>
          </a:bodyPr>
          <a:lstStyle/>
          <a:p>
            <a:pPr algn="l"/>
            <a:r>
              <a:rPr sz="1500" b="1" i="0">
                <a:solidFill>
                  <a:srgbClr val="FFFFFF"/>
                </a:solidFill>
                <a:latin typeface="Calibri"/>
              </a:rPr>
              <a:t>Build — R&amp;D Division</a:t>
            </a:r>
          </a:p>
        </p:txBody>
      </p:sp>
      <p:sp>
        <p:nvSpPr>
          <p:cNvPr id="46" name="Rectangle 45"/>
          <p:cNvSpPr/>
          <p:nvPr/>
        </p:nvSpPr>
        <p:spPr>
          <a:xfrm>
            <a:off x="8394191" y="1883664"/>
            <a:ext cx="3602736" cy="40233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8485632" y="1938528"/>
            <a:ext cx="3419856" cy="292608"/>
          </a:xfrm>
          <a:prstGeom prst="rect">
            <a:avLst/>
          </a:prstGeom>
          <a:noFill/>
        </p:spPr>
        <p:txBody>
          <a:bodyPr wrap="square">
            <a:spAutoFit/>
          </a:bodyPr>
          <a:lstStyle/>
          <a:p>
            <a:pPr algn="l"/>
            <a:r>
              <a:rPr sz="1000" b="1" i="0">
                <a:solidFill>
                  <a:srgbClr val="534AB7"/>
                </a:solidFill>
                <a:latin typeface="Calibri"/>
              </a:rPr>
              <a:t>Build in parallel — 90 days — own the IP forever</a:t>
            </a:r>
          </a:p>
        </p:txBody>
      </p:sp>
      <p:sp>
        <p:nvSpPr>
          <p:cNvPr id="48" name="TextBox 47"/>
          <p:cNvSpPr txBox="1"/>
          <p:nvPr/>
        </p:nvSpPr>
        <p:spPr>
          <a:xfrm>
            <a:off x="8421624" y="2423160"/>
            <a:ext cx="3566160" cy="1115568"/>
          </a:xfrm>
          <a:prstGeom prst="rect">
            <a:avLst/>
          </a:prstGeom>
          <a:noFill/>
        </p:spPr>
        <p:txBody>
          <a:bodyPr wrap="square">
            <a:spAutoFit/>
          </a:bodyPr>
          <a:lstStyle/>
          <a:p>
            <a:pPr algn="l"/>
            <a:r>
              <a:rPr sz="950" b="0" i="1">
                <a:solidFill>
                  <a:srgbClr val="1A1A2E"/>
                </a:solidFill>
                <a:latin typeface="Calibri"/>
              </a:rPr>
              <a:t>Build the system in-house using open-source tools. The Joseph Group owns every workflow. Qualifies for federal R&amp;D tax credits. Sellable to other property managers.</a:t>
            </a:r>
          </a:p>
        </p:txBody>
      </p:sp>
      <p:sp>
        <p:nvSpPr>
          <p:cNvPr id="49" name="Rectangle 48"/>
          <p:cNvSpPr/>
          <p:nvPr/>
        </p:nvSpPr>
        <p:spPr>
          <a:xfrm>
            <a:off x="8394191" y="3657600"/>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485632" y="3712463"/>
            <a:ext cx="3419856" cy="237744"/>
          </a:xfrm>
          <a:prstGeom prst="rect">
            <a:avLst/>
          </a:prstGeom>
          <a:noFill/>
        </p:spPr>
        <p:txBody>
          <a:bodyPr wrap="square">
            <a:spAutoFit/>
          </a:bodyPr>
          <a:lstStyle/>
          <a:p>
            <a:pPr algn="l"/>
            <a:r>
              <a:rPr sz="900" b="0" i="0">
                <a:solidFill>
                  <a:srgbClr val="1A1A2E"/>
                </a:solidFill>
                <a:latin typeface="Calibri"/>
              </a:rPr>
              <a:t>→  Next.js + TypeScript — Frontend &amp; API</a:t>
            </a:r>
          </a:p>
        </p:txBody>
      </p:sp>
      <p:sp>
        <p:nvSpPr>
          <p:cNvPr id="51" name="Rectangle 50"/>
          <p:cNvSpPr/>
          <p:nvPr/>
        </p:nvSpPr>
        <p:spPr>
          <a:xfrm>
            <a:off x="8394191" y="4059936"/>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485632" y="4114800"/>
            <a:ext cx="3419856" cy="237744"/>
          </a:xfrm>
          <a:prstGeom prst="rect">
            <a:avLst/>
          </a:prstGeom>
          <a:noFill/>
        </p:spPr>
        <p:txBody>
          <a:bodyPr wrap="square">
            <a:spAutoFit/>
          </a:bodyPr>
          <a:lstStyle/>
          <a:p>
            <a:pPr algn="l"/>
            <a:r>
              <a:rPr sz="900" b="0" i="0">
                <a:solidFill>
                  <a:srgbClr val="1A1A2E"/>
                </a:solidFill>
                <a:latin typeface="Calibri"/>
              </a:rPr>
              <a:t>→  Supabase (PostgreSQL) — Owned database</a:t>
            </a:r>
          </a:p>
        </p:txBody>
      </p:sp>
      <p:sp>
        <p:nvSpPr>
          <p:cNvPr id="53" name="Rectangle 52"/>
          <p:cNvSpPr/>
          <p:nvPr/>
        </p:nvSpPr>
        <p:spPr>
          <a:xfrm>
            <a:off x="8394191" y="4462272"/>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485632" y="4517136"/>
            <a:ext cx="3419856" cy="237744"/>
          </a:xfrm>
          <a:prstGeom prst="rect">
            <a:avLst/>
          </a:prstGeom>
          <a:noFill/>
        </p:spPr>
        <p:txBody>
          <a:bodyPr wrap="square">
            <a:spAutoFit/>
          </a:bodyPr>
          <a:lstStyle/>
          <a:p>
            <a:pPr algn="l"/>
            <a:r>
              <a:rPr sz="900" b="0" i="0">
                <a:solidFill>
                  <a:srgbClr val="1A1A2E"/>
                </a:solidFill>
                <a:latin typeface="Calibri"/>
              </a:rPr>
              <a:t>→  n8n — Replaces Zapier: owned automation engine</a:t>
            </a:r>
          </a:p>
        </p:txBody>
      </p:sp>
      <p:sp>
        <p:nvSpPr>
          <p:cNvPr id="55" name="Rectangle 54"/>
          <p:cNvSpPr/>
          <p:nvPr/>
        </p:nvSpPr>
        <p:spPr>
          <a:xfrm>
            <a:off x="8394191" y="4864608"/>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485632" y="4919472"/>
            <a:ext cx="3419856" cy="237744"/>
          </a:xfrm>
          <a:prstGeom prst="rect">
            <a:avLst/>
          </a:prstGeom>
          <a:noFill/>
        </p:spPr>
        <p:txBody>
          <a:bodyPr wrap="square">
            <a:spAutoFit/>
          </a:bodyPr>
          <a:lstStyle/>
          <a:p>
            <a:pPr algn="l"/>
            <a:r>
              <a:rPr sz="900" b="0" i="0">
                <a:solidFill>
                  <a:srgbClr val="1A1A2E"/>
                </a:solidFill>
                <a:latin typeface="Calibri"/>
              </a:rPr>
              <a:t>→  Claude / OpenAI API — AI intelligence layer</a:t>
            </a:r>
          </a:p>
        </p:txBody>
      </p:sp>
      <p:sp>
        <p:nvSpPr>
          <p:cNvPr id="57" name="Rectangle 56"/>
          <p:cNvSpPr/>
          <p:nvPr/>
        </p:nvSpPr>
        <p:spPr>
          <a:xfrm>
            <a:off x="8394191" y="5266944"/>
            <a:ext cx="360273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485632" y="5321808"/>
            <a:ext cx="3419856" cy="237744"/>
          </a:xfrm>
          <a:prstGeom prst="rect">
            <a:avLst/>
          </a:prstGeom>
          <a:noFill/>
        </p:spPr>
        <p:txBody>
          <a:bodyPr wrap="square">
            <a:spAutoFit/>
          </a:bodyPr>
          <a:lstStyle/>
          <a:p>
            <a:pPr algn="l"/>
            <a:r>
              <a:rPr sz="900" b="0" i="0">
                <a:solidFill>
                  <a:srgbClr val="1A1A2E"/>
                </a:solidFill>
                <a:latin typeface="Calibri"/>
              </a:rPr>
              <a:t>→  Vercel — Hosting, CI/CD, deployments</a:t>
            </a:r>
          </a:p>
        </p:txBody>
      </p:sp>
      <p:sp>
        <p:nvSpPr>
          <p:cNvPr id="59" name="Rectangle 58"/>
          <p:cNvSpPr/>
          <p:nvPr/>
        </p:nvSpPr>
        <p:spPr>
          <a:xfrm>
            <a:off x="8284463" y="5943600"/>
            <a:ext cx="3840480" cy="420624"/>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421624" y="5989320"/>
            <a:ext cx="3566160" cy="310896"/>
          </a:xfrm>
          <a:prstGeom prst="rect">
            <a:avLst/>
          </a:prstGeom>
          <a:noFill/>
        </p:spPr>
        <p:txBody>
          <a:bodyPr wrap="square">
            <a:spAutoFit/>
          </a:bodyPr>
          <a:lstStyle/>
          <a:p>
            <a:pPr algn="l"/>
            <a:r>
              <a:rPr sz="850" b="1" i="0">
                <a:solidFill>
                  <a:srgbClr val="FFFFFF"/>
                </a:solidFill>
                <a:latin typeface="Calibri"/>
              </a:rPr>
              <a:t>$135/mo total · Any team size · 100% IP owned · R&amp;D credits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Tier 1 — Lean Stack  |  Buy Tools, Deploy in Days, Prove It Works</a:t>
            </a:r>
          </a:p>
        </p:txBody>
      </p:sp>
      <p:sp>
        <p:nvSpPr>
          <p:cNvPr id="4" name="Rectangle 3"/>
          <p:cNvSpPr/>
          <p:nvPr/>
        </p:nvSpPr>
        <p:spPr>
          <a:xfrm>
            <a:off x="274320" y="804672"/>
            <a:ext cx="5486400" cy="5468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04672"/>
            <a:ext cx="64008" cy="54681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96112"/>
            <a:ext cx="5120640" cy="347472"/>
          </a:xfrm>
          <a:prstGeom prst="rect">
            <a:avLst/>
          </a:prstGeom>
          <a:noFill/>
        </p:spPr>
        <p:txBody>
          <a:bodyPr wrap="square">
            <a:spAutoFit/>
          </a:bodyPr>
          <a:lstStyle/>
          <a:p>
            <a:pPr algn="l"/>
            <a:r>
              <a:rPr sz="1300" b="1" i="0">
                <a:solidFill>
                  <a:srgbClr val="1A1A2E"/>
                </a:solidFill>
                <a:latin typeface="Calibri"/>
              </a:rPr>
              <a:t>The Tool Stack — What Each One Does</a:t>
            </a:r>
          </a:p>
        </p:txBody>
      </p:sp>
      <p:sp>
        <p:nvSpPr>
          <p:cNvPr id="7" name="TextBox 6"/>
          <p:cNvSpPr txBox="1"/>
          <p:nvPr/>
        </p:nvSpPr>
        <p:spPr>
          <a:xfrm>
            <a:off x="457200" y="1280160"/>
            <a:ext cx="5120640" cy="292608"/>
          </a:xfrm>
          <a:prstGeom prst="rect">
            <a:avLst/>
          </a:prstGeom>
          <a:noFill/>
        </p:spPr>
        <p:txBody>
          <a:bodyPr wrap="square">
            <a:spAutoFit/>
          </a:bodyPr>
          <a:lstStyle/>
          <a:p>
            <a:pPr algn="l"/>
            <a:r>
              <a:rPr sz="1000" b="0" i="1">
                <a:solidFill>
                  <a:srgbClr val="666677"/>
                </a:solidFill>
                <a:latin typeface="Calibri"/>
              </a:rPr>
              <a:t>One tool, one job. No overlap. No redundancy. Each connects to HubSpot.</a:t>
            </a:r>
          </a:p>
        </p:txBody>
      </p:sp>
      <p:sp>
        <p:nvSpPr>
          <p:cNvPr id="8" name="Rectangle 7"/>
          <p:cNvSpPr/>
          <p:nvPr/>
        </p:nvSpPr>
        <p:spPr>
          <a:xfrm>
            <a:off x="411480" y="1682496"/>
            <a:ext cx="5230368" cy="768096"/>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37360"/>
            <a:ext cx="2560320" cy="292608"/>
          </a:xfrm>
          <a:prstGeom prst="rect">
            <a:avLst/>
          </a:prstGeom>
          <a:noFill/>
        </p:spPr>
        <p:txBody>
          <a:bodyPr wrap="square">
            <a:spAutoFit/>
          </a:bodyPr>
          <a:lstStyle/>
          <a:p>
            <a:pPr algn="l"/>
            <a:r>
              <a:rPr sz="1100" b="1" i="0">
                <a:solidFill>
                  <a:srgbClr val="185FA5"/>
                </a:solidFill>
                <a:latin typeface="Calibri"/>
              </a:rPr>
              <a:t>HubSpot Starter</a:t>
            </a:r>
          </a:p>
        </p:txBody>
      </p:sp>
      <p:sp>
        <p:nvSpPr>
          <p:cNvPr id="10" name="TextBox 9"/>
          <p:cNvSpPr txBox="1"/>
          <p:nvPr/>
        </p:nvSpPr>
        <p:spPr>
          <a:xfrm>
            <a:off x="502920" y="2011680"/>
            <a:ext cx="2560320" cy="219456"/>
          </a:xfrm>
          <a:prstGeom prst="rect">
            <a:avLst/>
          </a:prstGeom>
          <a:noFill/>
        </p:spPr>
        <p:txBody>
          <a:bodyPr wrap="square">
            <a:spAutoFit/>
          </a:bodyPr>
          <a:lstStyle/>
          <a:p>
            <a:pPr algn="l"/>
            <a:r>
              <a:rPr sz="900" b="0" i="0">
                <a:solidFill>
                  <a:srgbClr val="0C447C"/>
                </a:solidFill>
                <a:latin typeface="Calibri"/>
              </a:rPr>
              <a:t>$20/mo</a:t>
            </a:r>
          </a:p>
        </p:txBody>
      </p:sp>
      <p:sp>
        <p:nvSpPr>
          <p:cNvPr id="11" name="TextBox 10"/>
          <p:cNvSpPr txBox="1"/>
          <p:nvPr/>
        </p:nvSpPr>
        <p:spPr>
          <a:xfrm>
            <a:off x="3108960" y="1737360"/>
            <a:ext cx="2423160" cy="658368"/>
          </a:xfrm>
          <a:prstGeom prst="rect">
            <a:avLst/>
          </a:prstGeom>
          <a:noFill/>
        </p:spPr>
        <p:txBody>
          <a:bodyPr wrap="square">
            <a:spAutoFit/>
          </a:bodyPr>
          <a:lstStyle/>
          <a:p>
            <a:pPr algn="l"/>
            <a:r>
              <a:rPr sz="900" b="0" i="0">
                <a:solidFill>
                  <a:srgbClr val="666677"/>
                </a:solidFill>
                <a:latin typeface="Calibri"/>
              </a:rPr>
              <a:t>The hub. CRM, pipeline, deal stages, email tracking, contact records. Set up first — nothing else connects without it. Free tier available.</a:t>
            </a:r>
          </a:p>
        </p:txBody>
      </p:sp>
      <p:sp>
        <p:nvSpPr>
          <p:cNvPr id="12" name="Rectangle 11"/>
          <p:cNvSpPr/>
          <p:nvPr/>
        </p:nvSpPr>
        <p:spPr>
          <a:xfrm>
            <a:off x="411480" y="2523744"/>
            <a:ext cx="5230368" cy="768096"/>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578608"/>
            <a:ext cx="2560320" cy="292608"/>
          </a:xfrm>
          <a:prstGeom prst="rect">
            <a:avLst/>
          </a:prstGeom>
          <a:noFill/>
        </p:spPr>
        <p:txBody>
          <a:bodyPr wrap="square">
            <a:spAutoFit/>
          </a:bodyPr>
          <a:lstStyle/>
          <a:p>
            <a:pPr algn="l"/>
            <a:r>
              <a:rPr sz="1100" b="1" i="0">
                <a:solidFill>
                  <a:srgbClr val="185FA5"/>
                </a:solidFill>
                <a:latin typeface="Calibri"/>
              </a:rPr>
              <a:t>Fathom</a:t>
            </a:r>
          </a:p>
        </p:txBody>
      </p:sp>
      <p:sp>
        <p:nvSpPr>
          <p:cNvPr id="14" name="TextBox 13"/>
          <p:cNvSpPr txBox="1"/>
          <p:nvPr/>
        </p:nvSpPr>
        <p:spPr>
          <a:xfrm>
            <a:off x="502920" y="2852928"/>
            <a:ext cx="2560320" cy="219456"/>
          </a:xfrm>
          <a:prstGeom prst="rect">
            <a:avLst/>
          </a:prstGeom>
          <a:noFill/>
        </p:spPr>
        <p:txBody>
          <a:bodyPr wrap="square">
            <a:spAutoFit/>
          </a:bodyPr>
          <a:lstStyle/>
          <a:p>
            <a:pPr algn="l"/>
            <a:r>
              <a:rPr sz="900" b="0" i="0">
                <a:solidFill>
                  <a:srgbClr val="0C447C"/>
                </a:solidFill>
                <a:latin typeface="Calibri"/>
              </a:rPr>
              <a:t>$16/seat/mo</a:t>
            </a:r>
          </a:p>
        </p:txBody>
      </p:sp>
      <p:sp>
        <p:nvSpPr>
          <p:cNvPr id="15" name="TextBox 14"/>
          <p:cNvSpPr txBox="1"/>
          <p:nvPr/>
        </p:nvSpPr>
        <p:spPr>
          <a:xfrm>
            <a:off x="3108960" y="2578608"/>
            <a:ext cx="2423160" cy="658368"/>
          </a:xfrm>
          <a:prstGeom prst="rect">
            <a:avLst/>
          </a:prstGeom>
          <a:noFill/>
        </p:spPr>
        <p:txBody>
          <a:bodyPr wrap="square">
            <a:spAutoFit/>
          </a:bodyPr>
          <a:lstStyle/>
          <a:p>
            <a:pPr algn="l"/>
            <a:r>
              <a:rPr sz="900" b="0" i="0">
                <a:solidFill>
                  <a:srgbClr val="666677"/>
                </a:solidFill>
                <a:latin typeface="Calibri"/>
              </a:rPr>
              <a:t>Joins every Zoom automatically. Transcribes the call, writes AI summary, posts note to HubSpot within 60 seconds of ending. Rep never types a note. NOT used alongside Attention — they do the same job.</a:t>
            </a:r>
          </a:p>
        </p:txBody>
      </p:sp>
      <p:sp>
        <p:nvSpPr>
          <p:cNvPr id="16" name="Rectangle 15"/>
          <p:cNvSpPr/>
          <p:nvPr/>
        </p:nvSpPr>
        <p:spPr>
          <a:xfrm>
            <a:off x="411480" y="3364992"/>
            <a:ext cx="5230368" cy="768096"/>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19856"/>
            <a:ext cx="2560320" cy="292608"/>
          </a:xfrm>
          <a:prstGeom prst="rect">
            <a:avLst/>
          </a:prstGeom>
          <a:noFill/>
        </p:spPr>
        <p:txBody>
          <a:bodyPr wrap="square">
            <a:spAutoFit/>
          </a:bodyPr>
          <a:lstStyle/>
          <a:p>
            <a:pPr algn="l"/>
            <a:r>
              <a:rPr sz="1100" b="1" i="0">
                <a:solidFill>
                  <a:srgbClr val="185FA5"/>
                </a:solidFill>
                <a:latin typeface="Calibri"/>
              </a:rPr>
              <a:t>Calendly Standard</a:t>
            </a:r>
          </a:p>
        </p:txBody>
      </p:sp>
      <p:sp>
        <p:nvSpPr>
          <p:cNvPr id="18" name="TextBox 17"/>
          <p:cNvSpPr txBox="1"/>
          <p:nvPr/>
        </p:nvSpPr>
        <p:spPr>
          <a:xfrm>
            <a:off x="502920" y="3694176"/>
            <a:ext cx="2560320" cy="219456"/>
          </a:xfrm>
          <a:prstGeom prst="rect">
            <a:avLst/>
          </a:prstGeom>
          <a:noFill/>
        </p:spPr>
        <p:txBody>
          <a:bodyPr wrap="square">
            <a:spAutoFit/>
          </a:bodyPr>
          <a:lstStyle/>
          <a:p>
            <a:pPr algn="l"/>
            <a:r>
              <a:rPr sz="900" b="0" i="0">
                <a:solidFill>
                  <a:srgbClr val="0C447C"/>
                </a:solidFill>
                <a:latin typeface="Calibri"/>
              </a:rPr>
              <a:t>$10/seat/mo</a:t>
            </a:r>
          </a:p>
        </p:txBody>
      </p:sp>
      <p:sp>
        <p:nvSpPr>
          <p:cNvPr id="19" name="TextBox 18"/>
          <p:cNvSpPr txBox="1"/>
          <p:nvPr/>
        </p:nvSpPr>
        <p:spPr>
          <a:xfrm>
            <a:off x="3108960" y="3419856"/>
            <a:ext cx="2423160" cy="658368"/>
          </a:xfrm>
          <a:prstGeom prst="rect">
            <a:avLst/>
          </a:prstGeom>
          <a:noFill/>
        </p:spPr>
        <p:txBody>
          <a:bodyPr wrap="square">
            <a:spAutoFit/>
          </a:bodyPr>
          <a:lstStyle/>
          <a:p>
            <a:pPr algn="l"/>
            <a:r>
              <a:rPr sz="900" b="0" i="0">
                <a:solidFill>
                  <a:srgbClr val="666677"/>
                </a:solidFill>
                <a:latin typeface="Calibri"/>
              </a:rPr>
              <a:t>Rep shares one link. Prospect picks a time. Zoom link auto-generated. Reminders sent. HubSpot contact created. Zero scheduling emails exchanged.</a:t>
            </a:r>
          </a:p>
        </p:txBody>
      </p:sp>
      <p:sp>
        <p:nvSpPr>
          <p:cNvPr id="20" name="Rectangle 19"/>
          <p:cNvSpPr/>
          <p:nvPr/>
        </p:nvSpPr>
        <p:spPr>
          <a:xfrm>
            <a:off x="411480" y="4206240"/>
            <a:ext cx="5230368" cy="768096"/>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261104"/>
            <a:ext cx="2560320" cy="292608"/>
          </a:xfrm>
          <a:prstGeom prst="rect">
            <a:avLst/>
          </a:prstGeom>
          <a:noFill/>
        </p:spPr>
        <p:txBody>
          <a:bodyPr wrap="square">
            <a:spAutoFit/>
          </a:bodyPr>
          <a:lstStyle/>
          <a:p>
            <a:pPr algn="l"/>
            <a:r>
              <a:rPr sz="1100" b="1" i="0">
                <a:solidFill>
                  <a:srgbClr val="185FA5"/>
                </a:solidFill>
                <a:latin typeface="Calibri"/>
              </a:rPr>
              <a:t>Otter.ai Pro</a:t>
            </a:r>
          </a:p>
        </p:txBody>
      </p:sp>
      <p:sp>
        <p:nvSpPr>
          <p:cNvPr id="22" name="TextBox 21"/>
          <p:cNvSpPr txBox="1"/>
          <p:nvPr/>
        </p:nvSpPr>
        <p:spPr>
          <a:xfrm>
            <a:off x="502920" y="4535424"/>
            <a:ext cx="2560320" cy="219456"/>
          </a:xfrm>
          <a:prstGeom prst="rect">
            <a:avLst/>
          </a:prstGeom>
          <a:noFill/>
        </p:spPr>
        <p:txBody>
          <a:bodyPr wrap="square">
            <a:spAutoFit/>
          </a:bodyPr>
          <a:lstStyle/>
          <a:p>
            <a:pPr algn="l"/>
            <a:r>
              <a:rPr sz="900" b="0" i="0">
                <a:solidFill>
                  <a:srgbClr val="0C447C"/>
                </a:solidFill>
                <a:latin typeface="Calibri"/>
              </a:rPr>
              <a:t>$10/mo shared</a:t>
            </a:r>
          </a:p>
        </p:txBody>
      </p:sp>
      <p:sp>
        <p:nvSpPr>
          <p:cNvPr id="23" name="TextBox 22"/>
          <p:cNvSpPr txBox="1"/>
          <p:nvPr/>
        </p:nvSpPr>
        <p:spPr>
          <a:xfrm>
            <a:off x="3108960" y="4261104"/>
            <a:ext cx="2423160" cy="658368"/>
          </a:xfrm>
          <a:prstGeom prst="rect">
            <a:avLst/>
          </a:prstGeom>
          <a:noFill/>
        </p:spPr>
        <p:txBody>
          <a:bodyPr wrap="square">
            <a:spAutoFit/>
          </a:bodyPr>
          <a:lstStyle/>
          <a:p>
            <a:pPr algn="l"/>
            <a:r>
              <a:rPr sz="900" b="0" i="0">
                <a:solidFill>
                  <a:srgbClr val="666677"/>
                </a:solidFill>
                <a:latin typeface="Calibri"/>
              </a:rPr>
              <a:t>Property manager speaks observations at each drive-by. Otter transcribes in real time. Recording title = property address. Zapier routes transcript to HubSpot automatically.</a:t>
            </a:r>
          </a:p>
        </p:txBody>
      </p:sp>
      <p:sp>
        <p:nvSpPr>
          <p:cNvPr id="24" name="Rectangle 23"/>
          <p:cNvSpPr/>
          <p:nvPr/>
        </p:nvSpPr>
        <p:spPr>
          <a:xfrm>
            <a:off x="411480" y="5047488"/>
            <a:ext cx="5230368" cy="768096"/>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102352"/>
            <a:ext cx="2560320" cy="292608"/>
          </a:xfrm>
          <a:prstGeom prst="rect">
            <a:avLst/>
          </a:prstGeom>
          <a:noFill/>
        </p:spPr>
        <p:txBody>
          <a:bodyPr wrap="square">
            <a:spAutoFit/>
          </a:bodyPr>
          <a:lstStyle/>
          <a:p>
            <a:pPr algn="l"/>
            <a:r>
              <a:rPr sz="1100" b="1" i="0">
                <a:solidFill>
                  <a:srgbClr val="185FA5"/>
                </a:solidFill>
                <a:latin typeface="Calibri"/>
              </a:rPr>
              <a:t>Zapier Starter</a:t>
            </a:r>
          </a:p>
        </p:txBody>
      </p:sp>
      <p:sp>
        <p:nvSpPr>
          <p:cNvPr id="26" name="TextBox 25"/>
          <p:cNvSpPr txBox="1"/>
          <p:nvPr/>
        </p:nvSpPr>
        <p:spPr>
          <a:xfrm>
            <a:off x="502920" y="5376672"/>
            <a:ext cx="2560320" cy="219456"/>
          </a:xfrm>
          <a:prstGeom prst="rect">
            <a:avLst/>
          </a:prstGeom>
          <a:noFill/>
        </p:spPr>
        <p:txBody>
          <a:bodyPr wrap="square">
            <a:spAutoFit/>
          </a:bodyPr>
          <a:lstStyle/>
          <a:p>
            <a:pPr algn="l"/>
            <a:r>
              <a:rPr sz="900" b="0" i="0">
                <a:solidFill>
                  <a:srgbClr val="0C447C"/>
                </a:solidFill>
                <a:latin typeface="Calibri"/>
              </a:rPr>
              <a:t>$20/mo</a:t>
            </a:r>
          </a:p>
        </p:txBody>
      </p:sp>
      <p:sp>
        <p:nvSpPr>
          <p:cNvPr id="27" name="TextBox 26"/>
          <p:cNvSpPr txBox="1"/>
          <p:nvPr/>
        </p:nvSpPr>
        <p:spPr>
          <a:xfrm>
            <a:off x="3108960" y="5102352"/>
            <a:ext cx="2423160" cy="658368"/>
          </a:xfrm>
          <a:prstGeom prst="rect">
            <a:avLst/>
          </a:prstGeom>
          <a:noFill/>
        </p:spPr>
        <p:txBody>
          <a:bodyPr wrap="square">
            <a:spAutoFit/>
          </a:bodyPr>
          <a:lstStyle/>
          <a:p>
            <a:pPr algn="l"/>
            <a:r>
              <a:rPr sz="900" b="0" i="0">
                <a:solidFill>
                  <a:srgbClr val="666677"/>
                </a:solidFill>
                <a:latin typeface="Calibri"/>
              </a:rPr>
              <a:t>Connects Otter to HubSpot. Routes voice transcripts. AI-classifies inspection severity. Creates maintenance tasks. Fires sales lead alerts. The glue layer.</a:t>
            </a:r>
          </a:p>
        </p:txBody>
      </p:sp>
      <p:sp>
        <p:nvSpPr>
          <p:cNvPr id="28" name="Rectangle 27"/>
          <p:cNvSpPr/>
          <p:nvPr/>
        </p:nvSpPr>
        <p:spPr>
          <a:xfrm>
            <a:off x="5989320" y="804672"/>
            <a:ext cx="5897880" cy="25786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89320" y="804672"/>
            <a:ext cx="64008" cy="2578608"/>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0" y="896112"/>
            <a:ext cx="5577840" cy="347472"/>
          </a:xfrm>
          <a:prstGeom prst="rect">
            <a:avLst/>
          </a:prstGeom>
          <a:noFill/>
        </p:spPr>
        <p:txBody>
          <a:bodyPr wrap="square">
            <a:spAutoFit/>
          </a:bodyPr>
          <a:lstStyle/>
          <a:p>
            <a:pPr algn="l"/>
            <a:r>
              <a:rPr sz="1300" b="1" i="0">
                <a:solidFill>
                  <a:srgbClr val="1A1A2E"/>
                </a:solidFill>
                <a:latin typeface="Calibri"/>
              </a:rPr>
              <a:t>When Lean is the right choice</a:t>
            </a:r>
          </a:p>
        </p:txBody>
      </p:sp>
      <p:sp>
        <p:nvSpPr>
          <p:cNvPr id="31" name="Rectangle 30"/>
          <p:cNvSpPr/>
          <p:nvPr/>
        </p:nvSpPr>
        <p:spPr>
          <a:xfrm>
            <a:off x="6126480" y="1280160"/>
            <a:ext cx="5632704" cy="32918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36208" y="1335024"/>
            <a:ext cx="5449824" cy="228600"/>
          </a:xfrm>
          <a:prstGeom prst="rect">
            <a:avLst/>
          </a:prstGeom>
          <a:noFill/>
        </p:spPr>
        <p:txBody>
          <a:bodyPr wrap="square">
            <a:spAutoFit/>
          </a:bodyPr>
          <a:lstStyle/>
          <a:p>
            <a:pPr algn="l"/>
            <a:r>
              <a:rPr sz="1000" b="0" i="0">
                <a:solidFill>
                  <a:srgbClr val="1A1A2E"/>
                </a:solidFill>
                <a:latin typeface="Calibri"/>
              </a:rPr>
              <a:t>✓  Team has fewer than 5 sales reps</a:t>
            </a:r>
          </a:p>
        </p:txBody>
      </p:sp>
      <p:sp>
        <p:nvSpPr>
          <p:cNvPr id="33" name="Rectangle 32"/>
          <p:cNvSpPr/>
          <p:nvPr/>
        </p:nvSpPr>
        <p:spPr>
          <a:xfrm>
            <a:off x="6126480" y="1664207"/>
            <a:ext cx="5632704"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36208" y="1719072"/>
            <a:ext cx="5449824" cy="228600"/>
          </a:xfrm>
          <a:prstGeom prst="rect">
            <a:avLst/>
          </a:prstGeom>
          <a:noFill/>
        </p:spPr>
        <p:txBody>
          <a:bodyPr wrap="square">
            <a:spAutoFit/>
          </a:bodyPr>
          <a:lstStyle/>
          <a:p>
            <a:pPr algn="l"/>
            <a:r>
              <a:rPr sz="1000" b="0" i="0">
                <a:solidFill>
                  <a:srgbClr val="1A1A2E"/>
                </a:solidFill>
                <a:latin typeface="Calibri"/>
              </a:rPr>
              <a:t>✓  Ian wants results in 2 weeks, not 2 months</a:t>
            </a:r>
          </a:p>
        </p:txBody>
      </p:sp>
      <p:sp>
        <p:nvSpPr>
          <p:cNvPr id="35" name="Rectangle 34"/>
          <p:cNvSpPr/>
          <p:nvPr/>
        </p:nvSpPr>
        <p:spPr>
          <a:xfrm>
            <a:off x="6126480" y="2048255"/>
            <a:ext cx="5632704" cy="32918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36208" y="2103120"/>
            <a:ext cx="5449824" cy="228600"/>
          </a:xfrm>
          <a:prstGeom prst="rect">
            <a:avLst/>
          </a:prstGeom>
          <a:noFill/>
        </p:spPr>
        <p:txBody>
          <a:bodyPr wrap="square">
            <a:spAutoFit/>
          </a:bodyPr>
          <a:lstStyle/>
          <a:p>
            <a:pPr algn="l"/>
            <a:r>
              <a:rPr sz="1000" b="0" i="0">
                <a:solidFill>
                  <a:srgbClr val="1A1A2E"/>
                </a:solidFill>
                <a:latin typeface="Calibri"/>
              </a:rPr>
              <a:t>✓  Goal is to prove the concept with minimal commitment</a:t>
            </a:r>
          </a:p>
        </p:txBody>
      </p:sp>
      <p:sp>
        <p:nvSpPr>
          <p:cNvPr id="37" name="Rectangle 36"/>
          <p:cNvSpPr/>
          <p:nvPr/>
        </p:nvSpPr>
        <p:spPr>
          <a:xfrm>
            <a:off x="6126480" y="2432304"/>
            <a:ext cx="5632704"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36208" y="2487168"/>
            <a:ext cx="5449824" cy="228600"/>
          </a:xfrm>
          <a:prstGeom prst="rect">
            <a:avLst/>
          </a:prstGeom>
          <a:noFill/>
        </p:spPr>
        <p:txBody>
          <a:bodyPr wrap="square">
            <a:spAutoFit/>
          </a:bodyPr>
          <a:lstStyle/>
          <a:p>
            <a:pPr algn="l"/>
            <a:r>
              <a:rPr sz="1000" b="0" i="0">
                <a:solidFill>
                  <a:srgbClr val="1A1A2E"/>
                </a:solidFill>
                <a:latin typeface="Calibri"/>
              </a:rPr>
              <a:t>✓  Budget is constrained — start on free tiers</a:t>
            </a:r>
          </a:p>
        </p:txBody>
      </p:sp>
      <p:sp>
        <p:nvSpPr>
          <p:cNvPr id="39" name="Rectangle 38"/>
          <p:cNvSpPr/>
          <p:nvPr/>
        </p:nvSpPr>
        <p:spPr>
          <a:xfrm>
            <a:off x="6126480" y="2816352"/>
            <a:ext cx="5632704" cy="32918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36208" y="2871215"/>
            <a:ext cx="5449824" cy="228600"/>
          </a:xfrm>
          <a:prstGeom prst="rect">
            <a:avLst/>
          </a:prstGeom>
          <a:noFill/>
        </p:spPr>
        <p:txBody>
          <a:bodyPr wrap="square">
            <a:spAutoFit/>
          </a:bodyPr>
          <a:lstStyle/>
          <a:p>
            <a:pPr algn="l"/>
            <a:r>
              <a:rPr sz="1000" b="0" i="0">
                <a:solidFill>
                  <a:srgbClr val="1A1A2E"/>
                </a:solidFill>
                <a:latin typeface="Calibri"/>
              </a:rPr>
              <a:t>✓  No technical infrastructure exists yet</a:t>
            </a:r>
          </a:p>
        </p:txBody>
      </p:sp>
      <p:sp>
        <p:nvSpPr>
          <p:cNvPr id="41" name="Rectangle 40"/>
          <p:cNvSpPr/>
          <p:nvPr/>
        </p:nvSpPr>
        <p:spPr>
          <a:xfrm>
            <a:off x="5989320" y="3547872"/>
            <a:ext cx="5897880" cy="27249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989320" y="3547872"/>
            <a:ext cx="64008" cy="2724912"/>
          </a:xfrm>
          <a:prstGeom prst="rect">
            <a:avLst/>
          </a:prstGeom>
          <a:solidFill>
            <a:srgbClr val="A32D2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172200" y="3639312"/>
            <a:ext cx="5577840" cy="347472"/>
          </a:xfrm>
          <a:prstGeom prst="rect">
            <a:avLst/>
          </a:prstGeom>
          <a:noFill/>
        </p:spPr>
        <p:txBody>
          <a:bodyPr wrap="square">
            <a:spAutoFit/>
          </a:bodyPr>
          <a:lstStyle/>
          <a:p>
            <a:pPr algn="l"/>
            <a:r>
              <a:rPr sz="1300" b="1" i="0">
                <a:solidFill>
                  <a:srgbClr val="1A1A2E"/>
                </a:solidFill>
                <a:latin typeface="Calibri"/>
              </a:rPr>
              <a:t>When Lean stops being enough</a:t>
            </a:r>
          </a:p>
        </p:txBody>
      </p:sp>
      <p:sp>
        <p:nvSpPr>
          <p:cNvPr id="44" name="Rectangle 43"/>
          <p:cNvSpPr/>
          <p:nvPr/>
        </p:nvSpPr>
        <p:spPr>
          <a:xfrm>
            <a:off x="6126480" y="4059936"/>
            <a:ext cx="5632704" cy="329184"/>
          </a:xfrm>
          <a:prstGeom prst="rect">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236208" y="4114800"/>
            <a:ext cx="5449824" cy="228600"/>
          </a:xfrm>
          <a:prstGeom prst="rect">
            <a:avLst/>
          </a:prstGeom>
          <a:noFill/>
        </p:spPr>
        <p:txBody>
          <a:bodyPr wrap="square">
            <a:spAutoFit/>
          </a:bodyPr>
          <a:lstStyle/>
          <a:p>
            <a:pPr algn="l"/>
            <a:r>
              <a:rPr sz="1000" b="0" i="0">
                <a:solidFill>
                  <a:srgbClr val="1A1A2E"/>
                </a:solidFill>
                <a:latin typeface="Calibri"/>
              </a:rPr>
              <a:t>→  Team reaches 5+ reps — Ian needs visibility across all of them</a:t>
            </a:r>
          </a:p>
        </p:txBody>
      </p:sp>
      <p:sp>
        <p:nvSpPr>
          <p:cNvPr id="46" name="Rectangle 45"/>
          <p:cNvSpPr/>
          <p:nvPr/>
        </p:nvSpPr>
        <p:spPr>
          <a:xfrm>
            <a:off x="6126480" y="4443984"/>
            <a:ext cx="5632704"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236208" y="4498848"/>
            <a:ext cx="5449824" cy="228600"/>
          </a:xfrm>
          <a:prstGeom prst="rect">
            <a:avLst/>
          </a:prstGeom>
          <a:noFill/>
        </p:spPr>
        <p:txBody>
          <a:bodyPr wrap="square">
            <a:spAutoFit/>
          </a:bodyPr>
          <a:lstStyle/>
          <a:p>
            <a:pPr algn="l"/>
            <a:r>
              <a:rPr sz="1000" b="0" i="0">
                <a:solidFill>
                  <a:srgbClr val="1A1A2E"/>
                </a:solidFill>
                <a:latin typeface="Calibri"/>
              </a:rPr>
              <a:t>→  Ian wants to know which reps handle objections well</a:t>
            </a:r>
          </a:p>
        </p:txBody>
      </p:sp>
      <p:sp>
        <p:nvSpPr>
          <p:cNvPr id="48" name="Rectangle 47"/>
          <p:cNvSpPr/>
          <p:nvPr/>
        </p:nvSpPr>
        <p:spPr>
          <a:xfrm>
            <a:off x="6126480" y="4828032"/>
            <a:ext cx="5632704" cy="329184"/>
          </a:xfrm>
          <a:prstGeom prst="rect">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6236208" y="4882896"/>
            <a:ext cx="5449824" cy="228600"/>
          </a:xfrm>
          <a:prstGeom prst="rect">
            <a:avLst/>
          </a:prstGeom>
          <a:noFill/>
        </p:spPr>
        <p:txBody>
          <a:bodyPr wrap="square">
            <a:spAutoFit/>
          </a:bodyPr>
          <a:lstStyle/>
          <a:p>
            <a:pPr algn="l"/>
            <a:r>
              <a:rPr sz="1000" b="0" i="0">
                <a:solidFill>
                  <a:srgbClr val="1A1A2E"/>
                </a:solidFill>
                <a:latin typeface="Calibri"/>
              </a:rPr>
              <a:t>→  Inbound leads need instant routing, not just a booking link</a:t>
            </a:r>
          </a:p>
        </p:txBody>
      </p:sp>
      <p:sp>
        <p:nvSpPr>
          <p:cNvPr id="50" name="Rectangle 49"/>
          <p:cNvSpPr/>
          <p:nvPr/>
        </p:nvSpPr>
        <p:spPr>
          <a:xfrm>
            <a:off x="6126480" y="5212080"/>
            <a:ext cx="5632704"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36208" y="5266944"/>
            <a:ext cx="5449824" cy="228600"/>
          </a:xfrm>
          <a:prstGeom prst="rect">
            <a:avLst/>
          </a:prstGeom>
          <a:noFill/>
        </p:spPr>
        <p:txBody>
          <a:bodyPr wrap="square">
            <a:spAutoFit/>
          </a:bodyPr>
          <a:lstStyle/>
          <a:p>
            <a:pPr algn="l"/>
            <a:r>
              <a:rPr sz="1000" b="0" i="0">
                <a:solidFill>
                  <a:srgbClr val="1A1A2E"/>
                </a:solidFill>
                <a:latin typeface="Calibri"/>
              </a:rPr>
              <a:t>→  Deal risk alerts matter more than individual call summaries</a:t>
            </a:r>
          </a:p>
        </p:txBody>
      </p:sp>
      <p:sp>
        <p:nvSpPr>
          <p:cNvPr id="52" name="Rectangle 51"/>
          <p:cNvSpPr/>
          <p:nvPr/>
        </p:nvSpPr>
        <p:spPr>
          <a:xfrm>
            <a:off x="6126480" y="5596128"/>
            <a:ext cx="5632704" cy="329184"/>
          </a:xfrm>
          <a:prstGeom prst="rect">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36208" y="5650992"/>
            <a:ext cx="5449824" cy="228600"/>
          </a:xfrm>
          <a:prstGeom prst="rect">
            <a:avLst/>
          </a:prstGeom>
          <a:noFill/>
        </p:spPr>
        <p:txBody>
          <a:bodyPr wrap="square">
            <a:spAutoFit/>
          </a:bodyPr>
          <a:lstStyle/>
          <a:p>
            <a:pPr algn="l"/>
            <a:r>
              <a:rPr sz="1000" b="0" i="0">
                <a:solidFill>
                  <a:srgbClr val="1A1A2E"/>
                </a:solidFill>
                <a:latin typeface="Calibri"/>
              </a:rPr>
              <a:t>→  Ready to invest in platforms rather than point tools</a:t>
            </a:r>
          </a:p>
        </p:txBody>
      </p:sp>
      <p:sp>
        <p:nvSpPr>
          <p:cNvPr id="54" name="Rectangle 53"/>
          <p:cNvSpPr/>
          <p:nvPr/>
        </p:nvSpPr>
        <p:spPr>
          <a:xfrm>
            <a:off x="274320" y="6336792"/>
            <a:ext cx="11521440" cy="384048"/>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57200" y="6373368"/>
            <a:ext cx="11247120" cy="292608"/>
          </a:xfrm>
          <a:prstGeom prst="rect">
            <a:avLst/>
          </a:prstGeom>
          <a:noFill/>
        </p:spPr>
        <p:txBody>
          <a:bodyPr wrap="square">
            <a:spAutoFit/>
          </a:bodyPr>
          <a:lstStyle/>
          <a:p>
            <a:pPr algn="l"/>
            <a:r>
              <a:rPr sz="950" b="0" i="0">
                <a:solidFill>
                  <a:srgbClr val="FFFFFF"/>
                </a:solidFill>
                <a:latin typeface="Calibri"/>
              </a:rPr>
              <a:t>Tier 1 total (3 reps): HubSpot $20 + Fathom $48 + Calendly $30 + Otter $10 + Zapier $20 = $128/mo  ·  Deploy in 1–2 days  ·  Upgrade trigger: 5th rep hired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Tier 2 — Enterprise Stack  |  5+ Reps  |  Manager Visibility  |  Platform Thinking</a:t>
            </a:r>
          </a:p>
        </p:txBody>
      </p:sp>
      <p:sp>
        <p:nvSpPr>
          <p:cNvPr id="4" name="Rectangle 3"/>
          <p:cNvSpPr/>
          <p:nvPr/>
        </p:nvSpPr>
        <p:spPr>
          <a:xfrm>
            <a:off x="274320" y="804672"/>
            <a:ext cx="5486400" cy="5468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04672"/>
            <a:ext cx="64008" cy="5468112"/>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96112"/>
            <a:ext cx="5120640" cy="347472"/>
          </a:xfrm>
          <a:prstGeom prst="rect">
            <a:avLst/>
          </a:prstGeom>
          <a:noFill/>
        </p:spPr>
        <p:txBody>
          <a:bodyPr wrap="square">
            <a:spAutoFit/>
          </a:bodyPr>
          <a:lstStyle/>
          <a:p>
            <a:pPr algn="l"/>
            <a:r>
              <a:rPr sz="1300" b="1" i="0">
                <a:solidFill>
                  <a:srgbClr val="1A1A2E"/>
                </a:solidFill>
                <a:latin typeface="Calibri"/>
              </a:rPr>
              <a:t>Two tools change. Two tools stay. The logic changes completely.</a:t>
            </a:r>
          </a:p>
        </p:txBody>
      </p:sp>
      <p:sp>
        <p:nvSpPr>
          <p:cNvPr id="7" name="TextBox 6"/>
          <p:cNvSpPr txBox="1"/>
          <p:nvPr/>
        </p:nvSpPr>
        <p:spPr>
          <a:xfrm>
            <a:off x="457200" y="1280160"/>
            <a:ext cx="5120640" cy="292608"/>
          </a:xfrm>
          <a:prstGeom prst="rect">
            <a:avLst/>
          </a:prstGeom>
          <a:noFill/>
        </p:spPr>
        <p:txBody>
          <a:bodyPr wrap="square">
            <a:spAutoFit/>
          </a:bodyPr>
          <a:lstStyle/>
          <a:p>
            <a:pPr algn="l"/>
            <a:r>
              <a:rPr sz="1000" b="0" i="1">
                <a:solidFill>
                  <a:srgbClr val="666677"/>
                </a:solidFill>
                <a:latin typeface="Calibri"/>
              </a:rPr>
              <a:t>Fathom → Attention. Calendly → Chili Piper. Same roles, platform-level intelligence.</a:t>
            </a:r>
          </a:p>
        </p:txBody>
      </p:sp>
      <p:sp>
        <p:nvSpPr>
          <p:cNvPr id="8" name="Rectangle 7"/>
          <p:cNvSpPr/>
          <p:nvPr/>
        </p:nvSpPr>
        <p:spPr>
          <a:xfrm>
            <a:off x="411480" y="1682496"/>
            <a:ext cx="5230368" cy="768096"/>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1737360"/>
            <a:ext cx="2560320" cy="292608"/>
          </a:xfrm>
          <a:prstGeom prst="rect">
            <a:avLst/>
          </a:prstGeom>
          <a:noFill/>
        </p:spPr>
        <p:txBody>
          <a:bodyPr wrap="square">
            <a:spAutoFit/>
          </a:bodyPr>
          <a:lstStyle/>
          <a:p>
            <a:pPr algn="l"/>
            <a:r>
              <a:rPr sz="1100" b="1" i="0">
                <a:solidFill>
                  <a:srgbClr val="1D9E75"/>
                </a:solidFill>
                <a:latin typeface="Calibri"/>
              </a:rPr>
              <a:t>HubSpot Professional</a:t>
            </a:r>
          </a:p>
        </p:txBody>
      </p:sp>
      <p:sp>
        <p:nvSpPr>
          <p:cNvPr id="10" name="TextBox 9"/>
          <p:cNvSpPr txBox="1"/>
          <p:nvPr/>
        </p:nvSpPr>
        <p:spPr>
          <a:xfrm>
            <a:off x="502920" y="2011680"/>
            <a:ext cx="2560320" cy="219456"/>
          </a:xfrm>
          <a:prstGeom prst="rect">
            <a:avLst/>
          </a:prstGeom>
          <a:noFill/>
        </p:spPr>
        <p:txBody>
          <a:bodyPr wrap="square">
            <a:spAutoFit/>
          </a:bodyPr>
          <a:lstStyle/>
          <a:p>
            <a:pPr algn="l"/>
            <a:r>
              <a:rPr sz="900" b="0" i="0">
                <a:solidFill>
                  <a:srgbClr val="0A5C3E"/>
                </a:solidFill>
                <a:latin typeface="Calibri"/>
              </a:rPr>
              <a:t>$90/seat/mo</a:t>
            </a:r>
          </a:p>
        </p:txBody>
      </p:sp>
      <p:sp>
        <p:nvSpPr>
          <p:cNvPr id="11" name="TextBox 10"/>
          <p:cNvSpPr txBox="1"/>
          <p:nvPr/>
        </p:nvSpPr>
        <p:spPr>
          <a:xfrm>
            <a:off x="3108960" y="1737360"/>
            <a:ext cx="2423160" cy="658368"/>
          </a:xfrm>
          <a:prstGeom prst="rect">
            <a:avLst/>
          </a:prstGeom>
          <a:noFill/>
        </p:spPr>
        <p:txBody>
          <a:bodyPr wrap="square">
            <a:spAutoFit/>
          </a:bodyPr>
          <a:lstStyle/>
          <a:p>
            <a:pPr algn="l"/>
            <a:r>
              <a:rPr sz="900" b="0" i="0">
                <a:solidFill>
                  <a:srgbClr val="666677"/>
                </a:solidFill>
                <a:latin typeface="Calibri"/>
              </a:rPr>
              <a:t>Upgraded from Starter. Sequences, forecasting, team reporting, custom objects. Becomes the command centre for the whole revenue team, not just a contact list.</a:t>
            </a:r>
          </a:p>
        </p:txBody>
      </p:sp>
      <p:sp>
        <p:nvSpPr>
          <p:cNvPr id="12" name="Rectangle 11"/>
          <p:cNvSpPr/>
          <p:nvPr/>
        </p:nvSpPr>
        <p:spPr>
          <a:xfrm>
            <a:off x="411480" y="2523744"/>
            <a:ext cx="5230368" cy="768096"/>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578608"/>
            <a:ext cx="2560320" cy="292608"/>
          </a:xfrm>
          <a:prstGeom prst="rect">
            <a:avLst/>
          </a:prstGeom>
          <a:noFill/>
        </p:spPr>
        <p:txBody>
          <a:bodyPr wrap="square">
            <a:spAutoFit/>
          </a:bodyPr>
          <a:lstStyle/>
          <a:p>
            <a:pPr algn="l"/>
            <a:r>
              <a:rPr sz="1100" b="1" i="0">
                <a:solidFill>
                  <a:srgbClr val="1D9E75"/>
                </a:solidFill>
                <a:latin typeface="Calibri"/>
              </a:rPr>
              <a:t>Attention</a:t>
            </a:r>
          </a:p>
        </p:txBody>
      </p:sp>
      <p:sp>
        <p:nvSpPr>
          <p:cNvPr id="14" name="TextBox 13"/>
          <p:cNvSpPr txBox="1"/>
          <p:nvPr/>
        </p:nvSpPr>
        <p:spPr>
          <a:xfrm>
            <a:off x="502920" y="2852928"/>
            <a:ext cx="2560320" cy="219456"/>
          </a:xfrm>
          <a:prstGeom prst="rect">
            <a:avLst/>
          </a:prstGeom>
          <a:noFill/>
        </p:spPr>
        <p:txBody>
          <a:bodyPr wrap="square">
            <a:spAutoFit/>
          </a:bodyPr>
          <a:lstStyle/>
          <a:p>
            <a:pPr algn="l"/>
            <a:r>
              <a:rPr sz="900" b="0" i="0">
                <a:solidFill>
                  <a:srgbClr val="0A5C3E"/>
                </a:solidFill>
                <a:latin typeface="Calibri"/>
              </a:rPr>
              <a:t>$50–80/seat/mo</a:t>
            </a:r>
          </a:p>
        </p:txBody>
      </p:sp>
      <p:sp>
        <p:nvSpPr>
          <p:cNvPr id="15" name="TextBox 14"/>
          <p:cNvSpPr txBox="1"/>
          <p:nvPr/>
        </p:nvSpPr>
        <p:spPr>
          <a:xfrm>
            <a:off x="3108960" y="2578608"/>
            <a:ext cx="2423160" cy="658368"/>
          </a:xfrm>
          <a:prstGeom prst="rect">
            <a:avLst/>
          </a:prstGeom>
          <a:noFill/>
        </p:spPr>
        <p:txBody>
          <a:bodyPr wrap="square">
            <a:spAutoFit/>
          </a:bodyPr>
          <a:lstStyle/>
          <a:p>
            <a:pPr algn="l"/>
            <a:r>
              <a:rPr sz="900" b="0" i="0">
                <a:solidFill>
                  <a:srgbClr val="666677"/>
                </a:solidFill>
                <a:latin typeface="Calibri"/>
              </a:rPr>
              <a:t>REPLACES Fathom — not added on top of it. Does everything Fathom does (recording, transcription, CRM sync) plus manager dashboards, rep coaching scorecards, deal risk alerts when prospects go cold, and objection pattern analysis across all calls.</a:t>
            </a:r>
          </a:p>
        </p:txBody>
      </p:sp>
      <p:sp>
        <p:nvSpPr>
          <p:cNvPr id="16" name="Rectangle 15"/>
          <p:cNvSpPr/>
          <p:nvPr/>
        </p:nvSpPr>
        <p:spPr>
          <a:xfrm>
            <a:off x="411480" y="3364992"/>
            <a:ext cx="5230368" cy="768096"/>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19856"/>
            <a:ext cx="2560320" cy="292608"/>
          </a:xfrm>
          <a:prstGeom prst="rect">
            <a:avLst/>
          </a:prstGeom>
          <a:noFill/>
        </p:spPr>
        <p:txBody>
          <a:bodyPr wrap="square">
            <a:spAutoFit/>
          </a:bodyPr>
          <a:lstStyle/>
          <a:p>
            <a:pPr algn="l"/>
            <a:r>
              <a:rPr sz="1100" b="1" i="0">
                <a:solidFill>
                  <a:srgbClr val="1D9E75"/>
                </a:solidFill>
                <a:latin typeface="Calibri"/>
              </a:rPr>
              <a:t>Chili Piper</a:t>
            </a:r>
          </a:p>
        </p:txBody>
      </p:sp>
      <p:sp>
        <p:nvSpPr>
          <p:cNvPr id="18" name="TextBox 17"/>
          <p:cNvSpPr txBox="1"/>
          <p:nvPr/>
        </p:nvSpPr>
        <p:spPr>
          <a:xfrm>
            <a:off x="502920" y="3694176"/>
            <a:ext cx="2560320" cy="219456"/>
          </a:xfrm>
          <a:prstGeom prst="rect">
            <a:avLst/>
          </a:prstGeom>
          <a:noFill/>
        </p:spPr>
        <p:txBody>
          <a:bodyPr wrap="square">
            <a:spAutoFit/>
          </a:bodyPr>
          <a:lstStyle/>
          <a:p>
            <a:pPr algn="l"/>
            <a:r>
              <a:rPr sz="900" b="0" i="0">
                <a:solidFill>
                  <a:srgbClr val="0A5C3E"/>
                </a:solidFill>
                <a:latin typeface="Calibri"/>
              </a:rPr>
              <a:t>$30/seat/mo</a:t>
            </a:r>
          </a:p>
        </p:txBody>
      </p:sp>
      <p:sp>
        <p:nvSpPr>
          <p:cNvPr id="19" name="TextBox 18"/>
          <p:cNvSpPr txBox="1"/>
          <p:nvPr/>
        </p:nvSpPr>
        <p:spPr>
          <a:xfrm>
            <a:off x="3108960" y="3419856"/>
            <a:ext cx="2423160" cy="658368"/>
          </a:xfrm>
          <a:prstGeom prst="rect">
            <a:avLst/>
          </a:prstGeom>
          <a:noFill/>
        </p:spPr>
        <p:txBody>
          <a:bodyPr wrap="square">
            <a:spAutoFit/>
          </a:bodyPr>
          <a:lstStyle/>
          <a:p>
            <a:pPr algn="l"/>
            <a:r>
              <a:rPr sz="900" b="0" i="0">
                <a:solidFill>
                  <a:srgbClr val="666677"/>
                </a:solidFill>
                <a:latin typeface="Calibri"/>
              </a:rPr>
              <a:t>REPLACES Calendly. When a prospect fills out The Joseph Group's website form, Chili Piper routes them instantly to the right rep based on rules Ian sets — territory, property type, workload. No manual assignment. No delay between interest and conversation.</a:t>
            </a:r>
          </a:p>
        </p:txBody>
      </p:sp>
      <p:sp>
        <p:nvSpPr>
          <p:cNvPr id="20" name="Rectangle 19"/>
          <p:cNvSpPr/>
          <p:nvPr/>
        </p:nvSpPr>
        <p:spPr>
          <a:xfrm>
            <a:off x="411480" y="4206240"/>
            <a:ext cx="5230368" cy="768096"/>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4261104"/>
            <a:ext cx="2560320" cy="292608"/>
          </a:xfrm>
          <a:prstGeom prst="rect">
            <a:avLst/>
          </a:prstGeom>
          <a:noFill/>
        </p:spPr>
        <p:txBody>
          <a:bodyPr wrap="square">
            <a:spAutoFit/>
          </a:bodyPr>
          <a:lstStyle/>
          <a:p>
            <a:pPr algn="l"/>
            <a:r>
              <a:rPr sz="1100" b="1" i="0">
                <a:solidFill>
                  <a:srgbClr val="1D9E75"/>
                </a:solidFill>
                <a:latin typeface="Calibri"/>
              </a:rPr>
              <a:t>Otter.ai Pro</a:t>
            </a:r>
          </a:p>
        </p:txBody>
      </p:sp>
      <p:sp>
        <p:nvSpPr>
          <p:cNvPr id="22" name="TextBox 21"/>
          <p:cNvSpPr txBox="1"/>
          <p:nvPr/>
        </p:nvSpPr>
        <p:spPr>
          <a:xfrm>
            <a:off x="502920" y="4535424"/>
            <a:ext cx="2560320" cy="219456"/>
          </a:xfrm>
          <a:prstGeom prst="rect">
            <a:avLst/>
          </a:prstGeom>
          <a:noFill/>
        </p:spPr>
        <p:txBody>
          <a:bodyPr wrap="square">
            <a:spAutoFit/>
          </a:bodyPr>
          <a:lstStyle/>
          <a:p>
            <a:pPr algn="l"/>
            <a:r>
              <a:rPr sz="900" b="0" i="0">
                <a:solidFill>
                  <a:srgbClr val="0A5C3E"/>
                </a:solidFill>
                <a:latin typeface="Calibri"/>
              </a:rPr>
              <a:t>$10/mo shared</a:t>
            </a:r>
          </a:p>
        </p:txBody>
      </p:sp>
      <p:sp>
        <p:nvSpPr>
          <p:cNvPr id="23" name="TextBox 22"/>
          <p:cNvSpPr txBox="1"/>
          <p:nvPr/>
        </p:nvSpPr>
        <p:spPr>
          <a:xfrm>
            <a:off x="3108960" y="4261104"/>
            <a:ext cx="2423160" cy="658368"/>
          </a:xfrm>
          <a:prstGeom prst="rect">
            <a:avLst/>
          </a:prstGeom>
          <a:noFill/>
        </p:spPr>
        <p:txBody>
          <a:bodyPr wrap="square">
            <a:spAutoFit/>
          </a:bodyPr>
          <a:lstStyle/>
          <a:p>
            <a:pPr algn="l"/>
            <a:r>
              <a:rPr sz="900" b="0" i="0">
                <a:solidFill>
                  <a:srgbClr val="666677"/>
                </a:solidFill>
                <a:latin typeface="Calibri"/>
              </a:rPr>
              <a:t>Unchanged from Tier 1. Drive-by voice workflow stays identical — no reason to upgrade this component.</a:t>
            </a:r>
          </a:p>
        </p:txBody>
      </p:sp>
      <p:sp>
        <p:nvSpPr>
          <p:cNvPr id="24" name="Rectangle 23"/>
          <p:cNvSpPr/>
          <p:nvPr/>
        </p:nvSpPr>
        <p:spPr>
          <a:xfrm>
            <a:off x="411480" y="5047488"/>
            <a:ext cx="5230368" cy="768096"/>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2920" y="5102352"/>
            <a:ext cx="2560320" cy="292608"/>
          </a:xfrm>
          <a:prstGeom prst="rect">
            <a:avLst/>
          </a:prstGeom>
          <a:noFill/>
        </p:spPr>
        <p:txBody>
          <a:bodyPr wrap="square">
            <a:spAutoFit/>
          </a:bodyPr>
          <a:lstStyle/>
          <a:p>
            <a:pPr algn="l"/>
            <a:r>
              <a:rPr sz="1100" b="1" i="0">
                <a:solidFill>
                  <a:srgbClr val="1D9E75"/>
                </a:solidFill>
                <a:latin typeface="Calibri"/>
              </a:rPr>
              <a:t>Zapier Pro</a:t>
            </a:r>
          </a:p>
        </p:txBody>
      </p:sp>
      <p:sp>
        <p:nvSpPr>
          <p:cNvPr id="26" name="TextBox 25"/>
          <p:cNvSpPr txBox="1"/>
          <p:nvPr/>
        </p:nvSpPr>
        <p:spPr>
          <a:xfrm>
            <a:off x="502920" y="5376672"/>
            <a:ext cx="2560320" cy="219456"/>
          </a:xfrm>
          <a:prstGeom prst="rect">
            <a:avLst/>
          </a:prstGeom>
          <a:noFill/>
        </p:spPr>
        <p:txBody>
          <a:bodyPr wrap="square">
            <a:spAutoFit/>
          </a:bodyPr>
          <a:lstStyle/>
          <a:p>
            <a:pPr algn="l"/>
            <a:r>
              <a:rPr sz="900" b="0" i="0">
                <a:solidFill>
                  <a:srgbClr val="0A5C3E"/>
                </a:solidFill>
                <a:latin typeface="Calibri"/>
              </a:rPr>
              <a:t>$49/mo</a:t>
            </a:r>
          </a:p>
        </p:txBody>
      </p:sp>
      <p:sp>
        <p:nvSpPr>
          <p:cNvPr id="27" name="TextBox 26"/>
          <p:cNvSpPr txBox="1"/>
          <p:nvPr/>
        </p:nvSpPr>
        <p:spPr>
          <a:xfrm>
            <a:off x="3108960" y="5102352"/>
            <a:ext cx="2423160" cy="658368"/>
          </a:xfrm>
          <a:prstGeom prst="rect">
            <a:avLst/>
          </a:prstGeom>
          <a:noFill/>
        </p:spPr>
        <p:txBody>
          <a:bodyPr wrap="square">
            <a:spAutoFit/>
          </a:bodyPr>
          <a:lstStyle/>
          <a:p>
            <a:pPr algn="l"/>
            <a:r>
              <a:rPr sz="900" b="0" i="0">
                <a:solidFill>
                  <a:srgbClr val="666677"/>
                </a:solidFill>
                <a:latin typeface="Calibri"/>
              </a:rPr>
              <a:t>Upgraded from Starter — handles the higher task volume that comes with a larger team and property portfolio.</a:t>
            </a:r>
          </a:p>
        </p:txBody>
      </p:sp>
      <p:sp>
        <p:nvSpPr>
          <p:cNvPr id="28" name="Rectangle 27"/>
          <p:cNvSpPr/>
          <p:nvPr/>
        </p:nvSpPr>
        <p:spPr>
          <a:xfrm>
            <a:off x="5989320" y="804672"/>
            <a:ext cx="5897880" cy="546811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989320" y="804672"/>
            <a:ext cx="64008" cy="5468112"/>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72200" y="896112"/>
            <a:ext cx="5577840" cy="347472"/>
          </a:xfrm>
          <a:prstGeom prst="rect">
            <a:avLst/>
          </a:prstGeom>
          <a:noFill/>
        </p:spPr>
        <p:txBody>
          <a:bodyPr wrap="square">
            <a:spAutoFit/>
          </a:bodyPr>
          <a:lstStyle/>
          <a:p>
            <a:pPr algn="l"/>
            <a:r>
              <a:rPr sz="1300" b="1" i="0">
                <a:solidFill>
                  <a:srgbClr val="1A1A2E"/>
                </a:solidFill>
                <a:latin typeface="Calibri"/>
              </a:rPr>
              <a:t>What Actually Changes — Tier 1 vs Tier 2</a:t>
            </a:r>
          </a:p>
        </p:txBody>
      </p:sp>
      <p:sp>
        <p:nvSpPr>
          <p:cNvPr id="31" name="Rectangle 30"/>
          <p:cNvSpPr/>
          <p:nvPr/>
        </p:nvSpPr>
        <p:spPr>
          <a:xfrm>
            <a:off x="6126480" y="1335024"/>
            <a:ext cx="5632704" cy="6949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17920" y="1371600"/>
            <a:ext cx="5449824" cy="201168"/>
          </a:xfrm>
          <a:prstGeom prst="rect">
            <a:avLst/>
          </a:prstGeom>
          <a:noFill/>
        </p:spPr>
        <p:txBody>
          <a:bodyPr wrap="square">
            <a:spAutoFit/>
          </a:bodyPr>
          <a:lstStyle/>
          <a:p>
            <a:pPr algn="l"/>
            <a:r>
              <a:rPr sz="900" b="1" i="0">
                <a:solidFill>
                  <a:srgbClr val="666677"/>
                </a:solidFill>
                <a:latin typeface="Calibri"/>
              </a:rPr>
              <a:t>Notetaker</a:t>
            </a:r>
          </a:p>
        </p:txBody>
      </p:sp>
      <p:sp>
        <p:nvSpPr>
          <p:cNvPr id="33" name="TextBox 32"/>
          <p:cNvSpPr txBox="1"/>
          <p:nvPr/>
        </p:nvSpPr>
        <p:spPr>
          <a:xfrm>
            <a:off x="6217920" y="1572768"/>
            <a:ext cx="5449824" cy="201168"/>
          </a:xfrm>
          <a:prstGeom prst="rect">
            <a:avLst/>
          </a:prstGeom>
          <a:noFill/>
        </p:spPr>
        <p:txBody>
          <a:bodyPr wrap="square">
            <a:spAutoFit/>
          </a:bodyPr>
          <a:lstStyle/>
          <a:p>
            <a:pPr algn="l"/>
            <a:r>
              <a:rPr sz="900" b="0" i="0">
                <a:solidFill>
                  <a:srgbClr val="185FA5"/>
                </a:solidFill>
                <a:latin typeface="Calibri"/>
              </a:rPr>
              <a:t>T1: Fathom — per-call summaries for the rep only</a:t>
            </a:r>
          </a:p>
        </p:txBody>
      </p:sp>
      <p:sp>
        <p:nvSpPr>
          <p:cNvPr id="34" name="TextBox 33"/>
          <p:cNvSpPr txBox="1"/>
          <p:nvPr/>
        </p:nvSpPr>
        <p:spPr>
          <a:xfrm>
            <a:off x="6217920" y="1773936"/>
            <a:ext cx="5449824" cy="219456"/>
          </a:xfrm>
          <a:prstGeom prst="rect">
            <a:avLst/>
          </a:prstGeom>
          <a:noFill/>
        </p:spPr>
        <p:txBody>
          <a:bodyPr wrap="square">
            <a:spAutoFit/>
          </a:bodyPr>
          <a:lstStyle/>
          <a:p>
            <a:pPr algn="l"/>
            <a:r>
              <a:rPr sz="900" b="1" i="0">
                <a:solidFill>
                  <a:srgbClr val="1D9E75"/>
                </a:solidFill>
                <a:latin typeface="Calibri"/>
              </a:rPr>
              <a:t>T2: Attention — rep summaries + manager dashboard + coaching scores + deal risk alerts</a:t>
            </a:r>
          </a:p>
        </p:txBody>
      </p:sp>
      <p:sp>
        <p:nvSpPr>
          <p:cNvPr id="35" name="Rectangle 34"/>
          <p:cNvSpPr/>
          <p:nvPr/>
        </p:nvSpPr>
        <p:spPr>
          <a:xfrm>
            <a:off x="6126480" y="2084831"/>
            <a:ext cx="5632704"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17920" y="2121408"/>
            <a:ext cx="5449824" cy="201168"/>
          </a:xfrm>
          <a:prstGeom prst="rect">
            <a:avLst/>
          </a:prstGeom>
          <a:noFill/>
        </p:spPr>
        <p:txBody>
          <a:bodyPr wrap="square">
            <a:spAutoFit/>
          </a:bodyPr>
          <a:lstStyle/>
          <a:p>
            <a:pPr algn="l"/>
            <a:r>
              <a:rPr sz="900" b="1" i="0">
                <a:solidFill>
                  <a:srgbClr val="666677"/>
                </a:solidFill>
                <a:latin typeface="Calibri"/>
              </a:rPr>
              <a:t>Scheduling</a:t>
            </a:r>
          </a:p>
        </p:txBody>
      </p:sp>
      <p:sp>
        <p:nvSpPr>
          <p:cNvPr id="37" name="TextBox 36"/>
          <p:cNvSpPr txBox="1"/>
          <p:nvPr/>
        </p:nvSpPr>
        <p:spPr>
          <a:xfrm>
            <a:off x="6217920" y="2322576"/>
            <a:ext cx="5449824" cy="201168"/>
          </a:xfrm>
          <a:prstGeom prst="rect">
            <a:avLst/>
          </a:prstGeom>
          <a:noFill/>
        </p:spPr>
        <p:txBody>
          <a:bodyPr wrap="square">
            <a:spAutoFit/>
          </a:bodyPr>
          <a:lstStyle/>
          <a:p>
            <a:pPr algn="l"/>
            <a:r>
              <a:rPr sz="900" b="0" i="0">
                <a:solidFill>
                  <a:srgbClr val="185FA5"/>
                </a:solidFill>
                <a:latin typeface="Calibri"/>
              </a:rPr>
              <a:t>T1: Calendly — rep shares link, prospect books</a:t>
            </a:r>
          </a:p>
        </p:txBody>
      </p:sp>
      <p:sp>
        <p:nvSpPr>
          <p:cNvPr id="38" name="TextBox 37"/>
          <p:cNvSpPr txBox="1"/>
          <p:nvPr/>
        </p:nvSpPr>
        <p:spPr>
          <a:xfrm>
            <a:off x="6217920" y="2523744"/>
            <a:ext cx="5449824" cy="219456"/>
          </a:xfrm>
          <a:prstGeom prst="rect">
            <a:avLst/>
          </a:prstGeom>
          <a:noFill/>
        </p:spPr>
        <p:txBody>
          <a:bodyPr wrap="square">
            <a:spAutoFit/>
          </a:bodyPr>
          <a:lstStyle/>
          <a:p>
            <a:pPr algn="l"/>
            <a:r>
              <a:rPr sz="900" b="1" i="0">
                <a:solidFill>
                  <a:srgbClr val="1D9E75"/>
                </a:solidFill>
                <a:latin typeface="Calibri"/>
              </a:rPr>
              <a:t>T2: Chili Piper — website form submission instantly routed to correct rep, zero rep action</a:t>
            </a:r>
          </a:p>
        </p:txBody>
      </p:sp>
      <p:sp>
        <p:nvSpPr>
          <p:cNvPr id="39" name="Rectangle 38"/>
          <p:cNvSpPr/>
          <p:nvPr/>
        </p:nvSpPr>
        <p:spPr>
          <a:xfrm>
            <a:off x="6126480" y="2834639"/>
            <a:ext cx="5632704" cy="6949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217920" y="2871215"/>
            <a:ext cx="5449824" cy="201168"/>
          </a:xfrm>
          <a:prstGeom prst="rect">
            <a:avLst/>
          </a:prstGeom>
          <a:noFill/>
        </p:spPr>
        <p:txBody>
          <a:bodyPr wrap="square">
            <a:spAutoFit/>
          </a:bodyPr>
          <a:lstStyle/>
          <a:p>
            <a:pPr algn="l"/>
            <a:r>
              <a:rPr sz="900" b="1" i="0">
                <a:solidFill>
                  <a:srgbClr val="666677"/>
                </a:solidFill>
                <a:latin typeface="Calibri"/>
              </a:rPr>
              <a:t>Manager visibility</a:t>
            </a:r>
          </a:p>
        </p:txBody>
      </p:sp>
      <p:sp>
        <p:nvSpPr>
          <p:cNvPr id="41" name="TextBox 40"/>
          <p:cNvSpPr txBox="1"/>
          <p:nvPr/>
        </p:nvSpPr>
        <p:spPr>
          <a:xfrm>
            <a:off x="6217920" y="3072383"/>
            <a:ext cx="5449824" cy="201168"/>
          </a:xfrm>
          <a:prstGeom prst="rect">
            <a:avLst/>
          </a:prstGeom>
          <a:noFill/>
        </p:spPr>
        <p:txBody>
          <a:bodyPr wrap="square">
            <a:spAutoFit/>
          </a:bodyPr>
          <a:lstStyle/>
          <a:p>
            <a:pPr algn="l"/>
            <a:r>
              <a:rPr sz="900" b="0" i="0">
                <a:solidFill>
                  <a:srgbClr val="185FA5"/>
                </a:solidFill>
                <a:latin typeface="Calibri"/>
              </a:rPr>
              <a:t>T1: None — Ian sees HubSpot pipeline only</a:t>
            </a:r>
          </a:p>
        </p:txBody>
      </p:sp>
      <p:sp>
        <p:nvSpPr>
          <p:cNvPr id="42" name="TextBox 41"/>
          <p:cNvSpPr txBox="1"/>
          <p:nvPr/>
        </p:nvSpPr>
        <p:spPr>
          <a:xfrm>
            <a:off x="6217920" y="3273551"/>
            <a:ext cx="5449824" cy="219456"/>
          </a:xfrm>
          <a:prstGeom prst="rect">
            <a:avLst/>
          </a:prstGeom>
          <a:noFill/>
        </p:spPr>
        <p:txBody>
          <a:bodyPr wrap="square">
            <a:spAutoFit/>
          </a:bodyPr>
          <a:lstStyle/>
          <a:p>
            <a:pPr algn="l"/>
            <a:r>
              <a:rPr sz="900" b="1" i="0">
                <a:solidFill>
                  <a:srgbClr val="1D9E75"/>
                </a:solidFill>
                <a:latin typeface="Calibri"/>
              </a:rPr>
              <a:t>T2: Full — call-by-call data, which reps need coaching, which deals are at risk</a:t>
            </a:r>
          </a:p>
        </p:txBody>
      </p:sp>
      <p:sp>
        <p:nvSpPr>
          <p:cNvPr id="43" name="Rectangle 42"/>
          <p:cNvSpPr/>
          <p:nvPr/>
        </p:nvSpPr>
        <p:spPr>
          <a:xfrm>
            <a:off x="6126480" y="3584447"/>
            <a:ext cx="5632704"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217920" y="3621023"/>
            <a:ext cx="5449824" cy="201168"/>
          </a:xfrm>
          <a:prstGeom prst="rect">
            <a:avLst/>
          </a:prstGeom>
          <a:noFill/>
        </p:spPr>
        <p:txBody>
          <a:bodyPr wrap="square">
            <a:spAutoFit/>
          </a:bodyPr>
          <a:lstStyle/>
          <a:p>
            <a:pPr algn="l"/>
            <a:r>
              <a:rPr sz="900" b="1" i="0">
                <a:solidFill>
                  <a:srgbClr val="666677"/>
                </a:solidFill>
                <a:latin typeface="Calibri"/>
              </a:rPr>
              <a:t>Deal risk alerts</a:t>
            </a:r>
          </a:p>
        </p:txBody>
      </p:sp>
      <p:sp>
        <p:nvSpPr>
          <p:cNvPr id="45" name="TextBox 44"/>
          <p:cNvSpPr txBox="1"/>
          <p:nvPr/>
        </p:nvSpPr>
        <p:spPr>
          <a:xfrm>
            <a:off x="6217920" y="3822191"/>
            <a:ext cx="5449824" cy="201168"/>
          </a:xfrm>
          <a:prstGeom prst="rect">
            <a:avLst/>
          </a:prstGeom>
          <a:noFill/>
        </p:spPr>
        <p:txBody>
          <a:bodyPr wrap="square">
            <a:spAutoFit/>
          </a:bodyPr>
          <a:lstStyle/>
          <a:p>
            <a:pPr algn="l"/>
            <a:r>
              <a:rPr sz="900" b="0" i="0">
                <a:solidFill>
                  <a:srgbClr val="185FA5"/>
                </a:solidFill>
                <a:latin typeface="Calibri"/>
              </a:rPr>
              <a:t>T1: None — rep notices when deal goes cold manually</a:t>
            </a:r>
          </a:p>
        </p:txBody>
      </p:sp>
      <p:sp>
        <p:nvSpPr>
          <p:cNvPr id="46" name="TextBox 45"/>
          <p:cNvSpPr txBox="1"/>
          <p:nvPr/>
        </p:nvSpPr>
        <p:spPr>
          <a:xfrm>
            <a:off x="6217920" y="4023359"/>
            <a:ext cx="5449824" cy="219456"/>
          </a:xfrm>
          <a:prstGeom prst="rect">
            <a:avLst/>
          </a:prstGeom>
          <a:noFill/>
        </p:spPr>
        <p:txBody>
          <a:bodyPr wrap="square">
            <a:spAutoFit/>
          </a:bodyPr>
          <a:lstStyle/>
          <a:p>
            <a:pPr algn="l"/>
            <a:r>
              <a:rPr sz="900" b="1" i="0">
                <a:solidFill>
                  <a:srgbClr val="1D9E75"/>
                </a:solidFill>
                <a:latin typeface="Calibri"/>
              </a:rPr>
              <a:t>T2: Automatic — Attention flags at-risk deals before they die silently</a:t>
            </a:r>
          </a:p>
        </p:txBody>
      </p:sp>
      <p:sp>
        <p:nvSpPr>
          <p:cNvPr id="47" name="Rectangle 46"/>
          <p:cNvSpPr/>
          <p:nvPr/>
        </p:nvSpPr>
        <p:spPr>
          <a:xfrm>
            <a:off x="6126480" y="4334255"/>
            <a:ext cx="5632704" cy="6949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0" y="4370831"/>
            <a:ext cx="5449824" cy="201168"/>
          </a:xfrm>
          <a:prstGeom prst="rect">
            <a:avLst/>
          </a:prstGeom>
          <a:noFill/>
        </p:spPr>
        <p:txBody>
          <a:bodyPr wrap="square">
            <a:spAutoFit/>
          </a:bodyPr>
          <a:lstStyle/>
          <a:p>
            <a:pPr algn="l"/>
            <a:r>
              <a:rPr sz="900" b="1" i="0">
                <a:solidFill>
                  <a:srgbClr val="666677"/>
                </a:solidFill>
                <a:latin typeface="Calibri"/>
              </a:rPr>
              <a:t>Inbound routing</a:t>
            </a:r>
          </a:p>
        </p:txBody>
      </p:sp>
      <p:sp>
        <p:nvSpPr>
          <p:cNvPr id="49" name="TextBox 48"/>
          <p:cNvSpPr txBox="1"/>
          <p:nvPr/>
        </p:nvSpPr>
        <p:spPr>
          <a:xfrm>
            <a:off x="6217920" y="4571999"/>
            <a:ext cx="5449824" cy="201168"/>
          </a:xfrm>
          <a:prstGeom prst="rect">
            <a:avLst/>
          </a:prstGeom>
          <a:noFill/>
        </p:spPr>
        <p:txBody>
          <a:bodyPr wrap="square">
            <a:spAutoFit/>
          </a:bodyPr>
          <a:lstStyle/>
          <a:p>
            <a:pPr algn="l"/>
            <a:r>
              <a:rPr sz="900" b="0" i="0">
                <a:solidFill>
                  <a:srgbClr val="185FA5"/>
                </a:solidFill>
                <a:latin typeface="Calibri"/>
              </a:rPr>
              <a:t>T1: Manual — someone assigns the lead to a rep</a:t>
            </a:r>
          </a:p>
        </p:txBody>
      </p:sp>
      <p:sp>
        <p:nvSpPr>
          <p:cNvPr id="50" name="TextBox 49"/>
          <p:cNvSpPr txBox="1"/>
          <p:nvPr/>
        </p:nvSpPr>
        <p:spPr>
          <a:xfrm>
            <a:off x="6217920" y="4773167"/>
            <a:ext cx="5449824" cy="219456"/>
          </a:xfrm>
          <a:prstGeom prst="rect">
            <a:avLst/>
          </a:prstGeom>
          <a:noFill/>
        </p:spPr>
        <p:txBody>
          <a:bodyPr wrap="square">
            <a:spAutoFit/>
          </a:bodyPr>
          <a:lstStyle/>
          <a:p>
            <a:pPr algn="l"/>
            <a:r>
              <a:rPr sz="900" b="1" i="0">
                <a:solidFill>
                  <a:srgbClr val="1D9E75"/>
                </a:solidFill>
                <a:latin typeface="Calibri"/>
              </a:rPr>
              <a:t>T2: Instant — Chili Piper routes in seconds based on Ian's rules</a:t>
            </a:r>
          </a:p>
        </p:txBody>
      </p:sp>
      <p:sp>
        <p:nvSpPr>
          <p:cNvPr id="51" name="Rectangle 50"/>
          <p:cNvSpPr/>
          <p:nvPr/>
        </p:nvSpPr>
        <p:spPr>
          <a:xfrm>
            <a:off x="6126480" y="5084064"/>
            <a:ext cx="5632704" cy="69494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0" y="5120640"/>
            <a:ext cx="5449824" cy="201168"/>
          </a:xfrm>
          <a:prstGeom prst="rect">
            <a:avLst/>
          </a:prstGeom>
          <a:noFill/>
        </p:spPr>
        <p:txBody>
          <a:bodyPr wrap="square">
            <a:spAutoFit/>
          </a:bodyPr>
          <a:lstStyle/>
          <a:p>
            <a:pPr algn="l"/>
            <a:r>
              <a:rPr sz="900" b="1" i="0">
                <a:solidFill>
                  <a:srgbClr val="666677"/>
                </a:solidFill>
                <a:latin typeface="Calibri"/>
              </a:rPr>
              <a:t>Cost (5 reps)</a:t>
            </a:r>
          </a:p>
        </p:txBody>
      </p:sp>
      <p:sp>
        <p:nvSpPr>
          <p:cNvPr id="53" name="TextBox 52"/>
          <p:cNvSpPr txBox="1"/>
          <p:nvPr/>
        </p:nvSpPr>
        <p:spPr>
          <a:xfrm>
            <a:off x="6217920" y="5321807"/>
            <a:ext cx="5449824" cy="201168"/>
          </a:xfrm>
          <a:prstGeom prst="rect">
            <a:avLst/>
          </a:prstGeom>
          <a:noFill/>
        </p:spPr>
        <p:txBody>
          <a:bodyPr wrap="square">
            <a:spAutoFit/>
          </a:bodyPr>
          <a:lstStyle/>
          <a:p>
            <a:pPr algn="l"/>
            <a:r>
              <a:rPr sz="900" b="0" i="0">
                <a:solidFill>
                  <a:srgbClr val="185FA5"/>
                </a:solidFill>
                <a:latin typeface="Calibri"/>
              </a:rPr>
              <a:t>T1: ~$178/mo</a:t>
            </a:r>
          </a:p>
        </p:txBody>
      </p:sp>
      <p:sp>
        <p:nvSpPr>
          <p:cNvPr id="54" name="TextBox 53"/>
          <p:cNvSpPr txBox="1"/>
          <p:nvPr/>
        </p:nvSpPr>
        <p:spPr>
          <a:xfrm>
            <a:off x="6217920" y="5522975"/>
            <a:ext cx="5449824" cy="219456"/>
          </a:xfrm>
          <a:prstGeom prst="rect">
            <a:avLst/>
          </a:prstGeom>
          <a:noFill/>
        </p:spPr>
        <p:txBody>
          <a:bodyPr wrap="square">
            <a:spAutoFit/>
          </a:bodyPr>
          <a:lstStyle/>
          <a:p>
            <a:pPr algn="l"/>
            <a:r>
              <a:rPr sz="900" b="1" i="0">
                <a:solidFill>
                  <a:srgbClr val="1D9E75"/>
                </a:solidFill>
                <a:latin typeface="Calibri"/>
              </a:rPr>
              <a:t>T2: ~$1,034/mo — justified only when Ian cannot personally watch all calls</a:t>
            </a:r>
          </a:p>
        </p:txBody>
      </p:sp>
      <p:sp>
        <p:nvSpPr>
          <p:cNvPr id="55" name="Rectangle 54"/>
          <p:cNvSpPr/>
          <p:nvPr/>
        </p:nvSpPr>
        <p:spPr>
          <a:xfrm>
            <a:off x="6126480" y="5833872"/>
            <a:ext cx="5632704" cy="694944"/>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217920" y="5870448"/>
            <a:ext cx="5449824" cy="201168"/>
          </a:xfrm>
          <a:prstGeom prst="rect">
            <a:avLst/>
          </a:prstGeom>
          <a:noFill/>
        </p:spPr>
        <p:txBody>
          <a:bodyPr wrap="square">
            <a:spAutoFit/>
          </a:bodyPr>
          <a:lstStyle/>
          <a:p>
            <a:pPr algn="l"/>
            <a:r>
              <a:rPr sz="900" b="1" i="0">
                <a:solidFill>
                  <a:srgbClr val="666677"/>
                </a:solidFill>
                <a:latin typeface="Calibri"/>
              </a:rPr>
              <a:t>When to use</a:t>
            </a:r>
          </a:p>
        </p:txBody>
      </p:sp>
      <p:sp>
        <p:nvSpPr>
          <p:cNvPr id="57" name="TextBox 56"/>
          <p:cNvSpPr txBox="1"/>
          <p:nvPr/>
        </p:nvSpPr>
        <p:spPr>
          <a:xfrm>
            <a:off x="6217920" y="6071616"/>
            <a:ext cx="5449824" cy="201168"/>
          </a:xfrm>
          <a:prstGeom prst="rect">
            <a:avLst/>
          </a:prstGeom>
          <a:noFill/>
        </p:spPr>
        <p:txBody>
          <a:bodyPr wrap="square">
            <a:spAutoFit/>
          </a:bodyPr>
          <a:lstStyle/>
          <a:p>
            <a:pPr algn="l"/>
            <a:r>
              <a:rPr sz="900" b="0" i="0">
                <a:solidFill>
                  <a:srgbClr val="185FA5"/>
                </a:solidFill>
                <a:latin typeface="Calibri"/>
              </a:rPr>
              <a:t>T1: Fewer than 5 reps</a:t>
            </a:r>
          </a:p>
        </p:txBody>
      </p:sp>
      <p:sp>
        <p:nvSpPr>
          <p:cNvPr id="58" name="TextBox 57"/>
          <p:cNvSpPr txBox="1"/>
          <p:nvPr/>
        </p:nvSpPr>
        <p:spPr>
          <a:xfrm>
            <a:off x="6217920" y="6272783"/>
            <a:ext cx="5449824" cy="219456"/>
          </a:xfrm>
          <a:prstGeom prst="rect">
            <a:avLst/>
          </a:prstGeom>
          <a:noFill/>
        </p:spPr>
        <p:txBody>
          <a:bodyPr wrap="square">
            <a:spAutoFit/>
          </a:bodyPr>
          <a:lstStyle/>
          <a:p>
            <a:pPr algn="l"/>
            <a:r>
              <a:rPr sz="900" b="1" i="0">
                <a:solidFill>
                  <a:srgbClr val="1D9E75"/>
                </a:solidFill>
                <a:latin typeface="Calibri"/>
              </a:rPr>
              <a:t>T2: 5+ reps, Ian needs manager-level intelligence</a:t>
            </a:r>
          </a:p>
        </p:txBody>
      </p:sp>
      <p:sp>
        <p:nvSpPr>
          <p:cNvPr id="59" name="Rectangle 58"/>
          <p:cNvSpPr/>
          <p:nvPr/>
        </p:nvSpPr>
        <p:spPr>
          <a:xfrm>
            <a:off x="274320" y="6336792"/>
            <a:ext cx="11521440" cy="384048"/>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57200" y="6373368"/>
            <a:ext cx="11247120" cy="292608"/>
          </a:xfrm>
          <a:prstGeom prst="rect">
            <a:avLst/>
          </a:prstGeom>
          <a:noFill/>
        </p:spPr>
        <p:txBody>
          <a:bodyPr wrap="square">
            <a:spAutoFit/>
          </a:bodyPr>
          <a:lstStyle/>
          <a:p>
            <a:pPr algn="l"/>
            <a:r>
              <a:rPr sz="950" b="0" i="0">
                <a:solidFill>
                  <a:srgbClr val="FFFFFF"/>
                </a:solidFill>
                <a:latin typeface="Calibri"/>
              </a:rPr>
              <a:t>Tier 2 total (5 reps): HubSpot $450 + Attention $375 + Chili Piper $150 + Otter $10 + Zapier $49 = ~$1,034/mo  ·  Upgrade trigger: team hits 5 reps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58368"/>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Tier 3 — Build  |  Own the IP  |  R&amp;D Division  |  Sellable Product</a:t>
            </a:r>
          </a:p>
        </p:txBody>
      </p:sp>
      <p:sp>
        <p:nvSpPr>
          <p:cNvPr id="5" name="Rectangle 4"/>
          <p:cNvSpPr/>
          <p:nvPr/>
        </p:nvSpPr>
        <p:spPr>
          <a:xfrm>
            <a:off x="274320" y="804672"/>
            <a:ext cx="3657600" cy="54681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96112"/>
            <a:ext cx="3383280" cy="347472"/>
          </a:xfrm>
          <a:prstGeom prst="rect">
            <a:avLst/>
          </a:prstGeom>
          <a:noFill/>
        </p:spPr>
        <p:txBody>
          <a:bodyPr wrap="square">
            <a:spAutoFit/>
          </a:bodyPr>
          <a:lstStyle/>
          <a:p>
            <a:pPr algn="l"/>
            <a:r>
              <a:rPr sz="1300" b="1" i="0">
                <a:solidFill>
                  <a:srgbClr val="FFFFFF"/>
                </a:solidFill>
                <a:latin typeface="Calibri"/>
              </a:rPr>
              <a:t>The Build Stack</a:t>
            </a:r>
          </a:p>
        </p:txBody>
      </p:sp>
      <p:sp>
        <p:nvSpPr>
          <p:cNvPr id="7" name="TextBox 6"/>
          <p:cNvSpPr txBox="1"/>
          <p:nvPr/>
        </p:nvSpPr>
        <p:spPr>
          <a:xfrm>
            <a:off x="457200" y="1261872"/>
            <a:ext cx="3383280" cy="274320"/>
          </a:xfrm>
          <a:prstGeom prst="rect">
            <a:avLst/>
          </a:prstGeom>
          <a:noFill/>
        </p:spPr>
        <p:txBody>
          <a:bodyPr wrap="square">
            <a:spAutoFit/>
          </a:bodyPr>
          <a:lstStyle/>
          <a:p>
            <a:pPr algn="l"/>
            <a:r>
              <a:rPr sz="950" b="0" i="1">
                <a:solidFill>
                  <a:srgbClr val="CCCCD8"/>
                </a:solidFill>
                <a:latin typeface="Calibri"/>
              </a:rPr>
              <a:t>Open source. Owned. Flat cost at any scale.</a:t>
            </a:r>
          </a:p>
        </p:txBody>
      </p:sp>
      <p:sp>
        <p:nvSpPr>
          <p:cNvPr id="8" name="Rectangle 7"/>
          <p:cNvSpPr/>
          <p:nvPr/>
        </p:nvSpPr>
        <p:spPr>
          <a:xfrm>
            <a:off x="384048" y="1645920"/>
            <a:ext cx="3438144" cy="749808"/>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700784"/>
            <a:ext cx="2011680" cy="274320"/>
          </a:xfrm>
          <a:prstGeom prst="rect">
            <a:avLst/>
          </a:prstGeom>
          <a:noFill/>
        </p:spPr>
        <p:txBody>
          <a:bodyPr wrap="square">
            <a:spAutoFit/>
          </a:bodyPr>
          <a:lstStyle/>
          <a:p>
            <a:pPr algn="l"/>
            <a:r>
              <a:rPr sz="1050" b="1" i="0">
                <a:solidFill>
                  <a:srgbClr val="CECBF6"/>
                </a:solidFill>
                <a:latin typeface="Calibri"/>
              </a:rPr>
              <a:t>Next.js + TypeScript</a:t>
            </a:r>
          </a:p>
        </p:txBody>
      </p:sp>
      <p:sp>
        <p:nvSpPr>
          <p:cNvPr id="10" name="TextBox 9"/>
          <p:cNvSpPr txBox="1"/>
          <p:nvPr/>
        </p:nvSpPr>
        <p:spPr>
          <a:xfrm>
            <a:off x="475488" y="1956816"/>
            <a:ext cx="2011680" cy="219456"/>
          </a:xfrm>
          <a:prstGeom prst="rect">
            <a:avLst/>
          </a:prstGeom>
          <a:noFill/>
        </p:spPr>
        <p:txBody>
          <a:bodyPr wrap="square">
            <a:spAutoFit/>
          </a:bodyPr>
          <a:lstStyle/>
          <a:p>
            <a:pPr algn="l"/>
            <a:r>
              <a:rPr sz="900" b="0" i="0">
                <a:solidFill>
                  <a:srgbClr val="1D9E75"/>
                </a:solidFill>
                <a:latin typeface="Calibri"/>
              </a:rPr>
              <a:t>$0</a:t>
            </a:r>
          </a:p>
        </p:txBody>
      </p:sp>
      <p:sp>
        <p:nvSpPr>
          <p:cNvPr id="11" name="TextBox 10"/>
          <p:cNvSpPr txBox="1"/>
          <p:nvPr/>
        </p:nvSpPr>
        <p:spPr>
          <a:xfrm>
            <a:off x="2560320" y="1700784"/>
            <a:ext cx="1170432" cy="640080"/>
          </a:xfrm>
          <a:prstGeom prst="rect">
            <a:avLst/>
          </a:prstGeom>
          <a:noFill/>
        </p:spPr>
        <p:txBody>
          <a:bodyPr wrap="square">
            <a:spAutoFit/>
          </a:bodyPr>
          <a:lstStyle/>
          <a:p>
            <a:pPr algn="l"/>
            <a:r>
              <a:rPr sz="850" b="0" i="0">
                <a:solidFill>
                  <a:srgbClr val="CCCCD8"/>
                </a:solidFill>
                <a:latin typeface="Calibri"/>
              </a:rPr>
              <a:t>Open source frontend + API. Dashboard, data views, admin panel. Deployed via git push.</a:t>
            </a:r>
          </a:p>
        </p:txBody>
      </p:sp>
      <p:sp>
        <p:nvSpPr>
          <p:cNvPr id="12" name="Rectangle 11"/>
          <p:cNvSpPr/>
          <p:nvPr/>
        </p:nvSpPr>
        <p:spPr>
          <a:xfrm>
            <a:off x="384048" y="2468880"/>
            <a:ext cx="3438144" cy="749808"/>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523744"/>
            <a:ext cx="2011680" cy="274320"/>
          </a:xfrm>
          <a:prstGeom prst="rect">
            <a:avLst/>
          </a:prstGeom>
          <a:noFill/>
        </p:spPr>
        <p:txBody>
          <a:bodyPr wrap="square">
            <a:spAutoFit/>
          </a:bodyPr>
          <a:lstStyle/>
          <a:p>
            <a:pPr algn="l"/>
            <a:r>
              <a:rPr sz="1050" b="1" i="0">
                <a:solidFill>
                  <a:srgbClr val="CECBF6"/>
                </a:solidFill>
                <a:latin typeface="Calibri"/>
              </a:rPr>
              <a:t>Supabase Pro</a:t>
            </a:r>
          </a:p>
        </p:txBody>
      </p:sp>
      <p:sp>
        <p:nvSpPr>
          <p:cNvPr id="14" name="TextBox 13"/>
          <p:cNvSpPr txBox="1"/>
          <p:nvPr/>
        </p:nvSpPr>
        <p:spPr>
          <a:xfrm>
            <a:off x="475488" y="2779776"/>
            <a:ext cx="2011680" cy="219456"/>
          </a:xfrm>
          <a:prstGeom prst="rect">
            <a:avLst/>
          </a:prstGeom>
          <a:noFill/>
        </p:spPr>
        <p:txBody>
          <a:bodyPr wrap="square">
            <a:spAutoFit/>
          </a:bodyPr>
          <a:lstStyle/>
          <a:p>
            <a:pPr algn="l"/>
            <a:r>
              <a:rPr sz="900" b="0" i="0">
                <a:solidFill>
                  <a:srgbClr val="1D9E75"/>
                </a:solidFill>
                <a:latin typeface="Calibri"/>
              </a:rPr>
              <a:t>$25/mo</a:t>
            </a:r>
          </a:p>
        </p:txBody>
      </p:sp>
      <p:sp>
        <p:nvSpPr>
          <p:cNvPr id="15" name="TextBox 14"/>
          <p:cNvSpPr txBox="1"/>
          <p:nvPr/>
        </p:nvSpPr>
        <p:spPr>
          <a:xfrm>
            <a:off x="2560320" y="2523744"/>
            <a:ext cx="1170432" cy="640080"/>
          </a:xfrm>
          <a:prstGeom prst="rect">
            <a:avLst/>
          </a:prstGeom>
          <a:noFill/>
        </p:spPr>
        <p:txBody>
          <a:bodyPr wrap="square">
            <a:spAutoFit/>
          </a:bodyPr>
          <a:lstStyle/>
          <a:p>
            <a:pPr algn="l"/>
            <a:r>
              <a:rPr sz="850" b="0" i="0">
                <a:solidFill>
                  <a:srgbClr val="CCCCD8"/>
                </a:solidFill>
                <a:latin typeface="Calibri"/>
              </a:rPr>
              <a:t>Owned PostgreSQL database. All property, owner, call, inspection, deal data. Self-hostable — zero vendor lock-in.</a:t>
            </a:r>
          </a:p>
        </p:txBody>
      </p:sp>
      <p:sp>
        <p:nvSpPr>
          <p:cNvPr id="16" name="Rectangle 15"/>
          <p:cNvSpPr/>
          <p:nvPr/>
        </p:nvSpPr>
        <p:spPr>
          <a:xfrm>
            <a:off x="384048" y="3291840"/>
            <a:ext cx="3438144" cy="749808"/>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346704"/>
            <a:ext cx="2011680" cy="274320"/>
          </a:xfrm>
          <a:prstGeom prst="rect">
            <a:avLst/>
          </a:prstGeom>
          <a:noFill/>
        </p:spPr>
        <p:txBody>
          <a:bodyPr wrap="square">
            <a:spAutoFit/>
          </a:bodyPr>
          <a:lstStyle/>
          <a:p>
            <a:pPr algn="l"/>
            <a:r>
              <a:rPr sz="1050" b="1" i="0">
                <a:solidFill>
                  <a:srgbClr val="CECBF6"/>
                </a:solidFill>
                <a:latin typeface="Calibri"/>
              </a:rPr>
              <a:t>n8n Cloud Pro</a:t>
            </a:r>
          </a:p>
        </p:txBody>
      </p:sp>
      <p:sp>
        <p:nvSpPr>
          <p:cNvPr id="18" name="TextBox 17"/>
          <p:cNvSpPr txBox="1"/>
          <p:nvPr/>
        </p:nvSpPr>
        <p:spPr>
          <a:xfrm>
            <a:off x="475488" y="3602736"/>
            <a:ext cx="2011680" cy="219456"/>
          </a:xfrm>
          <a:prstGeom prst="rect">
            <a:avLst/>
          </a:prstGeom>
          <a:noFill/>
        </p:spPr>
        <p:txBody>
          <a:bodyPr wrap="square">
            <a:spAutoFit/>
          </a:bodyPr>
          <a:lstStyle/>
          <a:p>
            <a:pPr algn="l"/>
            <a:r>
              <a:rPr sz="900" b="0" i="0">
                <a:solidFill>
                  <a:srgbClr val="1D9E75"/>
                </a:solidFill>
                <a:latin typeface="Calibri"/>
              </a:rPr>
              <a:t>$60/mo</a:t>
            </a:r>
          </a:p>
        </p:txBody>
      </p:sp>
      <p:sp>
        <p:nvSpPr>
          <p:cNvPr id="19" name="TextBox 18"/>
          <p:cNvSpPr txBox="1"/>
          <p:nvPr/>
        </p:nvSpPr>
        <p:spPr>
          <a:xfrm>
            <a:off x="2560320" y="3346704"/>
            <a:ext cx="1170432" cy="640080"/>
          </a:xfrm>
          <a:prstGeom prst="rect">
            <a:avLst/>
          </a:prstGeom>
          <a:noFill/>
        </p:spPr>
        <p:txBody>
          <a:bodyPr wrap="square">
            <a:spAutoFit/>
          </a:bodyPr>
          <a:lstStyle/>
          <a:p>
            <a:pPr algn="l"/>
            <a:r>
              <a:rPr sz="850" b="0" i="0">
                <a:solidFill>
                  <a:srgbClr val="CCCCD8"/>
                </a:solidFill>
                <a:latin typeface="Calibri"/>
              </a:rPr>
              <a:t>Replaces Zapier entirely. Execution-based billing — one workflow run = one execution regardless of step count. 10x cheaper at volume. All workflows owned.</a:t>
            </a:r>
          </a:p>
        </p:txBody>
      </p:sp>
      <p:sp>
        <p:nvSpPr>
          <p:cNvPr id="20" name="Rectangle 19"/>
          <p:cNvSpPr/>
          <p:nvPr/>
        </p:nvSpPr>
        <p:spPr>
          <a:xfrm>
            <a:off x="384048" y="4114800"/>
            <a:ext cx="3438144" cy="749808"/>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169663"/>
            <a:ext cx="2011680" cy="274320"/>
          </a:xfrm>
          <a:prstGeom prst="rect">
            <a:avLst/>
          </a:prstGeom>
          <a:noFill/>
        </p:spPr>
        <p:txBody>
          <a:bodyPr wrap="square">
            <a:spAutoFit/>
          </a:bodyPr>
          <a:lstStyle/>
          <a:p>
            <a:pPr algn="l"/>
            <a:r>
              <a:rPr sz="1050" b="1" i="0">
                <a:solidFill>
                  <a:srgbClr val="CECBF6"/>
                </a:solidFill>
                <a:latin typeface="Calibri"/>
              </a:rPr>
              <a:t>Vercel Pro</a:t>
            </a:r>
          </a:p>
        </p:txBody>
      </p:sp>
      <p:sp>
        <p:nvSpPr>
          <p:cNvPr id="22" name="TextBox 21"/>
          <p:cNvSpPr txBox="1"/>
          <p:nvPr/>
        </p:nvSpPr>
        <p:spPr>
          <a:xfrm>
            <a:off x="475488" y="4425696"/>
            <a:ext cx="2011680" cy="219456"/>
          </a:xfrm>
          <a:prstGeom prst="rect">
            <a:avLst/>
          </a:prstGeom>
          <a:noFill/>
        </p:spPr>
        <p:txBody>
          <a:bodyPr wrap="square">
            <a:spAutoFit/>
          </a:bodyPr>
          <a:lstStyle/>
          <a:p>
            <a:pPr algn="l"/>
            <a:r>
              <a:rPr sz="900" b="0" i="0">
                <a:solidFill>
                  <a:srgbClr val="1D9E75"/>
                </a:solidFill>
                <a:latin typeface="Calibri"/>
              </a:rPr>
              <a:t>$20/mo</a:t>
            </a:r>
          </a:p>
        </p:txBody>
      </p:sp>
      <p:sp>
        <p:nvSpPr>
          <p:cNvPr id="23" name="TextBox 22"/>
          <p:cNvSpPr txBox="1"/>
          <p:nvPr/>
        </p:nvSpPr>
        <p:spPr>
          <a:xfrm>
            <a:off x="2560320" y="4169663"/>
            <a:ext cx="1170432" cy="640080"/>
          </a:xfrm>
          <a:prstGeom prst="rect">
            <a:avLst/>
          </a:prstGeom>
          <a:noFill/>
        </p:spPr>
        <p:txBody>
          <a:bodyPr wrap="square">
            <a:spAutoFit/>
          </a:bodyPr>
          <a:lstStyle/>
          <a:p>
            <a:pPr algn="l"/>
            <a:r>
              <a:rPr sz="850" b="0" i="0">
                <a:solidFill>
                  <a:srgbClr val="CCCCD8"/>
                </a:solidFill>
                <a:latin typeface="Calibri"/>
              </a:rPr>
              <a:t>CI/CD, hosting, preview environments. Every code push auto-deploys in 30 seconds. Zero server management.</a:t>
            </a:r>
          </a:p>
        </p:txBody>
      </p:sp>
      <p:sp>
        <p:nvSpPr>
          <p:cNvPr id="24" name="Rectangle 23"/>
          <p:cNvSpPr/>
          <p:nvPr/>
        </p:nvSpPr>
        <p:spPr>
          <a:xfrm>
            <a:off x="384048" y="4937760"/>
            <a:ext cx="3438144" cy="749808"/>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5488" y="4992624"/>
            <a:ext cx="2011680" cy="274320"/>
          </a:xfrm>
          <a:prstGeom prst="rect">
            <a:avLst/>
          </a:prstGeom>
          <a:noFill/>
        </p:spPr>
        <p:txBody>
          <a:bodyPr wrap="square">
            <a:spAutoFit/>
          </a:bodyPr>
          <a:lstStyle/>
          <a:p>
            <a:pPr algn="l"/>
            <a:r>
              <a:rPr sz="1050" b="1" i="0">
                <a:solidFill>
                  <a:srgbClr val="CECBF6"/>
                </a:solidFill>
                <a:latin typeface="Calibri"/>
              </a:rPr>
              <a:t>Claude / OpenAI API</a:t>
            </a:r>
          </a:p>
        </p:txBody>
      </p:sp>
      <p:sp>
        <p:nvSpPr>
          <p:cNvPr id="26" name="TextBox 25"/>
          <p:cNvSpPr txBox="1"/>
          <p:nvPr/>
        </p:nvSpPr>
        <p:spPr>
          <a:xfrm>
            <a:off x="475488" y="5248656"/>
            <a:ext cx="2011680" cy="219456"/>
          </a:xfrm>
          <a:prstGeom prst="rect">
            <a:avLst/>
          </a:prstGeom>
          <a:noFill/>
        </p:spPr>
        <p:txBody>
          <a:bodyPr wrap="square">
            <a:spAutoFit/>
          </a:bodyPr>
          <a:lstStyle/>
          <a:p>
            <a:pPr algn="l"/>
            <a:r>
              <a:rPr sz="900" b="0" i="0">
                <a:solidFill>
                  <a:srgbClr val="1D9E75"/>
                </a:solidFill>
                <a:latin typeface="Calibri"/>
              </a:rPr>
              <a:t>~$30/mo</a:t>
            </a:r>
          </a:p>
        </p:txBody>
      </p:sp>
      <p:sp>
        <p:nvSpPr>
          <p:cNvPr id="27" name="TextBox 26"/>
          <p:cNvSpPr txBox="1"/>
          <p:nvPr/>
        </p:nvSpPr>
        <p:spPr>
          <a:xfrm>
            <a:off x="2560320" y="4992624"/>
            <a:ext cx="1170432" cy="640080"/>
          </a:xfrm>
          <a:prstGeom prst="rect">
            <a:avLst/>
          </a:prstGeom>
          <a:noFill/>
        </p:spPr>
        <p:txBody>
          <a:bodyPr wrap="square">
            <a:spAutoFit/>
          </a:bodyPr>
          <a:lstStyle/>
          <a:p>
            <a:pPr algn="l"/>
            <a:r>
              <a:rPr sz="850" b="0" i="0">
                <a:solidFill>
                  <a:srgbClr val="CCCCD8"/>
                </a:solidFill>
                <a:latin typeface="Calibri"/>
              </a:rPr>
              <a:t>Pre-call briefs, inspection classification, follow-up drafts, sales intelligence triggers. Pay per token — scales with actual use.</a:t>
            </a:r>
          </a:p>
        </p:txBody>
      </p:sp>
      <p:sp>
        <p:nvSpPr>
          <p:cNvPr id="28" name="Rectangle 27"/>
          <p:cNvSpPr/>
          <p:nvPr/>
        </p:nvSpPr>
        <p:spPr>
          <a:xfrm>
            <a:off x="274320" y="6336792"/>
            <a:ext cx="3657600" cy="384048"/>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11480" y="6373368"/>
            <a:ext cx="3429000" cy="292608"/>
          </a:xfrm>
          <a:prstGeom prst="rect">
            <a:avLst/>
          </a:prstGeom>
          <a:noFill/>
        </p:spPr>
        <p:txBody>
          <a:bodyPr wrap="square">
            <a:spAutoFit/>
          </a:bodyPr>
          <a:lstStyle/>
          <a:p>
            <a:pPr algn="l"/>
            <a:r>
              <a:rPr sz="950" b="1" i="0">
                <a:solidFill>
                  <a:srgbClr val="FFFFFF"/>
                </a:solidFill>
                <a:latin typeface="Calibri"/>
              </a:rPr>
              <a:t>$135/mo total · flat at any team size</a:t>
            </a:r>
          </a:p>
        </p:txBody>
      </p:sp>
      <p:sp>
        <p:nvSpPr>
          <p:cNvPr id="30" name="Rectangle 29"/>
          <p:cNvSpPr/>
          <p:nvPr/>
        </p:nvSpPr>
        <p:spPr>
          <a:xfrm>
            <a:off x="4133087" y="804672"/>
            <a:ext cx="3840480" cy="54681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15968" y="896112"/>
            <a:ext cx="3566160" cy="347472"/>
          </a:xfrm>
          <a:prstGeom prst="rect">
            <a:avLst/>
          </a:prstGeom>
          <a:noFill/>
        </p:spPr>
        <p:txBody>
          <a:bodyPr wrap="square">
            <a:spAutoFit/>
          </a:bodyPr>
          <a:lstStyle/>
          <a:p>
            <a:pPr algn="l"/>
            <a:r>
              <a:rPr sz="1300" b="1" i="0">
                <a:solidFill>
                  <a:srgbClr val="FFFFFF"/>
                </a:solidFill>
                <a:latin typeface="Calibri"/>
              </a:rPr>
              <a:t>The R&amp;D Division</a:t>
            </a:r>
          </a:p>
        </p:txBody>
      </p:sp>
      <p:sp>
        <p:nvSpPr>
          <p:cNvPr id="32" name="TextBox 31"/>
          <p:cNvSpPr txBox="1"/>
          <p:nvPr/>
        </p:nvSpPr>
        <p:spPr>
          <a:xfrm>
            <a:off x="4315968" y="1261872"/>
            <a:ext cx="3566160" cy="457200"/>
          </a:xfrm>
          <a:prstGeom prst="rect">
            <a:avLst/>
          </a:prstGeom>
          <a:noFill/>
        </p:spPr>
        <p:txBody>
          <a:bodyPr wrap="square">
            <a:spAutoFit/>
          </a:bodyPr>
          <a:lstStyle/>
          <a:p>
            <a:pPr algn="l"/>
            <a:r>
              <a:rPr sz="950" b="0" i="1">
                <a:solidFill>
                  <a:srgbClr val="CCCCD8"/>
                </a:solidFill>
                <a:latin typeface="Calibri"/>
              </a:rPr>
              <a:t>A formal department inside The Joseph Group
that builds, documents, and claims the credit.</a:t>
            </a:r>
          </a:p>
        </p:txBody>
      </p:sp>
      <p:sp>
        <p:nvSpPr>
          <p:cNvPr id="33" name="Rectangle 32"/>
          <p:cNvSpPr/>
          <p:nvPr/>
        </p:nvSpPr>
        <p:spPr>
          <a:xfrm>
            <a:off x="4224528" y="1792224"/>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315968" y="1837943"/>
            <a:ext cx="3456432" cy="219456"/>
          </a:xfrm>
          <a:prstGeom prst="rect">
            <a:avLst/>
          </a:prstGeom>
          <a:noFill/>
        </p:spPr>
        <p:txBody>
          <a:bodyPr wrap="square">
            <a:spAutoFit/>
          </a:bodyPr>
          <a:lstStyle/>
          <a:p>
            <a:pPr algn="l"/>
            <a:r>
              <a:rPr sz="900" b="1" i="0">
                <a:solidFill>
                  <a:srgbClr val="534AB7"/>
                </a:solidFill>
                <a:latin typeface="Calibri"/>
              </a:rPr>
              <a:t>What it is</a:t>
            </a:r>
          </a:p>
        </p:txBody>
      </p:sp>
      <p:sp>
        <p:nvSpPr>
          <p:cNvPr id="35" name="TextBox 34"/>
          <p:cNvSpPr txBox="1"/>
          <p:nvPr/>
        </p:nvSpPr>
        <p:spPr>
          <a:xfrm>
            <a:off x="4315968" y="2039112"/>
            <a:ext cx="3456432" cy="347472"/>
          </a:xfrm>
          <a:prstGeom prst="rect">
            <a:avLst/>
          </a:prstGeom>
          <a:noFill/>
        </p:spPr>
        <p:txBody>
          <a:bodyPr wrap="square">
            <a:spAutoFit/>
          </a:bodyPr>
          <a:lstStyle/>
          <a:p>
            <a:pPr algn="l"/>
            <a:r>
              <a:rPr sz="850" b="0" i="0">
                <a:solidFill>
                  <a:srgbClr val="CCCCD8"/>
                </a:solidFill>
                <a:latin typeface="Calibri"/>
              </a:rPr>
              <a:t>A named R&amp;D unit within The Joseph Group. Even one person building documented software qualifies under IRC §41.</a:t>
            </a:r>
          </a:p>
        </p:txBody>
      </p:sp>
      <p:sp>
        <p:nvSpPr>
          <p:cNvPr id="36" name="Rectangle 35"/>
          <p:cNvSpPr/>
          <p:nvPr/>
        </p:nvSpPr>
        <p:spPr>
          <a:xfrm>
            <a:off x="4224528" y="2468880"/>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315968" y="2514600"/>
            <a:ext cx="3456432" cy="219456"/>
          </a:xfrm>
          <a:prstGeom prst="rect">
            <a:avLst/>
          </a:prstGeom>
          <a:noFill/>
        </p:spPr>
        <p:txBody>
          <a:bodyPr wrap="square">
            <a:spAutoFit/>
          </a:bodyPr>
          <a:lstStyle/>
          <a:p>
            <a:pPr algn="l"/>
            <a:r>
              <a:rPr sz="900" b="1" i="0">
                <a:solidFill>
                  <a:srgbClr val="534AB7"/>
                </a:solidFill>
                <a:latin typeface="Calibri"/>
              </a:rPr>
              <a:t>Why formalize it</a:t>
            </a:r>
          </a:p>
        </p:txBody>
      </p:sp>
      <p:sp>
        <p:nvSpPr>
          <p:cNvPr id="38" name="TextBox 37"/>
          <p:cNvSpPr txBox="1"/>
          <p:nvPr/>
        </p:nvSpPr>
        <p:spPr>
          <a:xfrm>
            <a:off x="4315968" y="2715768"/>
            <a:ext cx="3456432" cy="347472"/>
          </a:xfrm>
          <a:prstGeom prst="rect">
            <a:avLst/>
          </a:prstGeom>
          <a:noFill/>
        </p:spPr>
        <p:txBody>
          <a:bodyPr wrap="square">
            <a:spAutoFit/>
          </a:bodyPr>
          <a:lstStyle/>
          <a:p>
            <a:pPr algn="l"/>
            <a:r>
              <a:rPr sz="850" b="0" i="0">
                <a:solidFill>
                  <a:srgbClr val="CCCCD8"/>
                </a:solidFill>
                <a:latin typeface="Calibri"/>
              </a:rPr>
              <a:t>Formalising the R&amp;D activity is what converts operating expenses into qualifying research expenses — unlocking the tax credit dollar for dollar.</a:t>
            </a:r>
          </a:p>
        </p:txBody>
      </p:sp>
      <p:sp>
        <p:nvSpPr>
          <p:cNvPr id="39" name="Rectangle 38"/>
          <p:cNvSpPr/>
          <p:nvPr/>
        </p:nvSpPr>
        <p:spPr>
          <a:xfrm>
            <a:off x="4224528" y="3145536"/>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315968" y="3191256"/>
            <a:ext cx="3456432" cy="219456"/>
          </a:xfrm>
          <a:prstGeom prst="rect">
            <a:avLst/>
          </a:prstGeom>
          <a:noFill/>
        </p:spPr>
        <p:txBody>
          <a:bodyPr wrap="square">
            <a:spAutoFit/>
          </a:bodyPr>
          <a:lstStyle/>
          <a:p>
            <a:pPr algn="l"/>
            <a:r>
              <a:rPr sz="900" b="1" i="0">
                <a:solidFill>
                  <a:srgbClr val="534AB7"/>
                </a:solidFill>
                <a:latin typeface="Calibri"/>
              </a:rPr>
              <a:t>What qualifies as QREs</a:t>
            </a:r>
          </a:p>
        </p:txBody>
      </p:sp>
      <p:sp>
        <p:nvSpPr>
          <p:cNvPr id="41" name="TextBox 40"/>
          <p:cNvSpPr txBox="1"/>
          <p:nvPr/>
        </p:nvSpPr>
        <p:spPr>
          <a:xfrm>
            <a:off x="4315968" y="3392424"/>
            <a:ext cx="3456432" cy="347472"/>
          </a:xfrm>
          <a:prstGeom prst="rect">
            <a:avLst/>
          </a:prstGeom>
          <a:noFill/>
        </p:spPr>
        <p:txBody>
          <a:bodyPr wrap="square">
            <a:spAutoFit/>
          </a:bodyPr>
          <a:lstStyle/>
          <a:p>
            <a:pPr algn="l"/>
            <a:r>
              <a:rPr sz="850" b="0" i="0">
                <a:solidFill>
                  <a:srgbClr val="CCCCD8"/>
                </a:solidFill>
                <a:latin typeface="Calibri"/>
              </a:rPr>
              <a:t>Michael's wages (80% qualifying fraction) + cloud infra costs (100%) + AI API costs (100%) + 65% of any contractor dev fees.</a:t>
            </a:r>
          </a:p>
        </p:txBody>
      </p:sp>
      <p:sp>
        <p:nvSpPr>
          <p:cNvPr id="42" name="Rectangle 41"/>
          <p:cNvSpPr/>
          <p:nvPr/>
        </p:nvSpPr>
        <p:spPr>
          <a:xfrm>
            <a:off x="4224528" y="3822192"/>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315968" y="3867912"/>
            <a:ext cx="3456432" cy="219456"/>
          </a:xfrm>
          <a:prstGeom prst="rect">
            <a:avLst/>
          </a:prstGeom>
          <a:noFill/>
        </p:spPr>
        <p:txBody>
          <a:bodyPr wrap="square">
            <a:spAutoFit/>
          </a:bodyPr>
          <a:lstStyle/>
          <a:p>
            <a:pPr algn="l"/>
            <a:r>
              <a:rPr sz="900" b="1" i="0">
                <a:solidFill>
                  <a:srgbClr val="534AB7"/>
                </a:solidFill>
                <a:latin typeface="Calibri"/>
              </a:rPr>
              <a:t>Credit method</a:t>
            </a:r>
          </a:p>
        </p:txBody>
      </p:sp>
      <p:sp>
        <p:nvSpPr>
          <p:cNvPr id="44" name="TextBox 43"/>
          <p:cNvSpPr txBox="1"/>
          <p:nvPr/>
        </p:nvSpPr>
        <p:spPr>
          <a:xfrm>
            <a:off x="4315968" y="4069080"/>
            <a:ext cx="3456432" cy="347472"/>
          </a:xfrm>
          <a:prstGeom prst="rect">
            <a:avLst/>
          </a:prstGeom>
          <a:noFill/>
        </p:spPr>
        <p:txBody>
          <a:bodyPr wrap="square">
            <a:spAutoFit/>
          </a:bodyPr>
          <a:lstStyle/>
          <a:p>
            <a:pPr algn="l"/>
            <a:r>
              <a:rPr sz="850" b="0" i="0">
                <a:solidFill>
                  <a:srgbClr val="CCCCD8"/>
                </a:solidFill>
                <a:latin typeface="Calibri"/>
              </a:rPr>
              <a:t>Alternative Simplified Credit (ASC): 6% flat on all QREs in Year 1 (no prior history). Grows to 14% of excess over 50% of 3-yr average from Year 2 onwards.</a:t>
            </a:r>
          </a:p>
        </p:txBody>
      </p:sp>
      <p:sp>
        <p:nvSpPr>
          <p:cNvPr id="45" name="Rectangle 44"/>
          <p:cNvSpPr/>
          <p:nvPr/>
        </p:nvSpPr>
        <p:spPr>
          <a:xfrm>
            <a:off x="4224528" y="4498848"/>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15968" y="4544568"/>
            <a:ext cx="3456432" cy="219456"/>
          </a:xfrm>
          <a:prstGeom prst="rect">
            <a:avLst/>
          </a:prstGeom>
          <a:noFill/>
        </p:spPr>
        <p:txBody>
          <a:bodyPr wrap="square">
            <a:spAutoFit/>
          </a:bodyPr>
          <a:lstStyle/>
          <a:p>
            <a:pPr algn="l"/>
            <a:r>
              <a:rPr sz="900" b="1" i="0">
                <a:solidFill>
                  <a:srgbClr val="534AB7"/>
                </a:solidFill>
                <a:latin typeface="Calibri"/>
              </a:rPr>
              <a:t>Year 1 estimate</a:t>
            </a:r>
          </a:p>
        </p:txBody>
      </p:sp>
      <p:sp>
        <p:nvSpPr>
          <p:cNvPr id="47" name="TextBox 46"/>
          <p:cNvSpPr txBox="1"/>
          <p:nvPr/>
        </p:nvSpPr>
        <p:spPr>
          <a:xfrm>
            <a:off x="4315968" y="4745736"/>
            <a:ext cx="3456432" cy="347472"/>
          </a:xfrm>
          <a:prstGeom prst="rect">
            <a:avLst/>
          </a:prstGeom>
          <a:noFill/>
        </p:spPr>
        <p:txBody>
          <a:bodyPr wrap="square">
            <a:spAutoFit/>
          </a:bodyPr>
          <a:lstStyle/>
          <a:p>
            <a:pPr algn="l"/>
            <a:r>
              <a:rPr sz="850" b="0" i="0">
                <a:solidFill>
                  <a:srgbClr val="CCCCD8"/>
                </a:solidFill>
                <a:latin typeface="Calibri"/>
              </a:rPr>
              <a:t>~$4,300 federal credit on ~$67K in qualifying expenses. Filed on IRS Form 6765 annually.</a:t>
            </a:r>
          </a:p>
        </p:txBody>
      </p:sp>
      <p:sp>
        <p:nvSpPr>
          <p:cNvPr id="48" name="Rectangle 47"/>
          <p:cNvSpPr/>
          <p:nvPr/>
        </p:nvSpPr>
        <p:spPr>
          <a:xfrm>
            <a:off x="4224528" y="5175504"/>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315968" y="5221224"/>
            <a:ext cx="3456432" cy="219456"/>
          </a:xfrm>
          <a:prstGeom prst="rect">
            <a:avLst/>
          </a:prstGeom>
          <a:noFill/>
        </p:spPr>
        <p:txBody>
          <a:bodyPr wrap="square">
            <a:spAutoFit/>
          </a:bodyPr>
          <a:lstStyle/>
          <a:p>
            <a:pPr algn="l"/>
            <a:r>
              <a:rPr sz="900" b="1" i="0">
                <a:solidFill>
                  <a:srgbClr val="534AB7"/>
                </a:solidFill>
                <a:latin typeface="Calibri"/>
              </a:rPr>
              <a:t>3-year cumulative</a:t>
            </a:r>
          </a:p>
        </p:txBody>
      </p:sp>
      <p:sp>
        <p:nvSpPr>
          <p:cNvPr id="50" name="TextBox 49"/>
          <p:cNvSpPr txBox="1"/>
          <p:nvPr/>
        </p:nvSpPr>
        <p:spPr>
          <a:xfrm>
            <a:off x="4315968" y="5422392"/>
            <a:ext cx="3456432" cy="347472"/>
          </a:xfrm>
          <a:prstGeom prst="rect">
            <a:avLst/>
          </a:prstGeom>
          <a:noFill/>
        </p:spPr>
        <p:txBody>
          <a:bodyPr wrap="square">
            <a:spAutoFit/>
          </a:bodyPr>
          <a:lstStyle/>
          <a:p>
            <a:pPr algn="l"/>
            <a:r>
              <a:rPr sz="850" b="0" i="0">
                <a:solidFill>
                  <a:srgbClr val="CCCCD8"/>
                </a:solidFill>
                <a:latin typeface="Calibri"/>
              </a:rPr>
              <a:t>Est. $14,000–$18,000 in federal credits over 3 years as QRE base grows. Dollar-for-dollar against tax liability.</a:t>
            </a:r>
          </a:p>
        </p:txBody>
      </p:sp>
      <p:sp>
        <p:nvSpPr>
          <p:cNvPr id="51" name="Rectangle 50"/>
          <p:cNvSpPr/>
          <p:nvPr/>
        </p:nvSpPr>
        <p:spPr>
          <a:xfrm>
            <a:off x="4224528" y="5852160"/>
            <a:ext cx="363931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15968" y="5897880"/>
            <a:ext cx="3456432" cy="219456"/>
          </a:xfrm>
          <a:prstGeom prst="rect">
            <a:avLst/>
          </a:prstGeom>
          <a:noFill/>
        </p:spPr>
        <p:txBody>
          <a:bodyPr wrap="square">
            <a:spAutoFit/>
          </a:bodyPr>
          <a:lstStyle/>
          <a:p>
            <a:pPr algn="l"/>
            <a:r>
              <a:rPr sz="900" b="1" i="0">
                <a:solidFill>
                  <a:srgbClr val="534AB7"/>
                </a:solidFill>
                <a:latin typeface="Calibri"/>
              </a:rPr>
              <a:t>Section 174A (2025)</a:t>
            </a:r>
          </a:p>
        </p:txBody>
      </p:sp>
      <p:sp>
        <p:nvSpPr>
          <p:cNvPr id="53" name="TextBox 52"/>
          <p:cNvSpPr txBox="1"/>
          <p:nvPr/>
        </p:nvSpPr>
        <p:spPr>
          <a:xfrm>
            <a:off x="4315968" y="6099048"/>
            <a:ext cx="3456432" cy="347472"/>
          </a:xfrm>
          <a:prstGeom prst="rect">
            <a:avLst/>
          </a:prstGeom>
          <a:noFill/>
        </p:spPr>
        <p:txBody>
          <a:bodyPr wrap="square">
            <a:spAutoFit/>
          </a:bodyPr>
          <a:lstStyle/>
          <a:p>
            <a:pPr algn="l"/>
            <a:r>
              <a:rPr sz="850" b="0" i="0">
                <a:solidFill>
                  <a:srgbClr val="CCCCD8"/>
                </a:solidFill>
                <a:latin typeface="Calibri"/>
              </a:rPr>
              <a:t>One Big Beautiful Bill Act restored immediate expensing of domestic R&amp;E costs — reversed the 5-year amortisation rule. Deduct in the year spent.</a:t>
            </a:r>
          </a:p>
        </p:txBody>
      </p:sp>
      <p:sp>
        <p:nvSpPr>
          <p:cNvPr id="54" name="Rectangle 53"/>
          <p:cNvSpPr/>
          <p:nvPr/>
        </p:nvSpPr>
        <p:spPr>
          <a:xfrm>
            <a:off x="4133087" y="6336792"/>
            <a:ext cx="3840480" cy="384048"/>
          </a:xfrm>
          <a:prstGeom prst="rect">
            <a:avLst/>
          </a:prstGeom>
          <a:solidFill>
            <a:srgbClr val="2A2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70248" y="6373368"/>
            <a:ext cx="3611880" cy="292608"/>
          </a:xfrm>
          <a:prstGeom prst="rect">
            <a:avLst/>
          </a:prstGeom>
          <a:noFill/>
        </p:spPr>
        <p:txBody>
          <a:bodyPr wrap="square">
            <a:spAutoFit/>
          </a:bodyPr>
          <a:lstStyle/>
          <a:p>
            <a:pPr algn="l"/>
            <a:r>
              <a:rPr sz="950" b="1" i="0">
                <a:solidFill>
                  <a:srgbClr val="FFFFFF"/>
                </a:solidFill>
                <a:latin typeface="Calibri"/>
              </a:rPr>
              <a:t>R&amp;D division = tax strategy + IP + future product</a:t>
            </a:r>
          </a:p>
        </p:txBody>
      </p:sp>
      <p:sp>
        <p:nvSpPr>
          <p:cNvPr id="56" name="Rectangle 55"/>
          <p:cNvSpPr/>
          <p:nvPr/>
        </p:nvSpPr>
        <p:spPr>
          <a:xfrm>
            <a:off x="8174736" y="804672"/>
            <a:ext cx="3749039" cy="54681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357616" y="896112"/>
            <a:ext cx="3474720" cy="347472"/>
          </a:xfrm>
          <a:prstGeom prst="rect">
            <a:avLst/>
          </a:prstGeom>
          <a:noFill/>
        </p:spPr>
        <p:txBody>
          <a:bodyPr wrap="square">
            <a:spAutoFit/>
          </a:bodyPr>
          <a:lstStyle/>
          <a:p>
            <a:pPr algn="l"/>
            <a:r>
              <a:rPr sz="1300" b="1" i="0">
                <a:solidFill>
                  <a:srgbClr val="FFFFFF"/>
                </a:solidFill>
                <a:latin typeface="Calibri"/>
              </a:rPr>
              <a:t>The Product Angle</a:t>
            </a:r>
          </a:p>
        </p:txBody>
      </p:sp>
      <p:sp>
        <p:nvSpPr>
          <p:cNvPr id="58" name="TextBox 57"/>
          <p:cNvSpPr txBox="1"/>
          <p:nvPr/>
        </p:nvSpPr>
        <p:spPr>
          <a:xfrm>
            <a:off x="8357616" y="1261872"/>
            <a:ext cx="3474720" cy="457200"/>
          </a:xfrm>
          <a:prstGeom prst="rect">
            <a:avLst/>
          </a:prstGeom>
          <a:noFill/>
        </p:spPr>
        <p:txBody>
          <a:bodyPr wrap="square">
            <a:spAutoFit/>
          </a:bodyPr>
          <a:lstStyle/>
          <a:p>
            <a:pPr algn="l"/>
            <a:r>
              <a:rPr sz="950" b="0" i="1">
                <a:solidFill>
                  <a:srgbClr val="CCCCD8"/>
                </a:solidFill>
                <a:latin typeface="Calibri"/>
              </a:rPr>
              <a:t>When does the internal system become
a sellable product?</a:t>
            </a:r>
          </a:p>
        </p:txBody>
      </p:sp>
      <p:sp>
        <p:nvSpPr>
          <p:cNvPr id="59" name="Rectangle 58"/>
          <p:cNvSpPr/>
          <p:nvPr/>
        </p:nvSpPr>
        <p:spPr>
          <a:xfrm>
            <a:off x="8266175" y="1792224"/>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357616" y="1837943"/>
            <a:ext cx="3364992" cy="219456"/>
          </a:xfrm>
          <a:prstGeom prst="rect">
            <a:avLst/>
          </a:prstGeom>
          <a:noFill/>
        </p:spPr>
        <p:txBody>
          <a:bodyPr wrap="square">
            <a:spAutoFit/>
          </a:bodyPr>
          <a:lstStyle/>
          <a:p>
            <a:pPr algn="l"/>
            <a:r>
              <a:rPr sz="900" b="1" i="0">
                <a:solidFill>
                  <a:srgbClr val="1D9E75"/>
                </a:solidFill>
                <a:latin typeface="Calibri"/>
              </a:rPr>
              <a:t>The market</a:t>
            </a:r>
          </a:p>
        </p:txBody>
      </p:sp>
      <p:sp>
        <p:nvSpPr>
          <p:cNvPr id="61" name="TextBox 60"/>
          <p:cNvSpPr txBox="1"/>
          <p:nvPr/>
        </p:nvSpPr>
        <p:spPr>
          <a:xfrm>
            <a:off x="8357616" y="2039112"/>
            <a:ext cx="3364992" cy="347472"/>
          </a:xfrm>
          <a:prstGeom prst="rect">
            <a:avLst/>
          </a:prstGeom>
          <a:noFill/>
        </p:spPr>
        <p:txBody>
          <a:bodyPr wrap="square">
            <a:spAutoFit/>
          </a:bodyPr>
          <a:lstStyle/>
          <a:p>
            <a:pPr algn="l"/>
            <a:r>
              <a:rPr sz="850" b="0" i="0">
                <a:solidFill>
                  <a:srgbClr val="CCCCD8"/>
                </a:solidFill>
                <a:latin typeface="Calibri"/>
              </a:rPr>
              <a:t>Every property management company in Washington — and nationally — has the exact same problem. No purpose-built AI stack exists for this industry.</a:t>
            </a:r>
          </a:p>
        </p:txBody>
      </p:sp>
      <p:sp>
        <p:nvSpPr>
          <p:cNvPr id="62" name="Rectangle 61"/>
          <p:cNvSpPr/>
          <p:nvPr/>
        </p:nvSpPr>
        <p:spPr>
          <a:xfrm>
            <a:off x="8266175" y="2468880"/>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57616" y="2514600"/>
            <a:ext cx="3364992" cy="219456"/>
          </a:xfrm>
          <a:prstGeom prst="rect">
            <a:avLst/>
          </a:prstGeom>
          <a:noFill/>
        </p:spPr>
        <p:txBody>
          <a:bodyPr wrap="square">
            <a:spAutoFit/>
          </a:bodyPr>
          <a:lstStyle/>
          <a:p>
            <a:pPr algn="l"/>
            <a:r>
              <a:rPr sz="900" b="1" i="0">
                <a:solidFill>
                  <a:srgbClr val="1D9E75"/>
                </a:solidFill>
                <a:latin typeface="Calibri"/>
              </a:rPr>
              <a:t>What gets sold</a:t>
            </a:r>
          </a:p>
        </p:txBody>
      </p:sp>
      <p:sp>
        <p:nvSpPr>
          <p:cNvPr id="64" name="TextBox 63"/>
          <p:cNvSpPr txBox="1"/>
          <p:nvPr/>
        </p:nvSpPr>
        <p:spPr>
          <a:xfrm>
            <a:off x="8357616" y="2715768"/>
            <a:ext cx="3364992" cy="347472"/>
          </a:xfrm>
          <a:prstGeom prst="rect">
            <a:avLst/>
          </a:prstGeom>
          <a:noFill/>
        </p:spPr>
        <p:txBody>
          <a:bodyPr wrap="square">
            <a:spAutoFit/>
          </a:bodyPr>
          <a:lstStyle/>
          <a:p>
            <a:pPr algn="l"/>
            <a:r>
              <a:rPr sz="850" b="0" i="0">
                <a:solidFill>
                  <a:srgbClr val="CCCCD8"/>
                </a:solidFill>
                <a:latin typeface="Calibri"/>
              </a:rPr>
              <a:t>The Joseph Group licenses its n8n workflows, HubSpot configuration, AI classification logic, and Supabase schema as a SaaS product to other property managers.</a:t>
            </a:r>
          </a:p>
        </p:txBody>
      </p:sp>
      <p:sp>
        <p:nvSpPr>
          <p:cNvPr id="65" name="Rectangle 64"/>
          <p:cNvSpPr/>
          <p:nvPr/>
        </p:nvSpPr>
        <p:spPr>
          <a:xfrm>
            <a:off x="8266175" y="3145536"/>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357616" y="3191256"/>
            <a:ext cx="3364992" cy="219456"/>
          </a:xfrm>
          <a:prstGeom prst="rect">
            <a:avLst/>
          </a:prstGeom>
          <a:noFill/>
        </p:spPr>
        <p:txBody>
          <a:bodyPr wrap="square">
            <a:spAutoFit/>
          </a:bodyPr>
          <a:lstStyle/>
          <a:p>
            <a:pPr algn="l"/>
            <a:r>
              <a:rPr sz="900" b="1" i="0">
                <a:solidFill>
                  <a:srgbClr val="1D9E75"/>
                </a:solidFill>
                <a:latin typeface="Calibri"/>
              </a:rPr>
              <a:t>Revenue model</a:t>
            </a:r>
          </a:p>
        </p:txBody>
      </p:sp>
      <p:sp>
        <p:nvSpPr>
          <p:cNvPr id="67" name="TextBox 66"/>
          <p:cNvSpPr txBox="1"/>
          <p:nvPr/>
        </p:nvSpPr>
        <p:spPr>
          <a:xfrm>
            <a:off x="8357616" y="3392424"/>
            <a:ext cx="3364992" cy="347472"/>
          </a:xfrm>
          <a:prstGeom prst="rect">
            <a:avLst/>
          </a:prstGeom>
          <a:noFill/>
        </p:spPr>
        <p:txBody>
          <a:bodyPr wrap="square">
            <a:spAutoFit/>
          </a:bodyPr>
          <a:lstStyle/>
          <a:p>
            <a:pPr algn="l"/>
            <a:r>
              <a:rPr sz="850" b="0" i="0">
                <a:solidFill>
                  <a:srgbClr val="CCCCD8"/>
                </a:solidFill>
                <a:latin typeface="Calibri"/>
              </a:rPr>
              <a:t>$100–$200/mo per customer. At 50 customers: $60K–$120K in recurring annual revenue stacked on top of the core property management business.</a:t>
            </a:r>
          </a:p>
        </p:txBody>
      </p:sp>
      <p:sp>
        <p:nvSpPr>
          <p:cNvPr id="68" name="Rectangle 67"/>
          <p:cNvSpPr/>
          <p:nvPr/>
        </p:nvSpPr>
        <p:spPr>
          <a:xfrm>
            <a:off x="8266175" y="3822192"/>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357616" y="3867912"/>
            <a:ext cx="3364992" cy="219456"/>
          </a:xfrm>
          <a:prstGeom prst="rect">
            <a:avLst/>
          </a:prstGeom>
          <a:noFill/>
        </p:spPr>
        <p:txBody>
          <a:bodyPr wrap="square">
            <a:spAutoFit/>
          </a:bodyPr>
          <a:lstStyle/>
          <a:p>
            <a:pPr algn="l"/>
            <a:r>
              <a:rPr sz="900" b="1" i="0">
                <a:solidFill>
                  <a:srgbClr val="1D9E75"/>
                </a:solidFill>
                <a:latin typeface="Calibri"/>
              </a:rPr>
              <a:t>Timeline</a:t>
            </a:r>
          </a:p>
        </p:txBody>
      </p:sp>
      <p:sp>
        <p:nvSpPr>
          <p:cNvPr id="70" name="TextBox 69"/>
          <p:cNvSpPr txBox="1"/>
          <p:nvPr/>
        </p:nvSpPr>
        <p:spPr>
          <a:xfrm>
            <a:off x="8357616" y="4069080"/>
            <a:ext cx="3364992" cy="347472"/>
          </a:xfrm>
          <a:prstGeom prst="rect">
            <a:avLst/>
          </a:prstGeom>
          <a:noFill/>
        </p:spPr>
        <p:txBody>
          <a:bodyPr wrap="square">
            <a:spAutoFit/>
          </a:bodyPr>
          <a:lstStyle/>
          <a:p>
            <a:pPr algn="l"/>
            <a:r>
              <a:rPr sz="850" b="0" i="0">
                <a:solidFill>
                  <a:srgbClr val="CCCCD8"/>
                </a:solidFill>
                <a:latin typeface="Calibri"/>
              </a:rPr>
              <a:t>Internal build: 90 days. Productisation: Month 6–9. First paying external customer: Month 12. R&amp;D credits partially fund the entire build.</a:t>
            </a:r>
          </a:p>
        </p:txBody>
      </p:sp>
      <p:sp>
        <p:nvSpPr>
          <p:cNvPr id="71" name="Rectangle 70"/>
          <p:cNvSpPr/>
          <p:nvPr/>
        </p:nvSpPr>
        <p:spPr>
          <a:xfrm>
            <a:off x="8266175" y="4498848"/>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357616" y="4544568"/>
            <a:ext cx="3364992" cy="219456"/>
          </a:xfrm>
          <a:prstGeom prst="rect">
            <a:avLst/>
          </a:prstGeom>
          <a:noFill/>
        </p:spPr>
        <p:txBody>
          <a:bodyPr wrap="square">
            <a:spAutoFit/>
          </a:bodyPr>
          <a:lstStyle/>
          <a:p>
            <a:pPr algn="l"/>
            <a:r>
              <a:rPr sz="900" b="1" i="0">
                <a:solidFill>
                  <a:srgbClr val="1D9E75"/>
                </a:solidFill>
                <a:latin typeface="Calibri"/>
              </a:rPr>
              <a:t>Michael's role</a:t>
            </a:r>
          </a:p>
        </p:txBody>
      </p:sp>
      <p:sp>
        <p:nvSpPr>
          <p:cNvPr id="73" name="TextBox 72"/>
          <p:cNvSpPr txBox="1"/>
          <p:nvPr/>
        </p:nvSpPr>
        <p:spPr>
          <a:xfrm>
            <a:off x="8357616" y="4745736"/>
            <a:ext cx="3364992" cy="347472"/>
          </a:xfrm>
          <a:prstGeom prst="rect">
            <a:avLst/>
          </a:prstGeom>
          <a:noFill/>
        </p:spPr>
        <p:txBody>
          <a:bodyPr wrap="square">
            <a:spAutoFit/>
          </a:bodyPr>
          <a:lstStyle/>
          <a:p>
            <a:pPr algn="l"/>
            <a:r>
              <a:rPr sz="850" b="0" i="0">
                <a:solidFill>
                  <a:srgbClr val="CCCCD8"/>
                </a:solidFill>
                <a:latin typeface="Calibri"/>
              </a:rPr>
              <a:t>Not just an operations hire. Co-architect of a software product built on The Joseph Group's operational needs, funded by R&amp;D credits, owned outright.</a:t>
            </a:r>
          </a:p>
        </p:txBody>
      </p:sp>
      <p:sp>
        <p:nvSpPr>
          <p:cNvPr id="74" name="Rectangle 73"/>
          <p:cNvSpPr/>
          <p:nvPr/>
        </p:nvSpPr>
        <p:spPr>
          <a:xfrm>
            <a:off x="8266175" y="5175504"/>
            <a:ext cx="3547872" cy="62179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357616" y="5221224"/>
            <a:ext cx="3364992" cy="219456"/>
          </a:xfrm>
          <a:prstGeom prst="rect">
            <a:avLst/>
          </a:prstGeom>
          <a:noFill/>
        </p:spPr>
        <p:txBody>
          <a:bodyPr wrap="square">
            <a:spAutoFit/>
          </a:bodyPr>
          <a:lstStyle/>
          <a:p>
            <a:pPr algn="l"/>
            <a:r>
              <a:rPr sz="900" b="1" i="0">
                <a:solidFill>
                  <a:srgbClr val="1D9E75"/>
                </a:solidFill>
                <a:latin typeface="Calibri"/>
              </a:rPr>
              <a:t>Why this matters now</a:t>
            </a:r>
          </a:p>
        </p:txBody>
      </p:sp>
      <p:sp>
        <p:nvSpPr>
          <p:cNvPr id="76" name="TextBox 75"/>
          <p:cNvSpPr txBox="1"/>
          <p:nvPr/>
        </p:nvSpPr>
        <p:spPr>
          <a:xfrm>
            <a:off x="8357616" y="5422392"/>
            <a:ext cx="3364992" cy="347472"/>
          </a:xfrm>
          <a:prstGeom prst="rect">
            <a:avLst/>
          </a:prstGeom>
          <a:noFill/>
        </p:spPr>
        <p:txBody>
          <a:bodyPr wrap="square">
            <a:spAutoFit/>
          </a:bodyPr>
          <a:lstStyle/>
          <a:p>
            <a:pPr algn="l"/>
            <a:r>
              <a:rPr sz="850" b="0" i="0">
                <a:solidFill>
                  <a:srgbClr val="CCCCD8"/>
                </a:solidFill>
                <a:latin typeface="Calibri"/>
              </a:rPr>
              <a:t>The build cost is ~$135/mo in infrastructure. Every month of delay is a month a competitor could file the same patents and own the same market position first.</a:t>
            </a:r>
          </a:p>
        </p:txBody>
      </p:sp>
      <p:sp>
        <p:nvSpPr>
          <p:cNvPr id="77" name="Rectangle 76"/>
          <p:cNvSpPr/>
          <p:nvPr/>
        </p:nvSpPr>
        <p:spPr>
          <a:xfrm>
            <a:off x="8174736" y="6336792"/>
            <a:ext cx="3749039" cy="384048"/>
          </a:xfrm>
          <a:prstGeom prst="rect">
            <a:avLst/>
          </a:prstGeom>
          <a:solidFill>
            <a:srgbClr val="126B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266175" y="6373368"/>
            <a:ext cx="3566160" cy="292608"/>
          </a:xfrm>
          <a:prstGeom prst="rect">
            <a:avLst/>
          </a:prstGeom>
          <a:noFill/>
        </p:spPr>
        <p:txBody>
          <a:bodyPr wrap="square">
            <a:spAutoFit/>
          </a:bodyPr>
          <a:lstStyle/>
          <a:p>
            <a:pPr algn="l"/>
            <a:r>
              <a:rPr sz="950" b="1" i="0">
                <a:solidFill>
                  <a:srgbClr val="FFFFFF"/>
                </a:solidFill>
                <a:latin typeface="Calibri"/>
              </a:rPr>
              <a:t>Build cost → R&amp;D credit → internal use → sell externally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All Three Tiers — Head-to-Head Comparison</a:t>
            </a:r>
          </a:p>
        </p:txBody>
      </p:sp>
      <p:sp>
        <p:nvSpPr>
          <p:cNvPr id="4" name="Rectangle 3"/>
          <p:cNvSpPr/>
          <p:nvPr/>
        </p:nvSpPr>
        <p:spPr>
          <a:xfrm>
            <a:off x="256032" y="804672"/>
            <a:ext cx="2423160" cy="438912"/>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47472" y="859536"/>
            <a:ext cx="2276856" cy="310896"/>
          </a:xfrm>
          <a:prstGeom prst="rect">
            <a:avLst/>
          </a:prstGeom>
          <a:noFill/>
        </p:spPr>
        <p:txBody>
          <a:bodyPr wrap="square">
            <a:spAutoFit/>
          </a:bodyPr>
          <a:lstStyle/>
          <a:p>
            <a:pPr algn="l"/>
            <a:r>
              <a:rPr sz="1100" b="1" i="0">
                <a:solidFill>
                  <a:srgbClr val="1A1A2E"/>
                </a:solidFill>
                <a:latin typeface="Calibri"/>
              </a:rPr>
              <a:t/>
            </a:r>
          </a:p>
        </p:txBody>
      </p:sp>
      <p:sp>
        <p:nvSpPr>
          <p:cNvPr id="6" name="Rectangle 5"/>
          <p:cNvSpPr/>
          <p:nvPr/>
        </p:nvSpPr>
        <p:spPr>
          <a:xfrm>
            <a:off x="2743200" y="804672"/>
            <a:ext cx="2926080" cy="438912"/>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834640" y="859536"/>
            <a:ext cx="2779776" cy="310896"/>
          </a:xfrm>
          <a:prstGeom prst="rect">
            <a:avLst/>
          </a:prstGeom>
          <a:noFill/>
        </p:spPr>
        <p:txBody>
          <a:bodyPr wrap="square">
            <a:spAutoFit/>
          </a:bodyPr>
          <a:lstStyle/>
          <a:p>
            <a:pPr algn="l"/>
            <a:r>
              <a:rPr sz="1100" b="1" i="0">
                <a:solidFill>
                  <a:srgbClr val="FFFFFF"/>
                </a:solidFill>
                <a:latin typeface="Calibri"/>
              </a:rPr>
              <a:t>Tier 1 — Lean</a:t>
            </a:r>
          </a:p>
        </p:txBody>
      </p:sp>
      <p:sp>
        <p:nvSpPr>
          <p:cNvPr id="8" name="Rectangle 7"/>
          <p:cNvSpPr/>
          <p:nvPr/>
        </p:nvSpPr>
        <p:spPr>
          <a:xfrm>
            <a:off x="5733288" y="804672"/>
            <a:ext cx="2926080" cy="438912"/>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24727" y="859536"/>
            <a:ext cx="2779776" cy="310896"/>
          </a:xfrm>
          <a:prstGeom prst="rect">
            <a:avLst/>
          </a:prstGeom>
          <a:noFill/>
        </p:spPr>
        <p:txBody>
          <a:bodyPr wrap="square">
            <a:spAutoFit/>
          </a:bodyPr>
          <a:lstStyle/>
          <a:p>
            <a:pPr algn="l"/>
            <a:r>
              <a:rPr sz="1100" b="1" i="0">
                <a:solidFill>
                  <a:srgbClr val="FFFFFF"/>
                </a:solidFill>
                <a:latin typeface="Calibri"/>
              </a:rPr>
              <a:t>Tier 2 — Enterprise</a:t>
            </a:r>
          </a:p>
        </p:txBody>
      </p:sp>
      <p:sp>
        <p:nvSpPr>
          <p:cNvPr id="10" name="Rectangle 9"/>
          <p:cNvSpPr/>
          <p:nvPr/>
        </p:nvSpPr>
        <p:spPr>
          <a:xfrm>
            <a:off x="8723376" y="804672"/>
            <a:ext cx="2926080" cy="438912"/>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14815" y="859536"/>
            <a:ext cx="2779776" cy="310896"/>
          </a:xfrm>
          <a:prstGeom prst="rect">
            <a:avLst/>
          </a:prstGeom>
          <a:noFill/>
        </p:spPr>
        <p:txBody>
          <a:bodyPr wrap="square">
            <a:spAutoFit/>
          </a:bodyPr>
          <a:lstStyle/>
          <a:p>
            <a:pPr algn="l"/>
            <a:r>
              <a:rPr sz="1100" b="1" i="0">
                <a:solidFill>
                  <a:srgbClr val="FFFFFF"/>
                </a:solidFill>
                <a:latin typeface="Calibri"/>
              </a:rPr>
              <a:t>Tier 3 — Build</a:t>
            </a:r>
          </a:p>
        </p:txBody>
      </p:sp>
      <p:sp>
        <p:nvSpPr>
          <p:cNvPr id="12" name="Rectangle 11"/>
          <p:cNvSpPr/>
          <p:nvPr/>
        </p:nvSpPr>
        <p:spPr>
          <a:xfrm>
            <a:off x="256032" y="1316736"/>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 y="1389888"/>
            <a:ext cx="2276856" cy="237744"/>
          </a:xfrm>
          <a:prstGeom prst="rect">
            <a:avLst/>
          </a:prstGeom>
          <a:noFill/>
        </p:spPr>
        <p:txBody>
          <a:bodyPr wrap="square">
            <a:spAutoFit/>
          </a:bodyPr>
          <a:lstStyle/>
          <a:p>
            <a:pPr algn="l"/>
            <a:r>
              <a:rPr sz="950" b="1" i="0">
                <a:solidFill>
                  <a:srgbClr val="666677"/>
                </a:solidFill>
                <a:latin typeface="Calibri"/>
              </a:rPr>
              <a:t>Monthly cost (3 reps)</a:t>
            </a:r>
          </a:p>
        </p:txBody>
      </p:sp>
      <p:sp>
        <p:nvSpPr>
          <p:cNvPr id="14" name="Rectangle 13"/>
          <p:cNvSpPr/>
          <p:nvPr/>
        </p:nvSpPr>
        <p:spPr>
          <a:xfrm>
            <a:off x="2743200" y="1316736"/>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34640" y="1389888"/>
            <a:ext cx="2779776" cy="237744"/>
          </a:xfrm>
          <a:prstGeom prst="rect">
            <a:avLst/>
          </a:prstGeom>
          <a:noFill/>
        </p:spPr>
        <p:txBody>
          <a:bodyPr wrap="square">
            <a:spAutoFit/>
          </a:bodyPr>
          <a:lstStyle/>
          <a:p>
            <a:pPr algn="l"/>
            <a:r>
              <a:rPr sz="950" b="0" i="0">
                <a:solidFill>
                  <a:srgbClr val="1A1A2E"/>
                </a:solidFill>
                <a:latin typeface="Calibri"/>
              </a:rPr>
              <a:t>$128/mo</a:t>
            </a:r>
          </a:p>
        </p:txBody>
      </p:sp>
      <p:sp>
        <p:nvSpPr>
          <p:cNvPr id="16" name="Rectangle 15"/>
          <p:cNvSpPr/>
          <p:nvPr/>
        </p:nvSpPr>
        <p:spPr>
          <a:xfrm>
            <a:off x="5733288" y="1316736"/>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24727" y="1389888"/>
            <a:ext cx="2779776" cy="237744"/>
          </a:xfrm>
          <a:prstGeom prst="rect">
            <a:avLst/>
          </a:prstGeom>
          <a:noFill/>
        </p:spPr>
        <p:txBody>
          <a:bodyPr wrap="square">
            <a:spAutoFit/>
          </a:bodyPr>
          <a:lstStyle/>
          <a:p>
            <a:pPr algn="l"/>
            <a:r>
              <a:rPr sz="950" b="0" i="0">
                <a:solidFill>
                  <a:srgbClr val="1A1A2E"/>
                </a:solidFill>
                <a:latin typeface="Calibri"/>
              </a:rPr>
              <a:t>$540/mo</a:t>
            </a:r>
          </a:p>
        </p:txBody>
      </p:sp>
      <p:sp>
        <p:nvSpPr>
          <p:cNvPr id="18" name="Rectangle 17"/>
          <p:cNvSpPr/>
          <p:nvPr/>
        </p:nvSpPr>
        <p:spPr>
          <a:xfrm>
            <a:off x="8723376" y="1316736"/>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814815" y="1389888"/>
            <a:ext cx="2779776" cy="237744"/>
          </a:xfrm>
          <a:prstGeom prst="rect">
            <a:avLst/>
          </a:prstGeom>
          <a:noFill/>
        </p:spPr>
        <p:txBody>
          <a:bodyPr wrap="square">
            <a:spAutoFit/>
          </a:bodyPr>
          <a:lstStyle/>
          <a:p>
            <a:pPr algn="l"/>
            <a:r>
              <a:rPr sz="950" b="0" i="0">
                <a:solidFill>
                  <a:srgbClr val="1A1A2E"/>
                </a:solidFill>
                <a:latin typeface="Calibri"/>
              </a:rPr>
              <a:t>$135/mo flat</a:t>
            </a:r>
          </a:p>
        </p:txBody>
      </p:sp>
      <p:sp>
        <p:nvSpPr>
          <p:cNvPr id="20" name="Rectangle 19"/>
          <p:cNvSpPr/>
          <p:nvPr/>
        </p:nvSpPr>
        <p:spPr>
          <a:xfrm>
            <a:off x="256032" y="1700784"/>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 y="1773936"/>
            <a:ext cx="2276856" cy="237744"/>
          </a:xfrm>
          <a:prstGeom prst="rect">
            <a:avLst/>
          </a:prstGeom>
          <a:noFill/>
        </p:spPr>
        <p:txBody>
          <a:bodyPr wrap="square">
            <a:spAutoFit/>
          </a:bodyPr>
          <a:lstStyle/>
          <a:p>
            <a:pPr algn="l"/>
            <a:r>
              <a:rPr sz="950" b="1" i="0">
                <a:solidFill>
                  <a:srgbClr val="666677"/>
                </a:solidFill>
                <a:latin typeface="Calibri"/>
              </a:rPr>
              <a:t>Scales with team?</a:t>
            </a:r>
          </a:p>
        </p:txBody>
      </p:sp>
      <p:sp>
        <p:nvSpPr>
          <p:cNvPr id="22" name="Rectangle 21"/>
          <p:cNvSpPr/>
          <p:nvPr/>
        </p:nvSpPr>
        <p:spPr>
          <a:xfrm>
            <a:off x="2743200" y="170078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834640" y="1773936"/>
            <a:ext cx="2779776" cy="237744"/>
          </a:xfrm>
          <a:prstGeom prst="rect">
            <a:avLst/>
          </a:prstGeom>
          <a:noFill/>
        </p:spPr>
        <p:txBody>
          <a:bodyPr wrap="square">
            <a:spAutoFit/>
          </a:bodyPr>
          <a:lstStyle/>
          <a:p>
            <a:pPr algn="l"/>
            <a:r>
              <a:rPr sz="950" b="0" i="0">
                <a:solidFill>
                  <a:srgbClr val="1A1A2E"/>
                </a:solidFill>
                <a:latin typeface="Calibri"/>
              </a:rPr>
              <a:t>Yes — rises per rep</a:t>
            </a:r>
          </a:p>
        </p:txBody>
      </p:sp>
      <p:sp>
        <p:nvSpPr>
          <p:cNvPr id="24" name="Rectangle 23"/>
          <p:cNvSpPr/>
          <p:nvPr/>
        </p:nvSpPr>
        <p:spPr>
          <a:xfrm>
            <a:off x="5733288" y="170078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824727" y="1773936"/>
            <a:ext cx="2779776" cy="237744"/>
          </a:xfrm>
          <a:prstGeom prst="rect">
            <a:avLst/>
          </a:prstGeom>
          <a:noFill/>
        </p:spPr>
        <p:txBody>
          <a:bodyPr wrap="square">
            <a:spAutoFit/>
          </a:bodyPr>
          <a:lstStyle/>
          <a:p>
            <a:pPr algn="l"/>
            <a:r>
              <a:rPr sz="950" b="0" i="0">
                <a:solidFill>
                  <a:srgbClr val="1A1A2E"/>
                </a:solidFill>
                <a:latin typeface="Calibri"/>
              </a:rPr>
              <a:t>Yes — rises per rep</a:t>
            </a:r>
          </a:p>
        </p:txBody>
      </p:sp>
      <p:sp>
        <p:nvSpPr>
          <p:cNvPr id="26" name="Rectangle 25"/>
          <p:cNvSpPr/>
          <p:nvPr/>
        </p:nvSpPr>
        <p:spPr>
          <a:xfrm>
            <a:off x="8723376" y="170078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14815" y="1773936"/>
            <a:ext cx="2779776" cy="237744"/>
          </a:xfrm>
          <a:prstGeom prst="rect">
            <a:avLst/>
          </a:prstGeom>
          <a:noFill/>
        </p:spPr>
        <p:txBody>
          <a:bodyPr wrap="square">
            <a:spAutoFit/>
          </a:bodyPr>
          <a:lstStyle/>
          <a:p>
            <a:pPr algn="l"/>
            <a:r>
              <a:rPr sz="950" b="1" i="0">
                <a:solidFill>
                  <a:srgbClr val="1D9E75"/>
                </a:solidFill>
                <a:latin typeface="Calibri"/>
              </a:rPr>
              <a:t>No — flat forever</a:t>
            </a:r>
          </a:p>
        </p:txBody>
      </p:sp>
      <p:sp>
        <p:nvSpPr>
          <p:cNvPr id="28" name="Rectangle 27"/>
          <p:cNvSpPr/>
          <p:nvPr/>
        </p:nvSpPr>
        <p:spPr>
          <a:xfrm>
            <a:off x="256032" y="2084831"/>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47472" y="2157984"/>
            <a:ext cx="2276856" cy="237744"/>
          </a:xfrm>
          <a:prstGeom prst="rect">
            <a:avLst/>
          </a:prstGeom>
          <a:noFill/>
        </p:spPr>
        <p:txBody>
          <a:bodyPr wrap="square">
            <a:spAutoFit/>
          </a:bodyPr>
          <a:lstStyle/>
          <a:p>
            <a:pPr algn="l"/>
            <a:r>
              <a:rPr sz="950" b="1" i="0">
                <a:solidFill>
                  <a:srgbClr val="666677"/>
                </a:solidFill>
                <a:latin typeface="Calibri"/>
              </a:rPr>
              <a:t>Time to first value</a:t>
            </a:r>
          </a:p>
        </p:txBody>
      </p:sp>
      <p:sp>
        <p:nvSpPr>
          <p:cNvPr id="30" name="Rectangle 29"/>
          <p:cNvSpPr/>
          <p:nvPr/>
        </p:nvSpPr>
        <p:spPr>
          <a:xfrm>
            <a:off x="2743200" y="2084831"/>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2834640" y="2157984"/>
            <a:ext cx="2779776" cy="237744"/>
          </a:xfrm>
          <a:prstGeom prst="rect">
            <a:avLst/>
          </a:prstGeom>
          <a:noFill/>
        </p:spPr>
        <p:txBody>
          <a:bodyPr wrap="square">
            <a:spAutoFit/>
          </a:bodyPr>
          <a:lstStyle/>
          <a:p>
            <a:pPr algn="l"/>
            <a:r>
              <a:rPr sz="950" b="0" i="0">
                <a:solidFill>
                  <a:srgbClr val="1A1A2E"/>
                </a:solidFill>
                <a:latin typeface="Calibri"/>
              </a:rPr>
              <a:t>1–2 days</a:t>
            </a:r>
          </a:p>
        </p:txBody>
      </p:sp>
      <p:sp>
        <p:nvSpPr>
          <p:cNvPr id="32" name="Rectangle 31"/>
          <p:cNvSpPr/>
          <p:nvPr/>
        </p:nvSpPr>
        <p:spPr>
          <a:xfrm>
            <a:off x="5733288" y="2084831"/>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824727" y="2157984"/>
            <a:ext cx="2779776" cy="237744"/>
          </a:xfrm>
          <a:prstGeom prst="rect">
            <a:avLst/>
          </a:prstGeom>
          <a:noFill/>
        </p:spPr>
        <p:txBody>
          <a:bodyPr wrap="square">
            <a:spAutoFit/>
          </a:bodyPr>
          <a:lstStyle/>
          <a:p>
            <a:pPr algn="l"/>
            <a:r>
              <a:rPr sz="950" b="0" i="0">
                <a:solidFill>
                  <a:srgbClr val="1A1A2E"/>
                </a:solidFill>
                <a:latin typeface="Calibri"/>
              </a:rPr>
              <a:t>2–4 weeks</a:t>
            </a:r>
          </a:p>
        </p:txBody>
      </p:sp>
      <p:sp>
        <p:nvSpPr>
          <p:cNvPr id="34" name="Rectangle 33"/>
          <p:cNvSpPr/>
          <p:nvPr/>
        </p:nvSpPr>
        <p:spPr>
          <a:xfrm>
            <a:off x="8723376" y="2084831"/>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814815" y="2157984"/>
            <a:ext cx="2779776" cy="237744"/>
          </a:xfrm>
          <a:prstGeom prst="rect">
            <a:avLst/>
          </a:prstGeom>
          <a:noFill/>
        </p:spPr>
        <p:txBody>
          <a:bodyPr wrap="square">
            <a:spAutoFit/>
          </a:bodyPr>
          <a:lstStyle/>
          <a:p>
            <a:pPr algn="l"/>
            <a:r>
              <a:rPr sz="950" b="0" i="0">
                <a:solidFill>
                  <a:srgbClr val="1A1A2E"/>
                </a:solidFill>
                <a:latin typeface="Calibri"/>
              </a:rPr>
              <a:t>90-day build</a:t>
            </a:r>
          </a:p>
        </p:txBody>
      </p:sp>
      <p:sp>
        <p:nvSpPr>
          <p:cNvPr id="36" name="Rectangle 35"/>
          <p:cNvSpPr/>
          <p:nvPr/>
        </p:nvSpPr>
        <p:spPr>
          <a:xfrm>
            <a:off x="256032" y="2468879"/>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47472" y="2542032"/>
            <a:ext cx="2276856" cy="237744"/>
          </a:xfrm>
          <a:prstGeom prst="rect">
            <a:avLst/>
          </a:prstGeom>
          <a:noFill/>
        </p:spPr>
        <p:txBody>
          <a:bodyPr wrap="square">
            <a:spAutoFit/>
          </a:bodyPr>
          <a:lstStyle/>
          <a:p>
            <a:pPr algn="l"/>
            <a:r>
              <a:rPr sz="950" b="1" i="0">
                <a:solidFill>
                  <a:srgbClr val="666677"/>
                </a:solidFill>
                <a:latin typeface="Calibri"/>
              </a:rPr>
              <a:t>IP ownership</a:t>
            </a:r>
          </a:p>
        </p:txBody>
      </p:sp>
      <p:sp>
        <p:nvSpPr>
          <p:cNvPr id="38" name="Rectangle 37"/>
          <p:cNvSpPr/>
          <p:nvPr/>
        </p:nvSpPr>
        <p:spPr>
          <a:xfrm>
            <a:off x="2743200" y="2468879"/>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834640" y="2542032"/>
            <a:ext cx="2779776" cy="237744"/>
          </a:xfrm>
          <a:prstGeom prst="rect">
            <a:avLst/>
          </a:prstGeom>
          <a:noFill/>
        </p:spPr>
        <p:txBody>
          <a:bodyPr wrap="square">
            <a:spAutoFit/>
          </a:bodyPr>
          <a:lstStyle/>
          <a:p>
            <a:pPr algn="l"/>
            <a:r>
              <a:rPr sz="950" b="1" i="0">
                <a:solidFill>
                  <a:srgbClr val="A32D2D"/>
                </a:solidFill>
                <a:latin typeface="Calibri"/>
              </a:rPr>
              <a:t>None — renting tools</a:t>
            </a:r>
          </a:p>
        </p:txBody>
      </p:sp>
      <p:sp>
        <p:nvSpPr>
          <p:cNvPr id="40" name="Rectangle 39"/>
          <p:cNvSpPr/>
          <p:nvPr/>
        </p:nvSpPr>
        <p:spPr>
          <a:xfrm>
            <a:off x="5733288" y="2468879"/>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24727" y="2542032"/>
            <a:ext cx="2779776" cy="237744"/>
          </a:xfrm>
          <a:prstGeom prst="rect">
            <a:avLst/>
          </a:prstGeom>
          <a:noFill/>
        </p:spPr>
        <p:txBody>
          <a:bodyPr wrap="square">
            <a:spAutoFit/>
          </a:bodyPr>
          <a:lstStyle/>
          <a:p>
            <a:pPr algn="l"/>
            <a:r>
              <a:rPr sz="950" b="1" i="0">
                <a:solidFill>
                  <a:srgbClr val="A32D2D"/>
                </a:solidFill>
                <a:latin typeface="Calibri"/>
              </a:rPr>
              <a:t>None — renting tools</a:t>
            </a:r>
          </a:p>
        </p:txBody>
      </p:sp>
      <p:sp>
        <p:nvSpPr>
          <p:cNvPr id="42" name="Rectangle 41"/>
          <p:cNvSpPr/>
          <p:nvPr/>
        </p:nvSpPr>
        <p:spPr>
          <a:xfrm>
            <a:off x="8723376" y="2468879"/>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814815" y="2542032"/>
            <a:ext cx="2779776" cy="237744"/>
          </a:xfrm>
          <a:prstGeom prst="rect">
            <a:avLst/>
          </a:prstGeom>
          <a:noFill/>
        </p:spPr>
        <p:txBody>
          <a:bodyPr wrap="square">
            <a:spAutoFit/>
          </a:bodyPr>
          <a:lstStyle/>
          <a:p>
            <a:pPr algn="l"/>
            <a:r>
              <a:rPr sz="950" b="1" i="0">
                <a:solidFill>
                  <a:srgbClr val="1D9E75"/>
                </a:solidFill>
                <a:latin typeface="Calibri"/>
              </a:rPr>
              <a:t>100% owned</a:t>
            </a:r>
          </a:p>
        </p:txBody>
      </p:sp>
      <p:sp>
        <p:nvSpPr>
          <p:cNvPr id="44" name="Rectangle 43"/>
          <p:cNvSpPr/>
          <p:nvPr/>
        </p:nvSpPr>
        <p:spPr>
          <a:xfrm>
            <a:off x="256032" y="2852927"/>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347472" y="2926079"/>
            <a:ext cx="2276856" cy="237744"/>
          </a:xfrm>
          <a:prstGeom prst="rect">
            <a:avLst/>
          </a:prstGeom>
          <a:noFill/>
        </p:spPr>
        <p:txBody>
          <a:bodyPr wrap="square">
            <a:spAutoFit/>
          </a:bodyPr>
          <a:lstStyle/>
          <a:p>
            <a:pPr algn="l"/>
            <a:r>
              <a:rPr sz="950" b="1" i="0">
                <a:solidFill>
                  <a:srgbClr val="666677"/>
                </a:solidFill>
                <a:latin typeface="Calibri"/>
              </a:rPr>
              <a:t>Competitor can copy?</a:t>
            </a:r>
          </a:p>
        </p:txBody>
      </p:sp>
      <p:sp>
        <p:nvSpPr>
          <p:cNvPr id="46" name="Rectangle 45"/>
          <p:cNvSpPr/>
          <p:nvPr/>
        </p:nvSpPr>
        <p:spPr>
          <a:xfrm>
            <a:off x="2743200" y="2852927"/>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834640" y="2926079"/>
            <a:ext cx="2779776" cy="237744"/>
          </a:xfrm>
          <a:prstGeom prst="rect">
            <a:avLst/>
          </a:prstGeom>
          <a:noFill/>
        </p:spPr>
        <p:txBody>
          <a:bodyPr wrap="square">
            <a:spAutoFit/>
          </a:bodyPr>
          <a:lstStyle/>
          <a:p>
            <a:pPr algn="l"/>
            <a:r>
              <a:rPr sz="950" b="1" i="0">
                <a:solidFill>
                  <a:srgbClr val="A32D2D"/>
                </a:solidFill>
                <a:latin typeface="Calibri"/>
              </a:rPr>
              <a:t>Yes — same tools</a:t>
            </a:r>
          </a:p>
        </p:txBody>
      </p:sp>
      <p:sp>
        <p:nvSpPr>
          <p:cNvPr id="48" name="Rectangle 47"/>
          <p:cNvSpPr/>
          <p:nvPr/>
        </p:nvSpPr>
        <p:spPr>
          <a:xfrm>
            <a:off x="5733288" y="2852927"/>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824727" y="2926079"/>
            <a:ext cx="2779776" cy="237744"/>
          </a:xfrm>
          <a:prstGeom prst="rect">
            <a:avLst/>
          </a:prstGeom>
          <a:noFill/>
        </p:spPr>
        <p:txBody>
          <a:bodyPr wrap="square">
            <a:spAutoFit/>
          </a:bodyPr>
          <a:lstStyle/>
          <a:p>
            <a:pPr algn="l"/>
            <a:r>
              <a:rPr sz="950" b="1" i="0">
                <a:solidFill>
                  <a:srgbClr val="A32D2D"/>
                </a:solidFill>
                <a:latin typeface="Calibri"/>
              </a:rPr>
              <a:t>Yes — same tools</a:t>
            </a:r>
          </a:p>
        </p:txBody>
      </p:sp>
      <p:sp>
        <p:nvSpPr>
          <p:cNvPr id="50" name="Rectangle 49"/>
          <p:cNvSpPr/>
          <p:nvPr/>
        </p:nvSpPr>
        <p:spPr>
          <a:xfrm>
            <a:off x="8723376" y="2852927"/>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814815" y="2926079"/>
            <a:ext cx="2779776" cy="237744"/>
          </a:xfrm>
          <a:prstGeom prst="rect">
            <a:avLst/>
          </a:prstGeom>
          <a:noFill/>
        </p:spPr>
        <p:txBody>
          <a:bodyPr wrap="square">
            <a:spAutoFit/>
          </a:bodyPr>
          <a:lstStyle/>
          <a:p>
            <a:pPr algn="l"/>
            <a:r>
              <a:rPr sz="950" b="1" i="0">
                <a:solidFill>
                  <a:srgbClr val="1D9E75"/>
                </a:solidFill>
                <a:latin typeface="Calibri"/>
              </a:rPr>
              <a:t>No — proprietary</a:t>
            </a:r>
          </a:p>
        </p:txBody>
      </p:sp>
      <p:sp>
        <p:nvSpPr>
          <p:cNvPr id="52" name="Rectangle 51"/>
          <p:cNvSpPr/>
          <p:nvPr/>
        </p:nvSpPr>
        <p:spPr>
          <a:xfrm>
            <a:off x="256032" y="3236975"/>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7472" y="3310127"/>
            <a:ext cx="2276856" cy="237744"/>
          </a:xfrm>
          <a:prstGeom prst="rect">
            <a:avLst/>
          </a:prstGeom>
          <a:noFill/>
        </p:spPr>
        <p:txBody>
          <a:bodyPr wrap="square">
            <a:spAutoFit/>
          </a:bodyPr>
          <a:lstStyle/>
          <a:p>
            <a:pPr algn="l"/>
            <a:r>
              <a:rPr sz="950" b="1" i="0">
                <a:solidFill>
                  <a:srgbClr val="666677"/>
                </a:solidFill>
                <a:latin typeface="Calibri"/>
              </a:rPr>
              <a:t>Sellable as product?</a:t>
            </a:r>
          </a:p>
        </p:txBody>
      </p:sp>
      <p:sp>
        <p:nvSpPr>
          <p:cNvPr id="54" name="Rectangle 53"/>
          <p:cNvSpPr/>
          <p:nvPr/>
        </p:nvSpPr>
        <p:spPr>
          <a:xfrm>
            <a:off x="2743200" y="3236975"/>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834640" y="3310127"/>
            <a:ext cx="2779776" cy="237744"/>
          </a:xfrm>
          <a:prstGeom prst="rect">
            <a:avLst/>
          </a:prstGeom>
          <a:noFill/>
        </p:spPr>
        <p:txBody>
          <a:bodyPr wrap="square">
            <a:spAutoFit/>
          </a:bodyPr>
          <a:lstStyle/>
          <a:p>
            <a:pPr algn="l"/>
            <a:r>
              <a:rPr sz="950" b="0" i="0">
                <a:solidFill>
                  <a:srgbClr val="1A1A2E"/>
                </a:solidFill>
                <a:latin typeface="Calibri"/>
              </a:rPr>
              <a:t>No</a:t>
            </a:r>
          </a:p>
        </p:txBody>
      </p:sp>
      <p:sp>
        <p:nvSpPr>
          <p:cNvPr id="56" name="Rectangle 55"/>
          <p:cNvSpPr/>
          <p:nvPr/>
        </p:nvSpPr>
        <p:spPr>
          <a:xfrm>
            <a:off x="5733288" y="3236975"/>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824727" y="3310127"/>
            <a:ext cx="2779776" cy="237744"/>
          </a:xfrm>
          <a:prstGeom prst="rect">
            <a:avLst/>
          </a:prstGeom>
          <a:noFill/>
        </p:spPr>
        <p:txBody>
          <a:bodyPr wrap="square">
            <a:spAutoFit/>
          </a:bodyPr>
          <a:lstStyle/>
          <a:p>
            <a:pPr algn="l"/>
            <a:r>
              <a:rPr sz="950" b="0" i="0">
                <a:solidFill>
                  <a:srgbClr val="1A1A2E"/>
                </a:solidFill>
                <a:latin typeface="Calibri"/>
              </a:rPr>
              <a:t>No</a:t>
            </a:r>
          </a:p>
        </p:txBody>
      </p:sp>
      <p:sp>
        <p:nvSpPr>
          <p:cNvPr id="58" name="Rectangle 57"/>
          <p:cNvSpPr/>
          <p:nvPr/>
        </p:nvSpPr>
        <p:spPr>
          <a:xfrm>
            <a:off x="8723376" y="3236975"/>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814815" y="3310127"/>
            <a:ext cx="2779776" cy="237744"/>
          </a:xfrm>
          <a:prstGeom prst="rect">
            <a:avLst/>
          </a:prstGeom>
          <a:noFill/>
        </p:spPr>
        <p:txBody>
          <a:bodyPr wrap="square">
            <a:spAutoFit/>
          </a:bodyPr>
          <a:lstStyle/>
          <a:p>
            <a:pPr algn="l"/>
            <a:r>
              <a:rPr sz="950" b="1" i="0">
                <a:solidFill>
                  <a:srgbClr val="1D9E75"/>
                </a:solidFill>
                <a:latin typeface="Calibri"/>
              </a:rPr>
              <a:t>Yes</a:t>
            </a:r>
          </a:p>
        </p:txBody>
      </p:sp>
      <p:sp>
        <p:nvSpPr>
          <p:cNvPr id="60" name="Rectangle 59"/>
          <p:cNvSpPr/>
          <p:nvPr/>
        </p:nvSpPr>
        <p:spPr>
          <a:xfrm>
            <a:off x="256032" y="3621023"/>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47472" y="3694175"/>
            <a:ext cx="2276856" cy="237744"/>
          </a:xfrm>
          <a:prstGeom prst="rect">
            <a:avLst/>
          </a:prstGeom>
          <a:noFill/>
        </p:spPr>
        <p:txBody>
          <a:bodyPr wrap="square">
            <a:spAutoFit/>
          </a:bodyPr>
          <a:lstStyle/>
          <a:p>
            <a:pPr algn="l"/>
            <a:r>
              <a:rPr sz="950" b="1" i="0">
                <a:solidFill>
                  <a:srgbClr val="666677"/>
                </a:solidFill>
                <a:latin typeface="Calibri"/>
              </a:rPr>
              <a:t>R&amp;D credit eligible?</a:t>
            </a:r>
          </a:p>
        </p:txBody>
      </p:sp>
      <p:sp>
        <p:nvSpPr>
          <p:cNvPr id="62" name="Rectangle 61"/>
          <p:cNvSpPr/>
          <p:nvPr/>
        </p:nvSpPr>
        <p:spPr>
          <a:xfrm>
            <a:off x="2743200" y="3621023"/>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834640" y="3694175"/>
            <a:ext cx="2779776" cy="237744"/>
          </a:xfrm>
          <a:prstGeom prst="rect">
            <a:avLst/>
          </a:prstGeom>
          <a:noFill/>
        </p:spPr>
        <p:txBody>
          <a:bodyPr wrap="square">
            <a:spAutoFit/>
          </a:bodyPr>
          <a:lstStyle/>
          <a:p>
            <a:pPr algn="l"/>
            <a:r>
              <a:rPr sz="950" b="0" i="0">
                <a:solidFill>
                  <a:srgbClr val="1A1A2E"/>
                </a:solidFill>
                <a:latin typeface="Calibri"/>
              </a:rPr>
              <a:t>Partial only</a:t>
            </a:r>
          </a:p>
        </p:txBody>
      </p:sp>
      <p:sp>
        <p:nvSpPr>
          <p:cNvPr id="64" name="Rectangle 63"/>
          <p:cNvSpPr/>
          <p:nvPr/>
        </p:nvSpPr>
        <p:spPr>
          <a:xfrm>
            <a:off x="5733288" y="3621023"/>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824727" y="3694175"/>
            <a:ext cx="2779776" cy="237744"/>
          </a:xfrm>
          <a:prstGeom prst="rect">
            <a:avLst/>
          </a:prstGeom>
          <a:noFill/>
        </p:spPr>
        <p:txBody>
          <a:bodyPr wrap="square">
            <a:spAutoFit/>
          </a:bodyPr>
          <a:lstStyle/>
          <a:p>
            <a:pPr algn="l"/>
            <a:r>
              <a:rPr sz="950" b="0" i="0">
                <a:solidFill>
                  <a:srgbClr val="1A1A2E"/>
                </a:solidFill>
                <a:latin typeface="Calibri"/>
              </a:rPr>
              <a:t>Partial only</a:t>
            </a:r>
          </a:p>
        </p:txBody>
      </p:sp>
      <p:sp>
        <p:nvSpPr>
          <p:cNvPr id="66" name="Rectangle 65"/>
          <p:cNvSpPr/>
          <p:nvPr/>
        </p:nvSpPr>
        <p:spPr>
          <a:xfrm>
            <a:off x="8723376" y="3621023"/>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814815" y="3694175"/>
            <a:ext cx="2779776" cy="237744"/>
          </a:xfrm>
          <a:prstGeom prst="rect">
            <a:avLst/>
          </a:prstGeom>
          <a:noFill/>
        </p:spPr>
        <p:txBody>
          <a:bodyPr wrap="square">
            <a:spAutoFit/>
          </a:bodyPr>
          <a:lstStyle/>
          <a:p>
            <a:pPr algn="l"/>
            <a:r>
              <a:rPr sz="950" b="1" i="0">
                <a:solidFill>
                  <a:srgbClr val="1D9E75"/>
                </a:solidFill>
                <a:latin typeface="Calibri"/>
              </a:rPr>
              <a:t>Full — all dev QREs</a:t>
            </a:r>
          </a:p>
        </p:txBody>
      </p:sp>
      <p:sp>
        <p:nvSpPr>
          <p:cNvPr id="68" name="Rectangle 67"/>
          <p:cNvSpPr/>
          <p:nvPr/>
        </p:nvSpPr>
        <p:spPr>
          <a:xfrm>
            <a:off x="256032" y="4005072"/>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347472" y="4078224"/>
            <a:ext cx="2276856" cy="237744"/>
          </a:xfrm>
          <a:prstGeom prst="rect">
            <a:avLst/>
          </a:prstGeom>
          <a:noFill/>
        </p:spPr>
        <p:txBody>
          <a:bodyPr wrap="square">
            <a:spAutoFit/>
          </a:bodyPr>
          <a:lstStyle/>
          <a:p>
            <a:pPr algn="l"/>
            <a:r>
              <a:rPr sz="950" b="1" i="0">
                <a:solidFill>
                  <a:srgbClr val="666677"/>
                </a:solidFill>
                <a:latin typeface="Calibri"/>
              </a:rPr>
              <a:t>Manager dashboards</a:t>
            </a:r>
          </a:p>
        </p:txBody>
      </p:sp>
      <p:sp>
        <p:nvSpPr>
          <p:cNvPr id="70" name="Rectangle 69"/>
          <p:cNvSpPr/>
          <p:nvPr/>
        </p:nvSpPr>
        <p:spPr>
          <a:xfrm>
            <a:off x="2743200" y="4005072"/>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34640" y="4078224"/>
            <a:ext cx="2779776" cy="237744"/>
          </a:xfrm>
          <a:prstGeom prst="rect">
            <a:avLst/>
          </a:prstGeom>
          <a:noFill/>
        </p:spPr>
        <p:txBody>
          <a:bodyPr wrap="square">
            <a:spAutoFit/>
          </a:bodyPr>
          <a:lstStyle/>
          <a:p>
            <a:pPr algn="l"/>
            <a:r>
              <a:rPr sz="950" b="0" i="0">
                <a:solidFill>
                  <a:srgbClr val="1A1A2E"/>
                </a:solidFill>
                <a:latin typeface="Calibri"/>
              </a:rPr>
              <a:t>No</a:t>
            </a:r>
          </a:p>
        </p:txBody>
      </p:sp>
      <p:sp>
        <p:nvSpPr>
          <p:cNvPr id="72" name="Rectangle 71"/>
          <p:cNvSpPr/>
          <p:nvPr/>
        </p:nvSpPr>
        <p:spPr>
          <a:xfrm>
            <a:off x="5733288" y="4005072"/>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824727" y="4078224"/>
            <a:ext cx="2779776" cy="237744"/>
          </a:xfrm>
          <a:prstGeom prst="rect">
            <a:avLst/>
          </a:prstGeom>
          <a:noFill/>
        </p:spPr>
        <p:txBody>
          <a:bodyPr wrap="square">
            <a:spAutoFit/>
          </a:bodyPr>
          <a:lstStyle/>
          <a:p>
            <a:pPr algn="l"/>
            <a:r>
              <a:rPr sz="950" b="0" i="0">
                <a:solidFill>
                  <a:srgbClr val="1A1A2E"/>
                </a:solidFill>
                <a:latin typeface="Calibri"/>
              </a:rPr>
              <a:t>Yes — Attention</a:t>
            </a:r>
          </a:p>
        </p:txBody>
      </p:sp>
      <p:sp>
        <p:nvSpPr>
          <p:cNvPr id="74" name="Rectangle 73"/>
          <p:cNvSpPr/>
          <p:nvPr/>
        </p:nvSpPr>
        <p:spPr>
          <a:xfrm>
            <a:off x="8723376" y="4005072"/>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814815" y="4078224"/>
            <a:ext cx="2779776" cy="237744"/>
          </a:xfrm>
          <a:prstGeom prst="rect">
            <a:avLst/>
          </a:prstGeom>
          <a:noFill/>
        </p:spPr>
        <p:txBody>
          <a:bodyPr wrap="square">
            <a:spAutoFit/>
          </a:bodyPr>
          <a:lstStyle/>
          <a:p>
            <a:pPr algn="l"/>
            <a:r>
              <a:rPr sz="950" b="1" i="0">
                <a:solidFill>
                  <a:srgbClr val="1D9E75"/>
                </a:solidFill>
                <a:latin typeface="Calibri"/>
              </a:rPr>
              <a:t>Built custom in-house</a:t>
            </a:r>
          </a:p>
        </p:txBody>
      </p:sp>
      <p:sp>
        <p:nvSpPr>
          <p:cNvPr id="76" name="Rectangle 75"/>
          <p:cNvSpPr/>
          <p:nvPr/>
        </p:nvSpPr>
        <p:spPr>
          <a:xfrm>
            <a:off x="256032" y="4389120"/>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347472" y="4462272"/>
            <a:ext cx="2276856" cy="237744"/>
          </a:xfrm>
          <a:prstGeom prst="rect">
            <a:avLst/>
          </a:prstGeom>
          <a:noFill/>
        </p:spPr>
        <p:txBody>
          <a:bodyPr wrap="square">
            <a:spAutoFit/>
          </a:bodyPr>
          <a:lstStyle/>
          <a:p>
            <a:pPr algn="l"/>
            <a:r>
              <a:rPr sz="950" b="1" i="0">
                <a:solidFill>
                  <a:srgbClr val="666677"/>
                </a:solidFill>
                <a:latin typeface="Calibri"/>
              </a:rPr>
              <a:t>Inbound routing</a:t>
            </a:r>
          </a:p>
        </p:txBody>
      </p:sp>
      <p:sp>
        <p:nvSpPr>
          <p:cNvPr id="78" name="Rectangle 77"/>
          <p:cNvSpPr/>
          <p:nvPr/>
        </p:nvSpPr>
        <p:spPr>
          <a:xfrm>
            <a:off x="2743200" y="4389120"/>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34640" y="4462272"/>
            <a:ext cx="2779776" cy="237744"/>
          </a:xfrm>
          <a:prstGeom prst="rect">
            <a:avLst/>
          </a:prstGeom>
          <a:noFill/>
        </p:spPr>
        <p:txBody>
          <a:bodyPr wrap="square">
            <a:spAutoFit/>
          </a:bodyPr>
          <a:lstStyle/>
          <a:p>
            <a:pPr algn="l"/>
            <a:r>
              <a:rPr sz="950" b="0" i="0">
                <a:solidFill>
                  <a:srgbClr val="1A1A2E"/>
                </a:solidFill>
                <a:latin typeface="Calibri"/>
              </a:rPr>
              <a:t>Basic — Calendly link</a:t>
            </a:r>
          </a:p>
        </p:txBody>
      </p:sp>
      <p:sp>
        <p:nvSpPr>
          <p:cNvPr id="80" name="Rectangle 79"/>
          <p:cNvSpPr/>
          <p:nvPr/>
        </p:nvSpPr>
        <p:spPr>
          <a:xfrm>
            <a:off x="5733288" y="4389120"/>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5824727" y="4462272"/>
            <a:ext cx="2779776" cy="237744"/>
          </a:xfrm>
          <a:prstGeom prst="rect">
            <a:avLst/>
          </a:prstGeom>
          <a:noFill/>
        </p:spPr>
        <p:txBody>
          <a:bodyPr wrap="square">
            <a:spAutoFit/>
          </a:bodyPr>
          <a:lstStyle/>
          <a:p>
            <a:pPr algn="l"/>
            <a:r>
              <a:rPr sz="950" b="0" i="0">
                <a:solidFill>
                  <a:srgbClr val="1A1A2E"/>
                </a:solidFill>
                <a:latin typeface="Calibri"/>
              </a:rPr>
              <a:t>Yes — Chili Piper</a:t>
            </a:r>
          </a:p>
        </p:txBody>
      </p:sp>
      <p:sp>
        <p:nvSpPr>
          <p:cNvPr id="82" name="Rectangle 81"/>
          <p:cNvSpPr/>
          <p:nvPr/>
        </p:nvSpPr>
        <p:spPr>
          <a:xfrm>
            <a:off x="8723376" y="4389120"/>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8814815" y="4462272"/>
            <a:ext cx="2779776" cy="237744"/>
          </a:xfrm>
          <a:prstGeom prst="rect">
            <a:avLst/>
          </a:prstGeom>
          <a:noFill/>
        </p:spPr>
        <p:txBody>
          <a:bodyPr wrap="square">
            <a:spAutoFit/>
          </a:bodyPr>
          <a:lstStyle/>
          <a:p>
            <a:pPr algn="l"/>
            <a:r>
              <a:rPr sz="950" b="1" i="0">
                <a:solidFill>
                  <a:srgbClr val="1D9E75"/>
                </a:solidFill>
                <a:latin typeface="Calibri"/>
              </a:rPr>
              <a:t>Custom n8n rules</a:t>
            </a:r>
          </a:p>
        </p:txBody>
      </p:sp>
      <p:sp>
        <p:nvSpPr>
          <p:cNvPr id="84" name="Rectangle 83"/>
          <p:cNvSpPr/>
          <p:nvPr/>
        </p:nvSpPr>
        <p:spPr>
          <a:xfrm>
            <a:off x="256032" y="4773168"/>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347472" y="4846320"/>
            <a:ext cx="2276856" cy="237744"/>
          </a:xfrm>
          <a:prstGeom prst="rect">
            <a:avLst/>
          </a:prstGeom>
          <a:noFill/>
        </p:spPr>
        <p:txBody>
          <a:bodyPr wrap="square">
            <a:spAutoFit/>
          </a:bodyPr>
          <a:lstStyle/>
          <a:p>
            <a:pPr algn="l"/>
            <a:r>
              <a:rPr sz="950" b="1" i="0">
                <a:solidFill>
                  <a:srgbClr val="666677"/>
                </a:solidFill>
                <a:latin typeface="Calibri"/>
              </a:rPr>
              <a:t>Notetaker</a:t>
            </a:r>
          </a:p>
        </p:txBody>
      </p:sp>
      <p:sp>
        <p:nvSpPr>
          <p:cNvPr id="86" name="Rectangle 85"/>
          <p:cNvSpPr/>
          <p:nvPr/>
        </p:nvSpPr>
        <p:spPr>
          <a:xfrm>
            <a:off x="2743200" y="4773168"/>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34640" y="4846320"/>
            <a:ext cx="2779776" cy="237744"/>
          </a:xfrm>
          <a:prstGeom prst="rect">
            <a:avLst/>
          </a:prstGeom>
          <a:noFill/>
        </p:spPr>
        <p:txBody>
          <a:bodyPr wrap="square">
            <a:spAutoFit/>
          </a:bodyPr>
          <a:lstStyle/>
          <a:p>
            <a:pPr algn="l"/>
            <a:r>
              <a:rPr sz="950" b="0" i="0">
                <a:solidFill>
                  <a:srgbClr val="1A1A2E"/>
                </a:solidFill>
                <a:latin typeface="Calibri"/>
              </a:rPr>
              <a:t>Fathom</a:t>
            </a:r>
          </a:p>
        </p:txBody>
      </p:sp>
      <p:sp>
        <p:nvSpPr>
          <p:cNvPr id="88" name="Rectangle 87"/>
          <p:cNvSpPr/>
          <p:nvPr/>
        </p:nvSpPr>
        <p:spPr>
          <a:xfrm>
            <a:off x="5733288" y="4773168"/>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5824727" y="4846320"/>
            <a:ext cx="2779776" cy="237744"/>
          </a:xfrm>
          <a:prstGeom prst="rect">
            <a:avLst/>
          </a:prstGeom>
          <a:noFill/>
        </p:spPr>
        <p:txBody>
          <a:bodyPr wrap="square">
            <a:spAutoFit/>
          </a:bodyPr>
          <a:lstStyle/>
          <a:p>
            <a:pPr algn="l"/>
            <a:r>
              <a:rPr sz="950" b="0" i="0">
                <a:solidFill>
                  <a:srgbClr val="1A1A2E"/>
                </a:solidFill>
                <a:latin typeface="Calibri"/>
              </a:rPr>
              <a:t>Attention (replaces)</a:t>
            </a:r>
          </a:p>
        </p:txBody>
      </p:sp>
      <p:sp>
        <p:nvSpPr>
          <p:cNvPr id="90" name="Rectangle 89"/>
          <p:cNvSpPr/>
          <p:nvPr/>
        </p:nvSpPr>
        <p:spPr>
          <a:xfrm>
            <a:off x="8723376" y="4773168"/>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8814815" y="4846320"/>
            <a:ext cx="2779776" cy="237744"/>
          </a:xfrm>
          <a:prstGeom prst="rect">
            <a:avLst/>
          </a:prstGeom>
          <a:noFill/>
        </p:spPr>
        <p:txBody>
          <a:bodyPr wrap="square">
            <a:spAutoFit/>
          </a:bodyPr>
          <a:lstStyle/>
          <a:p>
            <a:pPr algn="l"/>
            <a:r>
              <a:rPr sz="950" b="0" i="0">
                <a:solidFill>
                  <a:srgbClr val="1A1A2E"/>
                </a:solidFill>
                <a:latin typeface="Calibri"/>
              </a:rPr>
              <a:t>AI layer via API</a:t>
            </a:r>
          </a:p>
        </p:txBody>
      </p:sp>
      <p:sp>
        <p:nvSpPr>
          <p:cNvPr id="92" name="Rectangle 91"/>
          <p:cNvSpPr/>
          <p:nvPr/>
        </p:nvSpPr>
        <p:spPr>
          <a:xfrm>
            <a:off x="256032" y="5157216"/>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TextBox 92"/>
          <p:cNvSpPr txBox="1"/>
          <p:nvPr/>
        </p:nvSpPr>
        <p:spPr>
          <a:xfrm>
            <a:off x="347472" y="5230368"/>
            <a:ext cx="2276856" cy="237744"/>
          </a:xfrm>
          <a:prstGeom prst="rect">
            <a:avLst/>
          </a:prstGeom>
          <a:noFill/>
        </p:spPr>
        <p:txBody>
          <a:bodyPr wrap="square">
            <a:spAutoFit/>
          </a:bodyPr>
          <a:lstStyle/>
          <a:p>
            <a:pPr algn="l"/>
            <a:r>
              <a:rPr sz="950" b="1" i="0">
                <a:solidFill>
                  <a:srgbClr val="666677"/>
                </a:solidFill>
                <a:latin typeface="Calibri"/>
              </a:rPr>
              <a:t>Automation engine</a:t>
            </a:r>
          </a:p>
        </p:txBody>
      </p:sp>
      <p:sp>
        <p:nvSpPr>
          <p:cNvPr id="94" name="Rectangle 93"/>
          <p:cNvSpPr/>
          <p:nvPr/>
        </p:nvSpPr>
        <p:spPr>
          <a:xfrm>
            <a:off x="2743200" y="5157216"/>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2834640" y="5230368"/>
            <a:ext cx="2779776" cy="237744"/>
          </a:xfrm>
          <a:prstGeom prst="rect">
            <a:avLst/>
          </a:prstGeom>
          <a:noFill/>
        </p:spPr>
        <p:txBody>
          <a:bodyPr wrap="square">
            <a:spAutoFit/>
          </a:bodyPr>
          <a:lstStyle/>
          <a:p>
            <a:pPr algn="l"/>
            <a:r>
              <a:rPr sz="950" b="0" i="0">
                <a:solidFill>
                  <a:srgbClr val="1A1A2E"/>
                </a:solidFill>
                <a:latin typeface="Calibri"/>
              </a:rPr>
              <a:t>Zapier (rented)</a:t>
            </a:r>
          </a:p>
        </p:txBody>
      </p:sp>
      <p:sp>
        <p:nvSpPr>
          <p:cNvPr id="96" name="Rectangle 95"/>
          <p:cNvSpPr/>
          <p:nvPr/>
        </p:nvSpPr>
        <p:spPr>
          <a:xfrm>
            <a:off x="5733288" y="5157216"/>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5824727" y="5230368"/>
            <a:ext cx="2779776" cy="237744"/>
          </a:xfrm>
          <a:prstGeom prst="rect">
            <a:avLst/>
          </a:prstGeom>
          <a:noFill/>
        </p:spPr>
        <p:txBody>
          <a:bodyPr wrap="square">
            <a:spAutoFit/>
          </a:bodyPr>
          <a:lstStyle/>
          <a:p>
            <a:pPr algn="l"/>
            <a:r>
              <a:rPr sz="950" b="0" i="0">
                <a:solidFill>
                  <a:srgbClr val="1A1A2E"/>
                </a:solidFill>
                <a:latin typeface="Calibri"/>
              </a:rPr>
              <a:t>Zapier Pro (rented)</a:t>
            </a:r>
          </a:p>
        </p:txBody>
      </p:sp>
      <p:sp>
        <p:nvSpPr>
          <p:cNvPr id="98" name="Rectangle 97"/>
          <p:cNvSpPr/>
          <p:nvPr/>
        </p:nvSpPr>
        <p:spPr>
          <a:xfrm>
            <a:off x="8723376" y="5157216"/>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8814815" y="5230368"/>
            <a:ext cx="2779776" cy="237744"/>
          </a:xfrm>
          <a:prstGeom prst="rect">
            <a:avLst/>
          </a:prstGeom>
          <a:noFill/>
        </p:spPr>
        <p:txBody>
          <a:bodyPr wrap="square">
            <a:spAutoFit/>
          </a:bodyPr>
          <a:lstStyle/>
          <a:p>
            <a:pPr algn="l"/>
            <a:r>
              <a:rPr sz="950" b="1" i="0">
                <a:solidFill>
                  <a:srgbClr val="1D9E75"/>
                </a:solidFill>
                <a:latin typeface="Calibri"/>
              </a:rPr>
              <a:t>n8n (owned)</a:t>
            </a:r>
          </a:p>
        </p:txBody>
      </p:sp>
      <p:sp>
        <p:nvSpPr>
          <p:cNvPr id="100" name="Rectangle 99"/>
          <p:cNvSpPr/>
          <p:nvPr/>
        </p:nvSpPr>
        <p:spPr>
          <a:xfrm>
            <a:off x="256032" y="5541264"/>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347472" y="5614416"/>
            <a:ext cx="2276856" cy="237744"/>
          </a:xfrm>
          <a:prstGeom prst="rect">
            <a:avLst/>
          </a:prstGeom>
          <a:noFill/>
        </p:spPr>
        <p:txBody>
          <a:bodyPr wrap="square">
            <a:spAutoFit/>
          </a:bodyPr>
          <a:lstStyle/>
          <a:p>
            <a:pPr algn="l"/>
            <a:r>
              <a:rPr sz="950" b="1" i="0">
                <a:solidFill>
                  <a:srgbClr val="666677"/>
                </a:solidFill>
                <a:latin typeface="Calibri"/>
              </a:rPr>
              <a:t>Best for team size</a:t>
            </a:r>
          </a:p>
        </p:txBody>
      </p:sp>
      <p:sp>
        <p:nvSpPr>
          <p:cNvPr id="102" name="Rectangle 101"/>
          <p:cNvSpPr/>
          <p:nvPr/>
        </p:nvSpPr>
        <p:spPr>
          <a:xfrm>
            <a:off x="2743200" y="554126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TextBox 102"/>
          <p:cNvSpPr txBox="1"/>
          <p:nvPr/>
        </p:nvSpPr>
        <p:spPr>
          <a:xfrm>
            <a:off x="2834640" y="5614416"/>
            <a:ext cx="2779776" cy="237744"/>
          </a:xfrm>
          <a:prstGeom prst="rect">
            <a:avLst/>
          </a:prstGeom>
          <a:noFill/>
        </p:spPr>
        <p:txBody>
          <a:bodyPr wrap="square">
            <a:spAutoFit/>
          </a:bodyPr>
          <a:lstStyle/>
          <a:p>
            <a:pPr algn="l"/>
            <a:r>
              <a:rPr sz="950" b="0" i="0">
                <a:solidFill>
                  <a:srgbClr val="1A1A2E"/>
                </a:solidFill>
                <a:latin typeface="Calibri"/>
              </a:rPr>
              <a:t>1–4 reps</a:t>
            </a:r>
          </a:p>
        </p:txBody>
      </p:sp>
      <p:sp>
        <p:nvSpPr>
          <p:cNvPr id="104" name="Rectangle 103"/>
          <p:cNvSpPr/>
          <p:nvPr/>
        </p:nvSpPr>
        <p:spPr>
          <a:xfrm>
            <a:off x="5733288" y="554126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5824727" y="5614416"/>
            <a:ext cx="2779776" cy="237744"/>
          </a:xfrm>
          <a:prstGeom prst="rect">
            <a:avLst/>
          </a:prstGeom>
          <a:noFill/>
        </p:spPr>
        <p:txBody>
          <a:bodyPr wrap="square">
            <a:spAutoFit/>
          </a:bodyPr>
          <a:lstStyle/>
          <a:p>
            <a:pPr algn="l"/>
            <a:r>
              <a:rPr sz="950" b="0" i="0">
                <a:solidFill>
                  <a:srgbClr val="1A1A2E"/>
                </a:solidFill>
                <a:latin typeface="Calibri"/>
              </a:rPr>
              <a:t>5+ reps</a:t>
            </a:r>
          </a:p>
        </p:txBody>
      </p:sp>
      <p:sp>
        <p:nvSpPr>
          <p:cNvPr id="106" name="Rectangle 105"/>
          <p:cNvSpPr/>
          <p:nvPr/>
        </p:nvSpPr>
        <p:spPr>
          <a:xfrm>
            <a:off x="8723376" y="5541264"/>
            <a:ext cx="2926080"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TextBox 106"/>
          <p:cNvSpPr txBox="1"/>
          <p:nvPr/>
        </p:nvSpPr>
        <p:spPr>
          <a:xfrm>
            <a:off x="8814815" y="5614416"/>
            <a:ext cx="2779776" cy="237744"/>
          </a:xfrm>
          <a:prstGeom prst="rect">
            <a:avLst/>
          </a:prstGeom>
          <a:noFill/>
        </p:spPr>
        <p:txBody>
          <a:bodyPr wrap="square">
            <a:spAutoFit/>
          </a:bodyPr>
          <a:lstStyle/>
          <a:p>
            <a:pPr algn="l"/>
            <a:r>
              <a:rPr sz="950" b="0" i="0">
                <a:solidFill>
                  <a:srgbClr val="1A1A2E"/>
                </a:solidFill>
                <a:latin typeface="Calibri"/>
              </a:rPr>
              <a:t>Any — grows with you</a:t>
            </a:r>
          </a:p>
        </p:txBody>
      </p:sp>
      <p:sp>
        <p:nvSpPr>
          <p:cNvPr id="108" name="Rectangle 107"/>
          <p:cNvSpPr/>
          <p:nvPr/>
        </p:nvSpPr>
        <p:spPr>
          <a:xfrm>
            <a:off x="256032" y="5925312"/>
            <a:ext cx="2423160" cy="365760"/>
          </a:xfrm>
          <a:prstGeom prst="rect">
            <a:avLst/>
          </a:prstGeom>
          <a:solidFill>
            <a:srgbClr val="F4F6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347472" y="5998464"/>
            <a:ext cx="2276856" cy="237744"/>
          </a:xfrm>
          <a:prstGeom prst="rect">
            <a:avLst/>
          </a:prstGeom>
          <a:noFill/>
        </p:spPr>
        <p:txBody>
          <a:bodyPr wrap="square">
            <a:spAutoFit/>
          </a:bodyPr>
          <a:lstStyle/>
          <a:p>
            <a:pPr algn="l"/>
            <a:r>
              <a:rPr sz="950" b="1" i="0">
                <a:solidFill>
                  <a:srgbClr val="666677"/>
                </a:solidFill>
                <a:latin typeface="Calibri"/>
              </a:rPr>
              <a:t>When to choose</a:t>
            </a:r>
          </a:p>
        </p:txBody>
      </p:sp>
      <p:sp>
        <p:nvSpPr>
          <p:cNvPr id="110" name="Rectangle 109"/>
          <p:cNvSpPr/>
          <p:nvPr/>
        </p:nvSpPr>
        <p:spPr>
          <a:xfrm>
            <a:off x="2743200" y="5925312"/>
            <a:ext cx="2926080" cy="365760"/>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TextBox 110"/>
          <p:cNvSpPr txBox="1"/>
          <p:nvPr/>
        </p:nvSpPr>
        <p:spPr>
          <a:xfrm>
            <a:off x="2834640" y="5998464"/>
            <a:ext cx="2779776" cy="237744"/>
          </a:xfrm>
          <a:prstGeom prst="rect">
            <a:avLst/>
          </a:prstGeom>
          <a:noFill/>
        </p:spPr>
        <p:txBody>
          <a:bodyPr wrap="square">
            <a:spAutoFit/>
          </a:bodyPr>
          <a:lstStyle/>
          <a:p>
            <a:pPr algn="l"/>
            <a:r>
              <a:rPr sz="950" b="0" i="0">
                <a:solidFill>
                  <a:srgbClr val="1A1A2E"/>
                </a:solidFill>
                <a:latin typeface="Calibri"/>
              </a:rPr>
              <a:t>Start today</a:t>
            </a:r>
          </a:p>
        </p:txBody>
      </p:sp>
      <p:sp>
        <p:nvSpPr>
          <p:cNvPr id="112" name="Rectangle 111"/>
          <p:cNvSpPr/>
          <p:nvPr/>
        </p:nvSpPr>
        <p:spPr>
          <a:xfrm>
            <a:off x="5733288" y="5925312"/>
            <a:ext cx="2926080" cy="365760"/>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5824727" y="5998464"/>
            <a:ext cx="2779776" cy="237744"/>
          </a:xfrm>
          <a:prstGeom prst="rect">
            <a:avLst/>
          </a:prstGeom>
          <a:noFill/>
        </p:spPr>
        <p:txBody>
          <a:bodyPr wrap="square">
            <a:spAutoFit/>
          </a:bodyPr>
          <a:lstStyle/>
          <a:p>
            <a:pPr algn="l"/>
            <a:r>
              <a:rPr sz="950" b="0" i="0">
                <a:solidFill>
                  <a:srgbClr val="1A1A2E"/>
                </a:solidFill>
                <a:latin typeface="Calibri"/>
              </a:rPr>
              <a:t>Hit 5 reps</a:t>
            </a:r>
          </a:p>
        </p:txBody>
      </p:sp>
      <p:sp>
        <p:nvSpPr>
          <p:cNvPr id="114" name="Rectangle 113"/>
          <p:cNvSpPr/>
          <p:nvPr/>
        </p:nvSpPr>
        <p:spPr>
          <a:xfrm>
            <a:off x="8723376" y="5925312"/>
            <a:ext cx="2926080" cy="365760"/>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8814815" y="5998464"/>
            <a:ext cx="2779776" cy="237744"/>
          </a:xfrm>
          <a:prstGeom prst="rect">
            <a:avLst/>
          </a:prstGeom>
          <a:noFill/>
        </p:spPr>
        <p:txBody>
          <a:bodyPr wrap="square">
            <a:spAutoFit/>
          </a:bodyPr>
          <a:lstStyle/>
          <a:p>
            <a:pPr algn="l"/>
            <a:r>
              <a:rPr sz="950" b="0" i="0">
                <a:solidFill>
                  <a:srgbClr val="1A1A2E"/>
                </a:solidFill>
                <a:latin typeface="Calibri"/>
              </a:rPr>
              <a:t>Ready to own the 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658368"/>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Federal R&amp;D Tax Credit — IRC §41  |  Funding the Build Through Tax Strategy</a:t>
            </a:r>
          </a:p>
        </p:txBody>
      </p:sp>
      <p:sp>
        <p:nvSpPr>
          <p:cNvPr id="5" name="Rectangle 4"/>
          <p:cNvSpPr/>
          <p:nvPr/>
        </p:nvSpPr>
        <p:spPr>
          <a:xfrm>
            <a:off x="274320" y="804672"/>
            <a:ext cx="5349240" cy="54681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896112"/>
            <a:ext cx="5029200" cy="347472"/>
          </a:xfrm>
          <a:prstGeom prst="rect">
            <a:avLst/>
          </a:prstGeom>
          <a:noFill/>
        </p:spPr>
        <p:txBody>
          <a:bodyPr wrap="square">
            <a:spAutoFit/>
          </a:bodyPr>
          <a:lstStyle/>
          <a:p>
            <a:pPr algn="l"/>
            <a:r>
              <a:rPr sz="1300" b="1" i="0">
                <a:solidFill>
                  <a:srgbClr val="FFFFFF"/>
                </a:solidFill>
                <a:latin typeface="Calibri"/>
              </a:rPr>
              <a:t>Does The Joseph Group Qualify?</a:t>
            </a:r>
          </a:p>
        </p:txBody>
      </p:sp>
      <p:sp>
        <p:nvSpPr>
          <p:cNvPr id="7" name="TextBox 6"/>
          <p:cNvSpPr txBox="1"/>
          <p:nvPr/>
        </p:nvSpPr>
        <p:spPr>
          <a:xfrm>
            <a:off x="457200" y="1280160"/>
            <a:ext cx="5029200" cy="274320"/>
          </a:xfrm>
          <a:prstGeom prst="rect">
            <a:avLst/>
          </a:prstGeom>
          <a:noFill/>
        </p:spPr>
        <p:txBody>
          <a:bodyPr wrap="square">
            <a:spAutoFit/>
          </a:bodyPr>
          <a:lstStyle/>
          <a:p>
            <a:pPr algn="l"/>
            <a:r>
              <a:rPr sz="950" b="0" i="1">
                <a:solidFill>
                  <a:srgbClr val="CCCCD8"/>
                </a:solidFill>
                <a:latin typeface="Calibri"/>
              </a:rPr>
              <a:t>The IRS Four-Part Test — all four must be met simultaneously:</a:t>
            </a:r>
          </a:p>
        </p:txBody>
      </p:sp>
      <p:sp>
        <p:nvSpPr>
          <p:cNvPr id="8" name="Rectangle 7"/>
          <p:cNvSpPr/>
          <p:nvPr/>
        </p:nvSpPr>
        <p:spPr>
          <a:xfrm>
            <a:off x="384048" y="1700784"/>
            <a:ext cx="5120640" cy="822960"/>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755648"/>
            <a:ext cx="4937760" cy="237744"/>
          </a:xfrm>
          <a:prstGeom prst="rect">
            <a:avLst/>
          </a:prstGeom>
          <a:noFill/>
        </p:spPr>
        <p:txBody>
          <a:bodyPr wrap="square">
            <a:spAutoFit/>
          </a:bodyPr>
          <a:lstStyle/>
          <a:p>
            <a:pPr algn="l"/>
            <a:r>
              <a:rPr sz="1000" b="1" i="0">
                <a:solidFill>
                  <a:srgbClr val="534AB7"/>
                </a:solidFill>
                <a:latin typeface="Calibri"/>
              </a:rPr>
              <a:t>1. Permitted Purpose</a:t>
            </a:r>
          </a:p>
        </p:txBody>
      </p:sp>
      <p:sp>
        <p:nvSpPr>
          <p:cNvPr id="10" name="TextBox 9"/>
          <p:cNvSpPr txBox="1"/>
          <p:nvPr/>
        </p:nvSpPr>
        <p:spPr>
          <a:xfrm>
            <a:off x="475488" y="1975104"/>
            <a:ext cx="4937760" cy="219456"/>
          </a:xfrm>
          <a:prstGeom prst="rect">
            <a:avLst/>
          </a:prstGeom>
          <a:noFill/>
        </p:spPr>
        <p:txBody>
          <a:bodyPr wrap="square">
            <a:spAutoFit/>
          </a:bodyPr>
          <a:lstStyle/>
          <a:p>
            <a:pPr algn="l"/>
            <a:r>
              <a:rPr sz="900" b="0" i="0">
                <a:solidFill>
                  <a:srgbClr val="CCCCD8"/>
                </a:solidFill>
                <a:latin typeface="Calibri"/>
              </a:rPr>
              <a:t>Building new software / improving existing process</a:t>
            </a:r>
          </a:p>
        </p:txBody>
      </p:sp>
      <p:sp>
        <p:nvSpPr>
          <p:cNvPr id="11" name="TextBox 10"/>
          <p:cNvSpPr txBox="1"/>
          <p:nvPr/>
        </p:nvSpPr>
        <p:spPr>
          <a:xfrm>
            <a:off x="475488" y="2194560"/>
            <a:ext cx="4937760" cy="256032"/>
          </a:xfrm>
          <a:prstGeom prst="rect">
            <a:avLst/>
          </a:prstGeom>
          <a:noFill/>
        </p:spPr>
        <p:txBody>
          <a:bodyPr wrap="square">
            <a:spAutoFit/>
          </a:bodyPr>
          <a:lstStyle/>
          <a:p>
            <a:pPr algn="l"/>
            <a:r>
              <a:rPr sz="900" b="1" i="0">
                <a:solidFill>
                  <a:srgbClr val="1D9E75"/>
                </a:solidFill>
                <a:latin typeface="Calibri"/>
              </a:rPr>
              <a:t>→  Custom AI property management platform — YES</a:t>
            </a:r>
          </a:p>
        </p:txBody>
      </p:sp>
      <p:sp>
        <p:nvSpPr>
          <p:cNvPr id="12" name="Rectangle 11"/>
          <p:cNvSpPr/>
          <p:nvPr/>
        </p:nvSpPr>
        <p:spPr>
          <a:xfrm>
            <a:off x="384048" y="2596896"/>
            <a:ext cx="5120640" cy="822960"/>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651760"/>
            <a:ext cx="4937760" cy="237744"/>
          </a:xfrm>
          <a:prstGeom prst="rect">
            <a:avLst/>
          </a:prstGeom>
          <a:noFill/>
        </p:spPr>
        <p:txBody>
          <a:bodyPr wrap="square">
            <a:spAutoFit/>
          </a:bodyPr>
          <a:lstStyle/>
          <a:p>
            <a:pPr algn="l"/>
            <a:r>
              <a:rPr sz="1000" b="1" i="0">
                <a:solidFill>
                  <a:srgbClr val="534AB7"/>
                </a:solidFill>
                <a:latin typeface="Calibri"/>
              </a:rPr>
              <a:t>2. Technological Uncertainty</a:t>
            </a:r>
          </a:p>
        </p:txBody>
      </p:sp>
      <p:sp>
        <p:nvSpPr>
          <p:cNvPr id="14" name="TextBox 13"/>
          <p:cNvSpPr txBox="1"/>
          <p:nvPr/>
        </p:nvSpPr>
        <p:spPr>
          <a:xfrm>
            <a:off x="475488" y="2871215"/>
            <a:ext cx="4937760" cy="219456"/>
          </a:xfrm>
          <a:prstGeom prst="rect">
            <a:avLst/>
          </a:prstGeom>
          <a:noFill/>
        </p:spPr>
        <p:txBody>
          <a:bodyPr wrap="square">
            <a:spAutoFit/>
          </a:bodyPr>
          <a:lstStyle/>
          <a:p>
            <a:pPr algn="l"/>
            <a:r>
              <a:rPr sz="900" b="0" i="0">
                <a:solidFill>
                  <a:srgbClr val="CCCCD8"/>
                </a:solidFill>
                <a:latin typeface="Calibri"/>
              </a:rPr>
              <a:t>Uncertainty must exist about whether approach will work</a:t>
            </a:r>
          </a:p>
        </p:txBody>
      </p:sp>
      <p:sp>
        <p:nvSpPr>
          <p:cNvPr id="15" name="TextBox 14"/>
          <p:cNvSpPr txBox="1"/>
          <p:nvPr/>
        </p:nvSpPr>
        <p:spPr>
          <a:xfrm>
            <a:off x="475488" y="3090672"/>
            <a:ext cx="4937760" cy="256032"/>
          </a:xfrm>
          <a:prstGeom prst="rect">
            <a:avLst/>
          </a:prstGeom>
          <a:noFill/>
        </p:spPr>
        <p:txBody>
          <a:bodyPr wrap="square">
            <a:spAutoFit/>
          </a:bodyPr>
          <a:lstStyle/>
          <a:p>
            <a:pPr algn="l"/>
            <a:r>
              <a:rPr sz="900" b="1" i="0">
                <a:solidFill>
                  <a:srgbClr val="1D9E75"/>
                </a:solidFill>
                <a:latin typeface="Calibri"/>
              </a:rPr>
              <a:t>→  n8n + AI for property mgmt is novel — no proven template exists</a:t>
            </a:r>
          </a:p>
        </p:txBody>
      </p:sp>
      <p:sp>
        <p:nvSpPr>
          <p:cNvPr id="16" name="Rectangle 15"/>
          <p:cNvSpPr/>
          <p:nvPr/>
        </p:nvSpPr>
        <p:spPr>
          <a:xfrm>
            <a:off x="384048" y="3493008"/>
            <a:ext cx="5120640" cy="822960"/>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547872"/>
            <a:ext cx="4937760" cy="237744"/>
          </a:xfrm>
          <a:prstGeom prst="rect">
            <a:avLst/>
          </a:prstGeom>
          <a:noFill/>
        </p:spPr>
        <p:txBody>
          <a:bodyPr wrap="square">
            <a:spAutoFit/>
          </a:bodyPr>
          <a:lstStyle/>
          <a:p>
            <a:pPr algn="l"/>
            <a:r>
              <a:rPr sz="1000" b="1" i="0">
                <a:solidFill>
                  <a:srgbClr val="534AB7"/>
                </a:solidFill>
                <a:latin typeface="Calibri"/>
              </a:rPr>
              <a:t>3. Process of Experimentation</a:t>
            </a:r>
          </a:p>
        </p:txBody>
      </p:sp>
      <p:sp>
        <p:nvSpPr>
          <p:cNvPr id="18" name="TextBox 17"/>
          <p:cNvSpPr txBox="1"/>
          <p:nvPr/>
        </p:nvSpPr>
        <p:spPr>
          <a:xfrm>
            <a:off x="475488" y="3767328"/>
            <a:ext cx="4937760" cy="219456"/>
          </a:xfrm>
          <a:prstGeom prst="rect">
            <a:avLst/>
          </a:prstGeom>
          <a:noFill/>
        </p:spPr>
        <p:txBody>
          <a:bodyPr wrap="square">
            <a:spAutoFit/>
          </a:bodyPr>
          <a:lstStyle/>
          <a:p>
            <a:pPr algn="l"/>
            <a:r>
              <a:rPr sz="900" b="0" i="0">
                <a:solidFill>
                  <a:srgbClr val="CCCCD8"/>
                </a:solidFill>
                <a:latin typeface="Calibri"/>
              </a:rPr>
              <a:t>Must evaluate alternatives and test approaches</a:t>
            </a:r>
          </a:p>
        </p:txBody>
      </p:sp>
      <p:sp>
        <p:nvSpPr>
          <p:cNvPr id="19" name="TextBox 18"/>
          <p:cNvSpPr txBox="1"/>
          <p:nvPr/>
        </p:nvSpPr>
        <p:spPr>
          <a:xfrm>
            <a:off x="475488" y="3986783"/>
            <a:ext cx="4937760" cy="256032"/>
          </a:xfrm>
          <a:prstGeom prst="rect">
            <a:avLst/>
          </a:prstGeom>
          <a:noFill/>
        </p:spPr>
        <p:txBody>
          <a:bodyPr wrap="square">
            <a:spAutoFit/>
          </a:bodyPr>
          <a:lstStyle/>
          <a:p>
            <a:pPr algn="l"/>
            <a:r>
              <a:rPr sz="900" b="1" i="0">
                <a:solidFill>
                  <a:srgbClr val="1D9E75"/>
                </a:solidFill>
                <a:latin typeface="Calibri"/>
              </a:rPr>
              <a:t>→  Zapier vs n8n, testing AI classifiers, iterating HubSpot fields — YES</a:t>
            </a:r>
          </a:p>
        </p:txBody>
      </p:sp>
      <p:sp>
        <p:nvSpPr>
          <p:cNvPr id="20" name="Rectangle 19"/>
          <p:cNvSpPr/>
          <p:nvPr/>
        </p:nvSpPr>
        <p:spPr>
          <a:xfrm>
            <a:off x="384048" y="4389120"/>
            <a:ext cx="5120640" cy="822960"/>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443983"/>
            <a:ext cx="4937760" cy="237744"/>
          </a:xfrm>
          <a:prstGeom prst="rect">
            <a:avLst/>
          </a:prstGeom>
          <a:noFill/>
        </p:spPr>
        <p:txBody>
          <a:bodyPr wrap="square">
            <a:spAutoFit/>
          </a:bodyPr>
          <a:lstStyle/>
          <a:p>
            <a:pPr algn="l"/>
            <a:r>
              <a:rPr sz="1000" b="1" i="0">
                <a:solidFill>
                  <a:srgbClr val="534AB7"/>
                </a:solidFill>
                <a:latin typeface="Calibri"/>
              </a:rPr>
              <a:t>4. Technological in Nature</a:t>
            </a:r>
          </a:p>
        </p:txBody>
      </p:sp>
      <p:sp>
        <p:nvSpPr>
          <p:cNvPr id="22" name="TextBox 21"/>
          <p:cNvSpPr txBox="1"/>
          <p:nvPr/>
        </p:nvSpPr>
        <p:spPr>
          <a:xfrm>
            <a:off x="475488" y="4663440"/>
            <a:ext cx="4937760" cy="219456"/>
          </a:xfrm>
          <a:prstGeom prst="rect">
            <a:avLst/>
          </a:prstGeom>
          <a:noFill/>
        </p:spPr>
        <p:txBody>
          <a:bodyPr wrap="square">
            <a:spAutoFit/>
          </a:bodyPr>
          <a:lstStyle/>
          <a:p>
            <a:pPr algn="l"/>
            <a:r>
              <a:rPr sz="900" b="0" i="0">
                <a:solidFill>
                  <a:srgbClr val="CCCCD8"/>
                </a:solidFill>
                <a:latin typeface="Calibri"/>
              </a:rPr>
              <a:t>Must rely on computer science, engineering, or physical science</a:t>
            </a:r>
          </a:p>
        </p:txBody>
      </p:sp>
      <p:sp>
        <p:nvSpPr>
          <p:cNvPr id="23" name="TextBox 22"/>
          <p:cNvSpPr txBox="1"/>
          <p:nvPr/>
        </p:nvSpPr>
        <p:spPr>
          <a:xfrm>
            <a:off x="475488" y="4882896"/>
            <a:ext cx="4937760" cy="256032"/>
          </a:xfrm>
          <a:prstGeom prst="rect">
            <a:avLst/>
          </a:prstGeom>
          <a:noFill/>
        </p:spPr>
        <p:txBody>
          <a:bodyPr wrap="square">
            <a:spAutoFit/>
          </a:bodyPr>
          <a:lstStyle/>
          <a:p>
            <a:pPr algn="l"/>
            <a:r>
              <a:rPr sz="900" b="1" i="0">
                <a:solidFill>
                  <a:srgbClr val="1D9E75"/>
                </a:solidFill>
                <a:latin typeface="Calibri"/>
              </a:rPr>
              <a:t>→  Software development + AI workflow design = computer science — YES</a:t>
            </a:r>
          </a:p>
        </p:txBody>
      </p:sp>
      <p:sp>
        <p:nvSpPr>
          <p:cNvPr id="24" name="Rectangle 23"/>
          <p:cNvSpPr/>
          <p:nvPr/>
        </p:nvSpPr>
        <p:spPr>
          <a:xfrm>
            <a:off x="274320" y="6336792"/>
            <a:ext cx="5349240" cy="384048"/>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6373368"/>
            <a:ext cx="5166360" cy="292608"/>
          </a:xfrm>
          <a:prstGeom prst="rect">
            <a:avLst/>
          </a:prstGeom>
          <a:noFill/>
        </p:spPr>
        <p:txBody>
          <a:bodyPr wrap="square">
            <a:spAutoFit/>
          </a:bodyPr>
          <a:lstStyle/>
          <a:p>
            <a:pPr algn="l"/>
            <a:r>
              <a:rPr sz="900" b="0" i="0">
                <a:solidFill>
                  <a:srgbClr val="FFFFFF"/>
                </a:solidFill>
                <a:latin typeface="Calibri"/>
              </a:rPr>
              <a:t>Washington State R&amp;D credit expired 2014. Federal IRC §41 is permanent and fully applies.</a:t>
            </a:r>
          </a:p>
        </p:txBody>
      </p:sp>
      <p:sp>
        <p:nvSpPr>
          <p:cNvPr id="26" name="Rectangle 25"/>
          <p:cNvSpPr/>
          <p:nvPr/>
        </p:nvSpPr>
        <p:spPr>
          <a:xfrm>
            <a:off x="5824728" y="804672"/>
            <a:ext cx="3273552" cy="54681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07608" y="896112"/>
            <a:ext cx="3017520" cy="347472"/>
          </a:xfrm>
          <a:prstGeom prst="rect">
            <a:avLst/>
          </a:prstGeom>
          <a:noFill/>
        </p:spPr>
        <p:txBody>
          <a:bodyPr wrap="square">
            <a:spAutoFit/>
          </a:bodyPr>
          <a:lstStyle/>
          <a:p>
            <a:pPr algn="l"/>
            <a:r>
              <a:rPr sz="1300" b="1" i="0">
                <a:solidFill>
                  <a:srgbClr val="FFFFFF"/>
                </a:solidFill>
                <a:latin typeface="Calibri"/>
              </a:rPr>
              <a:t>Qualified Research Expenses</a:t>
            </a:r>
          </a:p>
        </p:txBody>
      </p:sp>
      <p:sp>
        <p:nvSpPr>
          <p:cNvPr id="28" name="TextBox 27"/>
          <p:cNvSpPr txBox="1"/>
          <p:nvPr/>
        </p:nvSpPr>
        <p:spPr>
          <a:xfrm>
            <a:off x="6007608" y="1280160"/>
            <a:ext cx="3017520" cy="274320"/>
          </a:xfrm>
          <a:prstGeom prst="rect">
            <a:avLst/>
          </a:prstGeom>
          <a:noFill/>
        </p:spPr>
        <p:txBody>
          <a:bodyPr wrap="square">
            <a:spAutoFit/>
          </a:bodyPr>
          <a:lstStyle/>
          <a:p>
            <a:pPr algn="l"/>
            <a:r>
              <a:rPr sz="950" b="0" i="1">
                <a:solidFill>
                  <a:srgbClr val="CCCCD8"/>
                </a:solidFill>
                <a:latin typeface="Calibri"/>
              </a:rPr>
              <a:t>Year 1 estimate (Michael $80K salary):</a:t>
            </a:r>
          </a:p>
        </p:txBody>
      </p:sp>
      <p:sp>
        <p:nvSpPr>
          <p:cNvPr id="29" name="Rectangle 28"/>
          <p:cNvSpPr/>
          <p:nvPr/>
        </p:nvSpPr>
        <p:spPr>
          <a:xfrm>
            <a:off x="5916168" y="1682496"/>
            <a:ext cx="3072384" cy="43891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07608" y="1764792"/>
            <a:ext cx="1645920" cy="274320"/>
          </a:xfrm>
          <a:prstGeom prst="rect">
            <a:avLst/>
          </a:prstGeom>
          <a:noFill/>
        </p:spPr>
        <p:txBody>
          <a:bodyPr wrap="square">
            <a:spAutoFit/>
          </a:bodyPr>
          <a:lstStyle/>
          <a:p>
            <a:pPr algn="l"/>
            <a:r>
              <a:rPr sz="900" b="0" i="0">
                <a:solidFill>
                  <a:srgbClr val="CCCCD8"/>
                </a:solidFill>
                <a:latin typeface="Calibri"/>
              </a:rPr>
              <a:t>Michael's wages</a:t>
            </a:r>
          </a:p>
        </p:txBody>
      </p:sp>
      <p:sp>
        <p:nvSpPr>
          <p:cNvPr id="31" name="TextBox 30"/>
          <p:cNvSpPr txBox="1"/>
          <p:nvPr/>
        </p:nvSpPr>
        <p:spPr>
          <a:xfrm>
            <a:off x="7699248" y="1764792"/>
            <a:ext cx="640080" cy="274320"/>
          </a:xfrm>
          <a:prstGeom prst="rect">
            <a:avLst/>
          </a:prstGeom>
          <a:noFill/>
        </p:spPr>
        <p:txBody>
          <a:bodyPr wrap="square">
            <a:spAutoFit/>
          </a:bodyPr>
          <a:lstStyle/>
          <a:p>
            <a:pPr algn="ctr"/>
            <a:r>
              <a:rPr sz="850" b="0" i="0">
                <a:solidFill>
                  <a:srgbClr val="666677"/>
                </a:solidFill>
                <a:latin typeface="Calibri"/>
              </a:rPr>
              <a:t>×80% qualifying</a:t>
            </a:r>
          </a:p>
        </p:txBody>
      </p:sp>
      <p:sp>
        <p:nvSpPr>
          <p:cNvPr id="32" name="TextBox 31"/>
          <p:cNvSpPr txBox="1"/>
          <p:nvPr/>
        </p:nvSpPr>
        <p:spPr>
          <a:xfrm>
            <a:off x="8394192" y="1764792"/>
            <a:ext cx="502920" cy="274320"/>
          </a:xfrm>
          <a:prstGeom prst="rect">
            <a:avLst/>
          </a:prstGeom>
          <a:noFill/>
        </p:spPr>
        <p:txBody>
          <a:bodyPr wrap="square">
            <a:spAutoFit/>
          </a:bodyPr>
          <a:lstStyle/>
          <a:p>
            <a:pPr algn="r"/>
            <a:r>
              <a:rPr sz="900" b="0" i="0">
                <a:solidFill>
                  <a:srgbClr val="1D9E75"/>
                </a:solidFill>
                <a:latin typeface="Calibri"/>
              </a:rPr>
              <a:t>$64,000</a:t>
            </a:r>
          </a:p>
        </p:txBody>
      </p:sp>
      <p:sp>
        <p:nvSpPr>
          <p:cNvPr id="33" name="Rectangle 32"/>
          <p:cNvSpPr/>
          <p:nvPr/>
        </p:nvSpPr>
        <p:spPr>
          <a:xfrm>
            <a:off x="5916168" y="2157984"/>
            <a:ext cx="3072384" cy="4389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007608" y="2240280"/>
            <a:ext cx="1645920" cy="274320"/>
          </a:xfrm>
          <a:prstGeom prst="rect">
            <a:avLst/>
          </a:prstGeom>
          <a:noFill/>
        </p:spPr>
        <p:txBody>
          <a:bodyPr wrap="square">
            <a:spAutoFit/>
          </a:bodyPr>
          <a:lstStyle/>
          <a:p>
            <a:pPr algn="l"/>
            <a:r>
              <a:rPr sz="900" b="0" i="0">
                <a:solidFill>
                  <a:srgbClr val="CCCCD8"/>
                </a:solidFill>
                <a:latin typeface="Calibri"/>
              </a:rPr>
              <a:t>Cloud infra (Vercel+Supa)</a:t>
            </a:r>
          </a:p>
        </p:txBody>
      </p:sp>
      <p:sp>
        <p:nvSpPr>
          <p:cNvPr id="35" name="TextBox 34"/>
          <p:cNvSpPr txBox="1"/>
          <p:nvPr/>
        </p:nvSpPr>
        <p:spPr>
          <a:xfrm>
            <a:off x="7699248" y="2240280"/>
            <a:ext cx="640080" cy="274320"/>
          </a:xfrm>
          <a:prstGeom prst="rect">
            <a:avLst/>
          </a:prstGeom>
          <a:noFill/>
        </p:spPr>
        <p:txBody>
          <a:bodyPr wrap="square">
            <a:spAutoFit/>
          </a:bodyPr>
          <a:lstStyle/>
          <a:p>
            <a:pPr algn="ctr"/>
            <a:r>
              <a:rPr sz="850" b="0" i="0">
                <a:solidFill>
                  <a:srgbClr val="666677"/>
                </a:solidFill>
                <a:latin typeface="Calibri"/>
              </a:rPr>
              <a:t>×100%</a:t>
            </a:r>
          </a:p>
        </p:txBody>
      </p:sp>
      <p:sp>
        <p:nvSpPr>
          <p:cNvPr id="36" name="TextBox 35"/>
          <p:cNvSpPr txBox="1"/>
          <p:nvPr/>
        </p:nvSpPr>
        <p:spPr>
          <a:xfrm>
            <a:off x="8394192" y="2240280"/>
            <a:ext cx="502920" cy="274320"/>
          </a:xfrm>
          <a:prstGeom prst="rect">
            <a:avLst/>
          </a:prstGeom>
          <a:noFill/>
        </p:spPr>
        <p:txBody>
          <a:bodyPr wrap="square">
            <a:spAutoFit/>
          </a:bodyPr>
          <a:lstStyle/>
          <a:p>
            <a:pPr algn="r"/>
            <a:r>
              <a:rPr sz="900" b="0" i="0">
                <a:solidFill>
                  <a:srgbClr val="1D9E75"/>
                </a:solidFill>
                <a:latin typeface="Calibri"/>
              </a:rPr>
              <a:t>$1,620</a:t>
            </a:r>
          </a:p>
        </p:txBody>
      </p:sp>
      <p:sp>
        <p:nvSpPr>
          <p:cNvPr id="37" name="Rectangle 36"/>
          <p:cNvSpPr/>
          <p:nvPr/>
        </p:nvSpPr>
        <p:spPr>
          <a:xfrm>
            <a:off x="5916168" y="2633472"/>
            <a:ext cx="3072384" cy="43891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007608" y="2715768"/>
            <a:ext cx="1645920" cy="274320"/>
          </a:xfrm>
          <a:prstGeom prst="rect">
            <a:avLst/>
          </a:prstGeom>
          <a:noFill/>
        </p:spPr>
        <p:txBody>
          <a:bodyPr wrap="square">
            <a:spAutoFit/>
          </a:bodyPr>
          <a:lstStyle/>
          <a:p>
            <a:pPr algn="l"/>
            <a:r>
              <a:rPr sz="900" b="0" i="0">
                <a:solidFill>
                  <a:srgbClr val="CCCCD8"/>
                </a:solidFill>
                <a:latin typeface="Calibri"/>
              </a:rPr>
              <a:t>AI API costs</a:t>
            </a:r>
          </a:p>
        </p:txBody>
      </p:sp>
      <p:sp>
        <p:nvSpPr>
          <p:cNvPr id="39" name="TextBox 38"/>
          <p:cNvSpPr txBox="1"/>
          <p:nvPr/>
        </p:nvSpPr>
        <p:spPr>
          <a:xfrm>
            <a:off x="7699248" y="2715768"/>
            <a:ext cx="640080" cy="274320"/>
          </a:xfrm>
          <a:prstGeom prst="rect">
            <a:avLst/>
          </a:prstGeom>
          <a:noFill/>
        </p:spPr>
        <p:txBody>
          <a:bodyPr wrap="square">
            <a:spAutoFit/>
          </a:bodyPr>
          <a:lstStyle/>
          <a:p>
            <a:pPr algn="ctr"/>
            <a:r>
              <a:rPr sz="850" b="0" i="0">
                <a:solidFill>
                  <a:srgbClr val="666677"/>
                </a:solidFill>
                <a:latin typeface="Calibri"/>
              </a:rPr>
              <a:t>×100%</a:t>
            </a:r>
          </a:p>
        </p:txBody>
      </p:sp>
      <p:sp>
        <p:nvSpPr>
          <p:cNvPr id="40" name="TextBox 39"/>
          <p:cNvSpPr txBox="1"/>
          <p:nvPr/>
        </p:nvSpPr>
        <p:spPr>
          <a:xfrm>
            <a:off x="8394192" y="2715768"/>
            <a:ext cx="502920" cy="274320"/>
          </a:xfrm>
          <a:prstGeom prst="rect">
            <a:avLst/>
          </a:prstGeom>
          <a:noFill/>
        </p:spPr>
        <p:txBody>
          <a:bodyPr wrap="square">
            <a:spAutoFit/>
          </a:bodyPr>
          <a:lstStyle/>
          <a:p>
            <a:pPr algn="r"/>
            <a:r>
              <a:rPr sz="900" b="0" i="0">
                <a:solidFill>
                  <a:srgbClr val="1D9E75"/>
                </a:solidFill>
                <a:latin typeface="Calibri"/>
              </a:rPr>
              <a:t>$360</a:t>
            </a:r>
          </a:p>
        </p:txBody>
      </p:sp>
      <p:sp>
        <p:nvSpPr>
          <p:cNvPr id="41" name="Rectangle 40"/>
          <p:cNvSpPr/>
          <p:nvPr/>
        </p:nvSpPr>
        <p:spPr>
          <a:xfrm>
            <a:off x="5916168" y="3108960"/>
            <a:ext cx="3072384" cy="43891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07608" y="3191256"/>
            <a:ext cx="1645920" cy="274320"/>
          </a:xfrm>
          <a:prstGeom prst="rect">
            <a:avLst/>
          </a:prstGeom>
          <a:noFill/>
        </p:spPr>
        <p:txBody>
          <a:bodyPr wrap="square">
            <a:spAutoFit/>
          </a:bodyPr>
          <a:lstStyle/>
          <a:p>
            <a:pPr algn="l"/>
            <a:r>
              <a:rPr sz="900" b="0" i="0">
                <a:solidFill>
                  <a:srgbClr val="CCCCD8"/>
                </a:solidFill>
                <a:latin typeface="Calibri"/>
              </a:rPr>
              <a:t>Contract dev work</a:t>
            </a:r>
          </a:p>
        </p:txBody>
      </p:sp>
      <p:sp>
        <p:nvSpPr>
          <p:cNvPr id="43" name="TextBox 42"/>
          <p:cNvSpPr txBox="1"/>
          <p:nvPr/>
        </p:nvSpPr>
        <p:spPr>
          <a:xfrm>
            <a:off x="7699248" y="3191256"/>
            <a:ext cx="640080" cy="274320"/>
          </a:xfrm>
          <a:prstGeom prst="rect">
            <a:avLst/>
          </a:prstGeom>
          <a:noFill/>
        </p:spPr>
        <p:txBody>
          <a:bodyPr wrap="square">
            <a:spAutoFit/>
          </a:bodyPr>
          <a:lstStyle/>
          <a:p>
            <a:pPr algn="ctr"/>
            <a:r>
              <a:rPr sz="850" b="0" i="0">
                <a:solidFill>
                  <a:srgbClr val="666677"/>
                </a:solidFill>
                <a:latin typeface="Calibri"/>
              </a:rPr>
              <a:t>×65%</a:t>
            </a:r>
          </a:p>
        </p:txBody>
      </p:sp>
      <p:sp>
        <p:nvSpPr>
          <p:cNvPr id="44" name="TextBox 43"/>
          <p:cNvSpPr txBox="1"/>
          <p:nvPr/>
        </p:nvSpPr>
        <p:spPr>
          <a:xfrm>
            <a:off x="8394192" y="3191256"/>
            <a:ext cx="502920" cy="274320"/>
          </a:xfrm>
          <a:prstGeom prst="rect">
            <a:avLst/>
          </a:prstGeom>
          <a:noFill/>
        </p:spPr>
        <p:txBody>
          <a:bodyPr wrap="square">
            <a:spAutoFit/>
          </a:bodyPr>
          <a:lstStyle/>
          <a:p>
            <a:pPr algn="r"/>
            <a:r>
              <a:rPr sz="900" b="0" i="0">
                <a:solidFill>
                  <a:srgbClr val="1D9E75"/>
                </a:solidFill>
                <a:latin typeface="Calibri"/>
              </a:rPr>
              <a:t>$0</a:t>
            </a:r>
          </a:p>
        </p:txBody>
      </p:sp>
      <p:sp>
        <p:nvSpPr>
          <p:cNvPr id="45" name="Rectangle 44"/>
          <p:cNvSpPr/>
          <p:nvPr/>
        </p:nvSpPr>
        <p:spPr>
          <a:xfrm>
            <a:off x="5916168" y="3584448"/>
            <a:ext cx="3072384" cy="438912"/>
          </a:xfrm>
          <a:prstGeom prst="rect">
            <a:avLst/>
          </a:prstGeom>
          <a:solidFill>
            <a:srgbClr val="352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007608" y="3666744"/>
            <a:ext cx="1645920" cy="274320"/>
          </a:xfrm>
          <a:prstGeom prst="rect">
            <a:avLst/>
          </a:prstGeom>
          <a:noFill/>
        </p:spPr>
        <p:txBody>
          <a:bodyPr wrap="square">
            <a:spAutoFit/>
          </a:bodyPr>
          <a:lstStyle/>
          <a:p>
            <a:pPr algn="l"/>
            <a:r>
              <a:rPr sz="900" b="1" i="0">
                <a:solidFill>
                  <a:srgbClr val="FFFFFF"/>
                </a:solidFill>
                <a:latin typeface="Calibri"/>
              </a:rPr>
              <a:t>Total QREs</a:t>
            </a:r>
          </a:p>
        </p:txBody>
      </p:sp>
      <p:sp>
        <p:nvSpPr>
          <p:cNvPr id="47" name="TextBox 46"/>
          <p:cNvSpPr txBox="1"/>
          <p:nvPr/>
        </p:nvSpPr>
        <p:spPr>
          <a:xfrm>
            <a:off x="7699248" y="3666744"/>
            <a:ext cx="640080" cy="274320"/>
          </a:xfrm>
          <a:prstGeom prst="rect">
            <a:avLst/>
          </a:prstGeom>
          <a:noFill/>
        </p:spPr>
        <p:txBody>
          <a:bodyPr wrap="square">
            <a:spAutoFit/>
          </a:bodyPr>
          <a:lstStyle/>
          <a:p>
            <a:pPr algn="ctr"/>
            <a:r>
              <a:rPr sz="850" b="0" i="0">
                <a:solidFill>
                  <a:srgbClr val="666677"/>
                </a:solidFill>
                <a:latin typeface="Calibri"/>
              </a:rPr>
              <a:t/>
            </a:r>
          </a:p>
        </p:txBody>
      </p:sp>
      <p:sp>
        <p:nvSpPr>
          <p:cNvPr id="48" name="TextBox 47"/>
          <p:cNvSpPr txBox="1"/>
          <p:nvPr/>
        </p:nvSpPr>
        <p:spPr>
          <a:xfrm>
            <a:off x="8394192" y="3666744"/>
            <a:ext cx="502920" cy="274320"/>
          </a:xfrm>
          <a:prstGeom prst="rect">
            <a:avLst/>
          </a:prstGeom>
          <a:noFill/>
        </p:spPr>
        <p:txBody>
          <a:bodyPr wrap="square">
            <a:spAutoFit/>
          </a:bodyPr>
          <a:lstStyle/>
          <a:p>
            <a:pPr algn="r"/>
            <a:r>
              <a:rPr sz="900" b="1" i="0">
                <a:solidFill>
                  <a:srgbClr val="1D9E75"/>
                </a:solidFill>
                <a:latin typeface="Calibri"/>
              </a:rPr>
              <a:t>$65,980</a:t>
            </a:r>
          </a:p>
        </p:txBody>
      </p:sp>
      <p:sp>
        <p:nvSpPr>
          <p:cNvPr id="49" name="Rectangle 48"/>
          <p:cNvSpPr/>
          <p:nvPr/>
        </p:nvSpPr>
        <p:spPr>
          <a:xfrm>
            <a:off x="5916168" y="4151376"/>
            <a:ext cx="3072384" cy="126187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007608" y="4224528"/>
            <a:ext cx="2926080" cy="256032"/>
          </a:xfrm>
          <a:prstGeom prst="rect">
            <a:avLst/>
          </a:prstGeom>
          <a:noFill/>
        </p:spPr>
        <p:txBody>
          <a:bodyPr wrap="square">
            <a:spAutoFit/>
          </a:bodyPr>
          <a:lstStyle/>
          <a:p>
            <a:pPr algn="l"/>
            <a:r>
              <a:rPr sz="950" b="1" i="0">
                <a:solidFill>
                  <a:srgbClr val="534AB7"/>
                </a:solidFill>
                <a:latin typeface="Calibri"/>
              </a:rPr>
              <a:t>ASC Method (Year 1 — no prior QREs)</a:t>
            </a:r>
          </a:p>
        </p:txBody>
      </p:sp>
      <p:sp>
        <p:nvSpPr>
          <p:cNvPr id="51" name="TextBox 50"/>
          <p:cNvSpPr txBox="1"/>
          <p:nvPr/>
        </p:nvSpPr>
        <p:spPr>
          <a:xfrm>
            <a:off x="6007608" y="4480560"/>
            <a:ext cx="2926080" cy="411480"/>
          </a:xfrm>
          <a:prstGeom prst="rect">
            <a:avLst/>
          </a:prstGeom>
          <a:noFill/>
        </p:spPr>
        <p:txBody>
          <a:bodyPr wrap="square">
            <a:spAutoFit/>
          </a:bodyPr>
          <a:lstStyle/>
          <a:p>
            <a:pPr algn="l"/>
            <a:r>
              <a:rPr sz="900" b="0" i="0">
                <a:solidFill>
                  <a:srgbClr val="CCCCD8"/>
                </a:solidFill>
                <a:latin typeface="Calibri"/>
              </a:rPr>
              <a:t>No prior 3-year QRE history → startup rate applies
6% flat × $65,980 total QREs</a:t>
            </a:r>
          </a:p>
        </p:txBody>
      </p:sp>
      <p:sp>
        <p:nvSpPr>
          <p:cNvPr id="52" name="TextBox 51"/>
          <p:cNvSpPr txBox="1"/>
          <p:nvPr/>
        </p:nvSpPr>
        <p:spPr>
          <a:xfrm>
            <a:off x="6007608" y="4901184"/>
            <a:ext cx="2926080" cy="347472"/>
          </a:xfrm>
          <a:prstGeom prst="rect">
            <a:avLst/>
          </a:prstGeom>
          <a:noFill/>
        </p:spPr>
        <p:txBody>
          <a:bodyPr wrap="square">
            <a:spAutoFit/>
          </a:bodyPr>
          <a:lstStyle/>
          <a:p>
            <a:pPr algn="l"/>
            <a:r>
              <a:rPr sz="1300" b="1" i="0">
                <a:solidFill>
                  <a:srgbClr val="1D9E75"/>
                </a:solidFill>
                <a:latin typeface="Calibri"/>
              </a:rPr>
              <a:t>= ~$3,959 credit</a:t>
            </a:r>
          </a:p>
        </p:txBody>
      </p:sp>
      <p:sp>
        <p:nvSpPr>
          <p:cNvPr id="53" name="Rectangle 52"/>
          <p:cNvSpPr/>
          <p:nvPr/>
        </p:nvSpPr>
        <p:spPr>
          <a:xfrm>
            <a:off x="5824728" y="6336792"/>
            <a:ext cx="3273552" cy="384048"/>
          </a:xfrm>
          <a:prstGeom prst="rect">
            <a:avLst/>
          </a:prstGeom>
          <a:solidFill>
            <a:srgbClr val="2A2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61888" y="6373368"/>
            <a:ext cx="3063240" cy="292608"/>
          </a:xfrm>
          <a:prstGeom prst="rect">
            <a:avLst/>
          </a:prstGeom>
          <a:noFill/>
        </p:spPr>
        <p:txBody>
          <a:bodyPr wrap="square">
            <a:spAutoFit/>
          </a:bodyPr>
          <a:lstStyle/>
          <a:p>
            <a:pPr algn="l"/>
            <a:r>
              <a:rPr sz="900" b="0" i="0">
                <a:solidFill>
                  <a:srgbClr val="FFFFFF"/>
                </a:solidFill>
                <a:latin typeface="Calibri"/>
              </a:rPr>
              <a:t>Year 2+: 14% of excess over 50% avg → credit grows</a:t>
            </a:r>
          </a:p>
        </p:txBody>
      </p:sp>
      <p:sp>
        <p:nvSpPr>
          <p:cNvPr id="55" name="Rectangle 54"/>
          <p:cNvSpPr/>
          <p:nvPr/>
        </p:nvSpPr>
        <p:spPr>
          <a:xfrm>
            <a:off x="9299448" y="804672"/>
            <a:ext cx="2615184" cy="2633472"/>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482328" y="896112"/>
            <a:ext cx="2340864" cy="347472"/>
          </a:xfrm>
          <a:prstGeom prst="rect">
            <a:avLst/>
          </a:prstGeom>
          <a:noFill/>
        </p:spPr>
        <p:txBody>
          <a:bodyPr wrap="square">
            <a:spAutoFit/>
          </a:bodyPr>
          <a:lstStyle/>
          <a:p>
            <a:pPr algn="l"/>
            <a:r>
              <a:rPr sz="1200" b="1" i="0">
                <a:solidFill>
                  <a:srgbClr val="FFFFFF"/>
                </a:solidFill>
                <a:latin typeface="Calibri"/>
              </a:rPr>
              <a:t>3-Year Credit Projection</a:t>
            </a:r>
          </a:p>
        </p:txBody>
      </p:sp>
      <p:sp>
        <p:nvSpPr>
          <p:cNvPr id="57" name="Rectangle 56"/>
          <p:cNvSpPr/>
          <p:nvPr/>
        </p:nvSpPr>
        <p:spPr>
          <a:xfrm>
            <a:off x="9390888" y="1335024"/>
            <a:ext cx="2414016" cy="43891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482328" y="1389888"/>
            <a:ext cx="1188720" cy="256032"/>
          </a:xfrm>
          <a:prstGeom prst="rect">
            <a:avLst/>
          </a:prstGeom>
          <a:noFill/>
        </p:spPr>
        <p:txBody>
          <a:bodyPr wrap="square">
            <a:spAutoFit/>
          </a:bodyPr>
          <a:lstStyle/>
          <a:p>
            <a:pPr algn="l"/>
            <a:r>
              <a:rPr sz="900" b="0" i="0">
                <a:solidFill>
                  <a:srgbClr val="FFFFFF"/>
                </a:solidFill>
                <a:latin typeface="Calibri"/>
              </a:rPr>
              <a:t>Year 1 (2026)</a:t>
            </a:r>
          </a:p>
        </p:txBody>
      </p:sp>
      <p:sp>
        <p:nvSpPr>
          <p:cNvPr id="59" name="TextBox 58"/>
          <p:cNvSpPr txBox="1"/>
          <p:nvPr/>
        </p:nvSpPr>
        <p:spPr>
          <a:xfrm>
            <a:off x="10716768" y="1389888"/>
            <a:ext cx="1005840" cy="256032"/>
          </a:xfrm>
          <a:prstGeom prst="rect">
            <a:avLst/>
          </a:prstGeom>
          <a:noFill/>
        </p:spPr>
        <p:txBody>
          <a:bodyPr wrap="square">
            <a:spAutoFit/>
          </a:bodyPr>
          <a:lstStyle/>
          <a:p>
            <a:pPr algn="r"/>
            <a:r>
              <a:rPr sz="900" b="1" i="0">
                <a:solidFill>
                  <a:srgbClr val="1D9E75"/>
                </a:solidFill>
                <a:latin typeface="Calibri"/>
              </a:rPr>
              <a:t>~$3,959</a:t>
            </a:r>
          </a:p>
        </p:txBody>
      </p:sp>
      <p:sp>
        <p:nvSpPr>
          <p:cNvPr id="60" name="TextBox 59"/>
          <p:cNvSpPr txBox="1"/>
          <p:nvPr/>
        </p:nvSpPr>
        <p:spPr>
          <a:xfrm>
            <a:off x="9482328" y="1609344"/>
            <a:ext cx="2231136" cy="146304"/>
          </a:xfrm>
          <a:prstGeom prst="rect">
            <a:avLst/>
          </a:prstGeom>
          <a:noFill/>
        </p:spPr>
        <p:txBody>
          <a:bodyPr wrap="square">
            <a:spAutoFit/>
          </a:bodyPr>
          <a:lstStyle/>
          <a:p>
            <a:pPr algn="l"/>
            <a:r>
              <a:rPr sz="750" b="0" i="0">
                <a:solidFill>
                  <a:srgbClr val="666677"/>
                </a:solidFill>
                <a:latin typeface="Calibri"/>
              </a:rPr>
              <a:t>6% flat — no prior QREs</a:t>
            </a:r>
          </a:p>
        </p:txBody>
      </p:sp>
      <p:sp>
        <p:nvSpPr>
          <p:cNvPr id="61" name="Rectangle 60"/>
          <p:cNvSpPr/>
          <p:nvPr/>
        </p:nvSpPr>
        <p:spPr>
          <a:xfrm>
            <a:off x="9390888" y="1828800"/>
            <a:ext cx="2414016" cy="43891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482328" y="1883664"/>
            <a:ext cx="1188720" cy="256032"/>
          </a:xfrm>
          <a:prstGeom prst="rect">
            <a:avLst/>
          </a:prstGeom>
          <a:noFill/>
        </p:spPr>
        <p:txBody>
          <a:bodyPr wrap="square">
            <a:spAutoFit/>
          </a:bodyPr>
          <a:lstStyle/>
          <a:p>
            <a:pPr algn="l"/>
            <a:r>
              <a:rPr sz="900" b="0" i="0">
                <a:solidFill>
                  <a:srgbClr val="FFFFFF"/>
                </a:solidFill>
                <a:latin typeface="Calibri"/>
              </a:rPr>
              <a:t>Year 2 (2027)</a:t>
            </a:r>
          </a:p>
        </p:txBody>
      </p:sp>
      <p:sp>
        <p:nvSpPr>
          <p:cNvPr id="63" name="TextBox 62"/>
          <p:cNvSpPr txBox="1"/>
          <p:nvPr/>
        </p:nvSpPr>
        <p:spPr>
          <a:xfrm>
            <a:off x="10716768" y="1883664"/>
            <a:ext cx="1005840" cy="256032"/>
          </a:xfrm>
          <a:prstGeom prst="rect">
            <a:avLst/>
          </a:prstGeom>
          <a:noFill/>
        </p:spPr>
        <p:txBody>
          <a:bodyPr wrap="square">
            <a:spAutoFit/>
          </a:bodyPr>
          <a:lstStyle/>
          <a:p>
            <a:pPr algn="r"/>
            <a:r>
              <a:rPr sz="900" b="1" i="0">
                <a:solidFill>
                  <a:srgbClr val="1D9E75"/>
                </a:solidFill>
                <a:latin typeface="Calibri"/>
              </a:rPr>
              <a:t>~$5,800</a:t>
            </a:r>
          </a:p>
        </p:txBody>
      </p:sp>
      <p:sp>
        <p:nvSpPr>
          <p:cNvPr id="64" name="TextBox 63"/>
          <p:cNvSpPr txBox="1"/>
          <p:nvPr/>
        </p:nvSpPr>
        <p:spPr>
          <a:xfrm>
            <a:off x="9482328" y="2103120"/>
            <a:ext cx="2231136" cy="146304"/>
          </a:xfrm>
          <a:prstGeom prst="rect">
            <a:avLst/>
          </a:prstGeom>
          <a:noFill/>
        </p:spPr>
        <p:txBody>
          <a:bodyPr wrap="square">
            <a:spAutoFit/>
          </a:bodyPr>
          <a:lstStyle/>
          <a:p>
            <a:pPr algn="l"/>
            <a:r>
              <a:rPr sz="750" b="0" i="0">
                <a:solidFill>
                  <a:srgbClr val="666677"/>
                </a:solidFill>
                <a:latin typeface="Calibri"/>
              </a:rPr>
              <a:t>14% of excess — grows</a:t>
            </a:r>
          </a:p>
        </p:txBody>
      </p:sp>
      <p:sp>
        <p:nvSpPr>
          <p:cNvPr id="65" name="Rectangle 64"/>
          <p:cNvSpPr/>
          <p:nvPr/>
        </p:nvSpPr>
        <p:spPr>
          <a:xfrm>
            <a:off x="9390888" y="2322576"/>
            <a:ext cx="2414016" cy="438912"/>
          </a:xfrm>
          <a:prstGeom prst="rect">
            <a:avLst/>
          </a:prstGeom>
          <a:solidFill>
            <a:srgbClr val="2A2A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9482328" y="2377440"/>
            <a:ext cx="1188720" cy="256032"/>
          </a:xfrm>
          <a:prstGeom prst="rect">
            <a:avLst/>
          </a:prstGeom>
          <a:noFill/>
        </p:spPr>
        <p:txBody>
          <a:bodyPr wrap="square">
            <a:spAutoFit/>
          </a:bodyPr>
          <a:lstStyle/>
          <a:p>
            <a:pPr algn="l"/>
            <a:r>
              <a:rPr sz="900" b="0" i="0">
                <a:solidFill>
                  <a:srgbClr val="FFFFFF"/>
                </a:solidFill>
                <a:latin typeface="Calibri"/>
              </a:rPr>
              <a:t>Year 3 (2028)</a:t>
            </a:r>
          </a:p>
        </p:txBody>
      </p:sp>
      <p:sp>
        <p:nvSpPr>
          <p:cNvPr id="67" name="TextBox 66"/>
          <p:cNvSpPr txBox="1"/>
          <p:nvPr/>
        </p:nvSpPr>
        <p:spPr>
          <a:xfrm>
            <a:off x="10716768" y="2377440"/>
            <a:ext cx="1005840" cy="256032"/>
          </a:xfrm>
          <a:prstGeom prst="rect">
            <a:avLst/>
          </a:prstGeom>
          <a:noFill/>
        </p:spPr>
        <p:txBody>
          <a:bodyPr wrap="square">
            <a:spAutoFit/>
          </a:bodyPr>
          <a:lstStyle/>
          <a:p>
            <a:pPr algn="r"/>
            <a:r>
              <a:rPr sz="900" b="1" i="0">
                <a:solidFill>
                  <a:srgbClr val="1D9E75"/>
                </a:solidFill>
                <a:latin typeface="Calibri"/>
              </a:rPr>
              <a:t>~$7,200</a:t>
            </a:r>
          </a:p>
        </p:txBody>
      </p:sp>
      <p:sp>
        <p:nvSpPr>
          <p:cNvPr id="68" name="TextBox 67"/>
          <p:cNvSpPr txBox="1"/>
          <p:nvPr/>
        </p:nvSpPr>
        <p:spPr>
          <a:xfrm>
            <a:off x="9482328" y="2596896"/>
            <a:ext cx="2231136" cy="146304"/>
          </a:xfrm>
          <a:prstGeom prst="rect">
            <a:avLst/>
          </a:prstGeom>
          <a:noFill/>
        </p:spPr>
        <p:txBody>
          <a:bodyPr wrap="square">
            <a:spAutoFit/>
          </a:bodyPr>
          <a:lstStyle/>
          <a:p>
            <a:pPr algn="l"/>
            <a:r>
              <a:rPr sz="750" b="0" i="0">
                <a:solidFill>
                  <a:srgbClr val="666677"/>
                </a:solidFill>
                <a:latin typeface="Calibri"/>
              </a:rPr>
              <a:t>14%+ as QRE base expands</a:t>
            </a:r>
          </a:p>
        </p:txBody>
      </p:sp>
      <p:sp>
        <p:nvSpPr>
          <p:cNvPr id="69" name="Rectangle 68"/>
          <p:cNvSpPr/>
          <p:nvPr/>
        </p:nvSpPr>
        <p:spPr>
          <a:xfrm>
            <a:off x="9390888" y="2816352"/>
            <a:ext cx="2414016" cy="438912"/>
          </a:xfrm>
          <a:prstGeom prst="rect">
            <a:avLst/>
          </a:prstGeom>
          <a:solidFill>
            <a:srgbClr val="352E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482328" y="2871216"/>
            <a:ext cx="1188720" cy="256032"/>
          </a:xfrm>
          <a:prstGeom prst="rect">
            <a:avLst/>
          </a:prstGeom>
          <a:noFill/>
        </p:spPr>
        <p:txBody>
          <a:bodyPr wrap="square">
            <a:spAutoFit/>
          </a:bodyPr>
          <a:lstStyle/>
          <a:p>
            <a:pPr algn="l"/>
            <a:r>
              <a:rPr sz="900" b="1" i="0">
                <a:solidFill>
                  <a:srgbClr val="FFFFFF"/>
                </a:solidFill>
                <a:latin typeface="Calibri"/>
              </a:rPr>
              <a:t>3-yr total</a:t>
            </a:r>
          </a:p>
        </p:txBody>
      </p:sp>
      <p:sp>
        <p:nvSpPr>
          <p:cNvPr id="71" name="TextBox 70"/>
          <p:cNvSpPr txBox="1"/>
          <p:nvPr/>
        </p:nvSpPr>
        <p:spPr>
          <a:xfrm>
            <a:off x="10716768" y="2871216"/>
            <a:ext cx="1005840" cy="256032"/>
          </a:xfrm>
          <a:prstGeom prst="rect">
            <a:avLst/>
          </a:prstGeom>
          <a:noFill/>
        </p:spPr>
        <p:txBody>
          <a:bodyPr wrap="square">
            <a:spAutoFit/>
          </a:bodyPr>
          <a:lstStyle/>
          <a:p>
            <a:pPr algn="r"/>
            <a:r>
              <a:rPr sz="900" b="1" i="0">
                <a:solidFill>
                  <a:srgbClr val="1D9E75"/>
                </a:solidFill>
                <a:latin typeface="Calibri"/>
              </a:rPr>
              <a:t>~$16,959</a:t>
            </a:r>
          </a:p>
        </p:txBody>
      </p:sp>
      <p:sp>
        <p:nvSpPr>
          <p:cNvPr id="72" name="Rectangle 71"/>
          <p:cNvSpPr/>
          <p:nvPr/>
        </p:nvSpPr>
        <p:spPr>
          <a:xfrm>
            <a:off x="9299448" y="3602736"/>
            <a:ext cx="2615184" cy="2670048"/>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9482328" y="3694176"/>
            <a:ext cx="2340864" cy="347472"/>
          </a:xfrm>
          <a:prstGeom prst="rect">
            <a:avLst/>
          </a:prstGeom>
          <a:noFill/>
        </p:spPr>
        <p:txBody>
          <a:bodyPr wrap="square">
            <a:spAutoFit/>
          </a:bodyPr>
          <a:lstStyle/>
          <a:p>
            <a:pPr algn="l"/>
            <a:r>
              <a:rPr sz="1200" b="1" i="0">
                <a:solidFill>
                  <a:srgbClr val="FFFFFF"/>
                </a:solidFill>
                <a:latin typeface="Calibri"/>
              </a:rPr>
              <a:t>Payroll Tax Offset</a:t>
            </a:r>
          </a:p>
        </p:txBody>
      </p:sp>
      <p:sp>
        <p:nvSpPr>
          <p:cNvPr id="74" name="TextBox 73"/>
          <p:cNvSpPr txBox="1"/>
          <p:nvPr/>
        </p:nvSpPr>
        <p:spPr>
          <a:xfrm>
            <a:off x="9482328" y="4114800"/>
            <a:ext cx="2340864" cy="2011680"/>
          </a:xfrm>
          <a:prstGeom prst="rect">
            <a:avLst/>
          </a:prstGeom>
          <a:noFill/>
        </p:spPr>
        <p:txBody>
          <a:bodyPr wrap="square">
            <a:spAutoFit/>
          </a:bodyPr>
          <a:lstStyle/>
          <a:p>
            <a:pPr algn="l"/>
            <a:r>
              <a:rPr sz="950" b="0" i="0">
                <a:solidFill>
                  <a:srgbClr val="CCCCD8"/>
                </a:solidFill>
                <a:latin typeface="Calibri"/>
              </a:rPr>
              <a:t>If gross receipts &lt; $5M
AND &lt; 5 years revenue
history — credit applies
against payroll taxes
instead of income taxes.
Immediate cash. Even
if company is pre-profit.
Max: $500,000/yr
File on IRS Form 941.</a:t>
            </a:r>
          </a:p>
        </p:txBody>
      </p:sp>
      <p:sp>
        <p:nvSpPr>
          <p:cNvPr id="75" name="Rectangle 74"/>
          <p:cNvSpPr/>
          <p:nvPr/>
        </p:nvSpPr>
        <p:spPr>
          <a:xfrm>
            <a:off x="9299448" y="6336792"/>
            <a:ext cx="2615184" cy="384048"/>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9390888" y="6373368"/>
            <a:ext cx="2468880" cy="292608"/>
          </a:xfrm>
          <a:prstGeom prst="rect">
            <a:avLst/>
          </a:prstGeom>
          <a:noFill/>
        </p:spPr>
        <p:txBody>
          <a:bodyPr wrap="square">
            <a:spAutoFit/>
          </a:bodyPr>
          <a:lstStyle/>
          <a:p>
            <a:pPr algn="l"/>
            <a:r>
              <a:rPr sz="950" b="1" i="0">
                <a:solidFill>
                  <a:srgbClr val="FFFFFF"/>
                </a:solidFill>
                <a:latin typeface="Calibri"/>
              </a:rPr>
              <a:t>File Form 6765 annually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90-Day Delivery Plan — Three Tiers Running Simultaneously</a:t>
            </a:r>
          </a:p>
        </p:txBody>
      </p:sp>
      <p:sp>
        <p:nvSpPr>
          <p:cNvPr id="4" name="Rectangle 3"/>
          <p:cNvSpPr/>
          <p:nvPr/>
        </p:nvSpPr>
        <p:spPr>
          <a:xfrm>
            <a:off x="274320" y="804672"/>
            <a:ext cx="3822191" cy="5468112"/>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804672"/>
            <a:ext cx="3822191" cy="877824"/>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79" y="841248"/>
            <a:ext cx="3547872" cy="310896"/>
          </a:xfrm>
          <a:prstGeom prst="rect">
            <a:avLst/>
          </a:prstGeom>
          <a:noFill/>
        </p:spPr>
        <p:txBody>
          <a:bodyPr wrap="square">
            <a:spAutoFit/>
          </a:bodyPr>
          <a:lstStyle/>
          <a:p>
            <a:pPr algn="l"/>
            <a:r>
              <a:rPr sz="1300" b="1" i="0">
                <a:solidFill>
                  <a:srgbClr val="FFFFFF"/>
                </a:solidFill>
                <a:latin typeface="Calibri"/>
              </a:rPr>
              <a:t>Days 1–30</a:t>
            </a:r>
          </a:p>
        </p:txBody>
      </p:sp>
      <p:sp>
        <p:nvSpPr>
          <p:cNvPr id="7" name="TextBox 6"/>
          <p:cNvSpPr txBox="1"/>
          <p:nvPr/>
        </p:nvSpPr>
        <p:spPr>
          <a:xfrm>
            <a:off x="411479" y="1152144"/>
            <a:ext cx="3547872" cy="402336"/>
          </a:xfrm>
          <a:prstGeom prst="rect">
            <a:avLst/>
          </a:prstGeom>
          <a:noFill/>
        </p:spPr>
        <p:txBody>
          <a:bodyPr wrap="square">
            <a:spAutoFit/>
          </a:bodyPr>
          <a:lstStyle/>
          <a:p>
            <a:pPr algn="l"/>
            <a:r>
              <a:rPr sz="1100" b="0" i="0">
                <a:solidFill>
                  <a:srgbClr val="FFFFFF"/>
                </a:solidFill>
                <a:latin typeface="Calibri"/>
              </a:rPr>
              <a:t>Deploy Tier 1 + Shadow</a:t>
            </a:r>
          </a:p>
        </p:txBody>
      </p:sp>
      <p:sp>
        <p:nvSpPr>
          <p:cNvPr id="8" name="Rectangle 7"/>
          <p:cNvSpPr/>
          <p:nvPr/>
        </p:nvSpPr>
        <p:spPr>
          <a:xfrm>
            <a:off x="384048" y="179222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 y="1865376"/>
            <a:ext cx="3401568" cy="274320"/>
          </a:xfrm>
          <a:prstGeom prst="rect">
            <a:avLst/>
          </a:prstGeom>
          <a:noFill/>
        </p:spPr>
        <p:txBody>
          <a:bodyPr wrap="square">
            <a:spAutoFit/>
          </a:bodyPr>
          <a:lstStyle/>
          <a:p>
            <a:pPr algn="l"/>
            <a:r>
              <a:rPr sz="950" b="0" i="0">
                <a:solidFill>
                  <a:srgbClr val="1A1A2E"/>
                </a:solidFill>
                <a:latin typeface="Calibri"/>
              </a:rPr>
              <a:t>→  HubSpot Starter live — Day 1</a:t>
            </a:r>
          </a:p>
        </p:txBody>
      </p:sp>
      <p:sp>
        <p:nvSpPr>
          <p:cNvPr id="10" name="Rectangle 9"/>
          <p:cNvSpPr/>
          <p:nvPr/>
        </p:nvSpPr>
        <p:spPr>
          <a:xfrm>
            <a:off x="384048" y="226771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5488" y="2340864"/>
            <a:ext cx="3401568" cy="274320"/>
          </a:xfrm>
          <a:prstGeom prst="rect">
            <a:avLst/>
          </a:prstGeom>
          <a:noFill/>
        </p:spPr>
        <p:txBody>
          <a:bodyPr wrap="square">
            <a:spAutoFit/>
          </a:bodyPr>
          <a:lstStyle/>
          <a:p>
            <a:pPr algn="l"/>
            <a:r>
              <a:rPr sz="950" b="0" i="0">
                <a:solidFill>
                  <a:srgbClr val="1A1A2E"/>
                </a:solidFill>
                <a:latin typeface="Calibri"/>
              </a:rPr>
              <a:t>→  Fathom on every sales call — Week 1</a:t>
            </a:r>
          </a:p>
        </p:txBody>
      </p:sp>
      <p:sp>
        <p:nvSpPr>
          <p:cNvPr id="12" name="Rectangle 11"/>
          <p:cNvSpPr/>
          <p:nvPr/>
        </p:nvSpPr>
        <p:spPr>
          <a:xfrm>
            <a:off x="384048" y="274320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8" y="2816352"/>
            <a:ext cx="3401568" cy="274320"/>
          </a:xfrm>
          <a:prstGeom prst="rect">
            <a:avLst/>
          </a:prstGeom>
          <a:noFill/>
        </p:spPr>
        <p:txBody>
          <a:bodyPr wrap="square">
            <a:spAutoFit/>
          </a:bodyPr>
          <a:lstStyle/>
          <a:p>
            <a:pPr algn="l"/>
            <a:r>
              <a:rPr sz="950" b="0" i="0">
                <a:solidFill>
                  <a:srgbClr val="1A1A2E"/>
                </a:solidFill>
                <a:latin typeface="Calibri"/>
              </a:rPr>
              <a:t>→  Calendly booking links for all reps — Week 1</a:t>
            </a:r>
          </a:p>
        </p:txBody>
      </p:sp>
      <p:sp>
        <p:nvSpPr>
          <p:cNvPr id="14" name="Rectangle 13"/>
          <p:cNvSpPr/>
          <p:nvPr/>
        </p:nvSpPr>
        <p:spPr>
          <a:xfrm>
            <a:off x="384048" y="3218688"/>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5488" y="3291840"/>
            <a:ext cx="3401568" cy="274320"/>
          </a:xfrm>
          <a:prstGeom prst="rect">
            <a:avLst/>
          </a:prstGeom>
          <a:noFill/>
        </p:spPr>
        <p:txBody>
          <a:bodyPr wrap="square">
            <a:spAutoFit/>
          </a:bodyPr>
          <a:lstStyle/>
          <a:p>
            <a:pPr algn="l"/>
            <a:r>
              <a:rPr sz="950" b="0" i="0">
                <a:solidFill>
                  <a:srgbClr val="1A1A2E"/>
                </a:solidFill>
                <a:latin typeface="Calibri"/>
              </a:rPr>
              <a:t>→  Otter + Zapier drive-by workflow — Week 2</a:t>
            </a:r>
          </a:p>
        </p:txBody>
      </p:sp>
      <p:sp>
        <p:nvSpPr>
          <p:cNvPr id="16" name="Rectangle 15"/>
          <p:cNvSpPr/>
          <p:nvPr/>
        </p:nvSpPr>
        <p:spPr>
          <a:xfrm>
            <a:off x="384048" y="3694176"/>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5488" y="3767328"/>
            <a:ext cx="3401568" cy="274320"/>
          </a:xfrm>
          <a:prstGeom prst="rect">
            <a:avLst/>
          </a:prstGeom>
          <a:noFill/>
        </p:spPr>
        <p:txBody>
          <a:bodyPr wrap="square">
            <a:spAutoFit/>
          </a:bodyPr>
          <a:lstStyle/>
          <a:p>
            <a:pPr algn="l"/>
            <a:r>
              <a:rPr sz="950" b="0" i="0">
                <a:solidFill>
                  <a:srgbClr val="1A1A2E"/>
                </a:solidFill>
                <a:latin typeface="Calibri"/>
              </a:rPr>
              <a:t>→  Shadow sales reps + property managers</a:t>
            </a:r>
          </a:p>
        </p:txBody>
      </p:sp>
      <p:sp>
        <p:nvSpPr>
          <p:cNvPr id="18" name="Rectangle 17"/>
          <p:cNvSpPr/>
          <p:nvPr/>
        </p:nvSpPr>
        <p:spPr>
          <a:xfrm>
            <a:off x="384048" y="416966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5488" y="4242816"/>
            <a:ext cx="3401568" cy="274320"/>
          </a:xfrm>
          <a:prstGeom prst="rect">
            <a:avLst/>
          </a:prstGeom>
          <a:noFill/>
        </p:spPr>
        <p:txBody>
          <a:bodyPr wrap="square">
            <a:spAutoFit/>
          </a:bodyPr>
          <a:lstStyle/>
          <a:p>
            <a:pPr algn="l"/>
            <a:r>
              <a:rPr sz="950" b="0" i="0">
                <a:solidFill>
                  <a:srgbClr val="1A1A2E"/>
                </a:solidFill>
                <a:latin typeface="Calibri"/>
              </a:rPr>
              <a:t>→  First ROI data visible — Week 3</a:t>
            </a:r>
          </a:p>
        </p:txBody>
      </p:sp>
      <p:sp>
        <p:nvSpPr>
          <p:cNvPr id="20" name="Rectangle 19"/>
          <p:cNvSpPr/>
          <p:nvPr/>
        </p:nvSpPr>
        <p:spPr>
          <a:xfrm>
            <a:off x="384048" y="464515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75488" y="4718304"/>
            <a:ext cx="3401568" cy="274320"/>
          </a:xfrm>
          <a:prstGeom prst="rect">
            <a:avLst/>
          </a:prstGeom>
          <a:noFill/>
        </p:spPr>
        <p:txBody>
          <a:bodyPr wrap="square">
            <a:spAutoFit/>
          </a:bodyPr>
          <a:lstStyle/>
          <a:p>
            <a:pPr algn="l"/>
            <a:r>
              <a:rPr sz="950" b="0" i="0">
                <a:solidFill>
                  <a:srgbClr val="1A1A2E"/>
                </a:solidFill>
                <a:latin typeface="Calibri"/>
              </a:rPr>
              <a:t>→  Document every manual step in both workflows</a:t>
            </a:r>
          </a:p>
        </p:txBody>
      </p:sp>
      <p:sp>
        <p:nvSpPr>
          <p:cNvPr id="22" name="Rectangle 21"/>
          <p:cNvSpPr/>
          <p:nvPr/>
        </p:nvSpPr>
        <p:spPr>
          <a:xfrm>
            <a:off x="384048" y="512064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75488" y="5193792"/>
            <a:ext cx="3401568" cy="274320"/>
          </a:xfrm>
          <a:prstGeom prst="rect">
            <a:avLst/>
          </a:prstGeom>
          <a:noFill/>
        </p:spPr>
        <p:txBody>
          <a:bodyPr wrap="square">
            <a:spAutoFit/>
          </a:bodyPr>
          <a:lstStyle/>
          <a:p>
            <a:pPr algn="l"/>
            <a:r>
              <a:rPr sz="950" b="0" i="0">
                <a:solidFill>
                  <a:srgbClr val="1A1A2E"/>
                </a:solidFill>
                <a:latin typeface="Calibri"/>
              </a:rPr>
              <a:t>→  Week 4: findings report to Ian</a:t>
            </a:r>
          </a:p>
        </p:txBody>
      </p:sp>
      <p:sp>
        <p:nvSpPr>
          <p:cNvPr id="24" name="Rectangle 23"/>
          <p:cNvSpPr/>
          <p:nvPr/>
        </p:nvSpPr>
        <p:spPr>
          <a:xfrm>
            <a:off x="4279392" y="804672"/>
            <a:ext cx="3822191" cy="5468112"/>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279392" y="804672"/>
            <a:ext cx="3822191" cy="877824"/>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16552" y="841248"/>
            <a:ext cx="3547872" cy="310896"/>
          </a:xfrm>
          <a:prstGeom prst="rect">
            <a:avLst/>
          </a:prstGeom>
          <a:noFill/>
        </p:spPr>
        <p:txBody>
          <a:bodyPr wrap="square">
            <a:spAutoFit/>
          </a:bodyPr>
          <a:lstStyle/>
          <a:p>
            <a:pPr algn="l"/>
            <a:r>
              <a:rPr sz="1300" b="1" i="0">
                <a:solidFill>
                  <a:srgbClr val="FFFFFF"/>
                </a:solidFill>
                <a:latin typeface="Calibri"/>
              </a:rPr>
              <a:t>Days 31–60</a:t>
            </a:r>
          </a:p>
        </p:txBody>
      </p:sp>
      <p:sp>
        <p:nvSpPr>
          <p:cNvPr id="27" name="TextBox 26"/>
          <p:cNvSpPr txBox="1"/>
          <p:nvPr/>
        </p:nvSpPr>
        <p:spPr>
          <a:xfrm>
            <a:off x="4416552" y="1152144"/>
            <a:ext cx="3547872" cy="402336"/>
          </a:xfrm>
          <a:prstGeom prst="rect">
            <a:avLst/>
          </a:prstGeom>
          <a:noFill/>
        </p:spPr>
        <p:txBody>
          <a:bodyPr wrap="square">
            <a:spAutoFit/>
          </a:bodyPr>
          <a:lstStyle/>
          <a:p>
            <a:pPr algn="l"/>
            <a:r>
              <a:rPr sz="1100" b="0" i="0">
                <a:solidFill>
                  <a:srgbClr val="FFFFFF"/>
                </a:solidFill>
                <a:latin typeface="Calibri"/>
              </a:rPr>
              <a:t>Build Tier 3 in Parallel</a:t>
            </a:r>
          </a:p>
        </p:txBody>
      </p:sp>
      <p:sp>
        <p:nvSpPr>
          <p:cNvPr id="28" name="Rectangle 27"/>
          <p:cNvSpPr/>
          <p:nvPr/>
        </p:nvSpPr>
        <p:spPr>
          <a:xfrm>
            <a:off x="4389120" y="179222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80559" y="1865376"/>
            <a:ext cx="3401568" cy="274320"/>
          </a:xfrm>
          <a:prstGeom prst="rect">
            <a:avLst/>
          </a:prstGeom>
          <a:noFill/>
        </p:spPr>
        <p:txBody>
          <a:bodyPr wrap="square">
            <a:spAutoFit/>
          </a:bodyPr>
          <a:lstStyle/>
          <a:p>
            <a:pPr algn="l"/>
            <a:r>
              <a:rPr sz="950" b="0" i="0">
                <a:solidFill>
                  <a:srgbClr val="1A1A2E"/>
                </a:solidFill>
                <a:latin typeface="Calibri"/>
              </a:rPr>
              <a:t>→  Next.js + Supabase scaffolding — Day 31</a:t>
            </a:r>
          </a:p>
        </p:txBody>
      </p:sp>
      <p:sp>
        <p:nvSpPr>
          <p:cNvPr id="30" name="Rectangle 29"/>
          <p:cNvSpPr/>
          <p:nvPr/>
        </p:nvSpPr>
        <p:spPr>
          <a:xfrm>
            <a:off x="4389120" y="226771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480559" y="2340864"/>
            <a:ext cx="3401568" cy="274320"/>
          </a:xfrm>
          <a:prstGeom prst="rect">
            <a:avLst/>
          </a:prstGeom>
          <a:noFill/>
        </p:spPr>
        <p:txBody>
          <a:bodyPr wrap="square">
            <a:spAutoFit/>
          </a:bodyPr>
          <a:lstStyle/>
          <a:p>
            <a:pPr algn="l"/>
            <a:r>
              <a:rPr sz="950" b="0" i="0">
                <a:solidFill>
                  <a:srgbClr val="1A1A2E"/>
                </a:solidFill>
                <a:latin typeface="Calibri"/>
              </a:rPr>
              <a:t>→  n8n Cloud Pro: mirror Zapier workflows</a:t>
            </a:r>
          </a:p>
        </p:txBody>
      </p:sp>
      <p:sp>
        <p:nvSpPr>
          <p:cNvPr id="32" name="Rectangle 31"/>
          <p:cNvSpPr/>
          <p:nvPr/>
        </p:nvSpPr>
        <p:spPr>
          <a:xfrm>
            <a:off x="4389120" y="274320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480559" y="2816352"/>
            <a:ext cx="3401568" cy="274320"/>
          </a:xfrm>
          <a:prstGeom prst="rect">
            <a:avLst/>
          </a:prstGeom>
          <a:noFill/>
        </p:spPr>
        <p:txBody>
          <a:bodyPr wrap="square">
            <a:spAutoFit/>
          </a:bodyPr>
          <a:lstStyle/>
          <a:p>
            <a:pPr algn="l"/>
            <a:r>
              <a:rPr sz="950" b="0" i="0">
                <a:solidFill>
                  <a:srgbClr val="1A1A2E"/>
                </a:solidFill>
                <a:latin typeface="Calibri"/>
              </a:rPr>
              <a:t>→  AI pre-call brief engine live</a:t>
            </a:r>
          </a:p>
        </p:txBody>
      </p:sp>
      <p:sp>
        <p:nvSpPr>
          <p:cNvPr id="34" name="Rectangle 33"/>
          <p:cNvSpPr/>
          <p:nvPr/>
        </p:nvSpPr>
        <p:spPr>
          <a:xfrm>
            <a:off x="4389120" y="3218688"/>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480559" y="3291840"/>
            <a:ext cx="3401568" cy="274320"/>
          </a:xfrm>
          <a:prstGeom prst="rect">
            <a:avLst/>
          </a:prstGeom>
          <a:noFill/>
        </p:spPr>
        <p:txBody>
          <a:bodyPr wrap="square">
            <a:spAutoFit/>
          </a:bodyPr>
          <a:lstStyle/>
          <a:p>
            <a:pPr algn="l"/>
            <a:r>
              <a:rPr sz="950" b="0" i="0">
                <a:solidFill>
                  <a:srgbClr val="1A1A2E"/>
                </a:solidFill>
                <a:latin typeface="Calibri"/>
              </a:rPr>
              <a:t>→  Drive-by voice → HubSpot via n8n</a:t>
            </a:r>
          </a:p>
        </p:txBody>
      </p:sp>
      <p:sp>
        <p:nvSpPr>
          <p:cNvPr id="36" name="Rectangle 35"/>
          <p:cNvSpPr/>
          <p:nvPr/>
        </p:nvSpPr>
        <p:spPr>
          <a:xfrm>
            <a:off x="4389120" y="3694176"/>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80559" y="3767328"/>
            <a:ext cx="3401568" cy="274320"/>
          </a:xfrm>
          <a:prstGeom prst="rect">
            <a:avLst/>
          </a:prstGeom>
          <a:noFill/>
        </p:spPr>
        <p:txBody>
          <a:bodyPr wrap="square">
            <a:spAutoFit/>
          </a:bodyPr>
          <a:lstStyle/>
          <a:p>
            <a:pPr algn="l"/>
            <a:r>
              <a:rPr sz="950" b="0" i="0">
                <a:solidFill>
                  <a:srgbClr val="1A1A2E"/>
                </a:solidFill>
                <a:latin typeface="Calibri"/>
              </a:rPr>
              <a:t>→  Photo tagging with AI Vision API</a:t>
            </a:r>
          </a:p>
        </p:txBody>
      </p:sp>
      <p:sp>
        <p:nvSpPr>
          <p:cNvPr id="38" name="Rectangle 37"/>
          <p:cNvSpPr/>
          <p:nvPr/>
        </p:nvSpPr>
        <p:spPr>
          <a:xfrm>
            <a:off x="4389120" y="416966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480559" y="4242816"/>
            <a:ext cx="3401568" cy="274320"/>
          </a:xfrm>
          <a:prstGeom prst="rect">
            <a:avLst/>
          </a:prstGeom>
          <a:noFill/>
        </p:spPr>
        <p:txBody>
          <a:bodyPr wrap="square">
            <a:spAutoFit/>
          </a:bodyPr>
          <a:lstStyle/>
          <a:p>
            <a:pPr algn="l"/>
            <a:r>
              <a:rPr sz="950" b="0" i="0">
                <a:solidFill>
                  <a:srgbClr val="1A1A2E"/>
                </a:solidFill>
                <a:latin typeface="Calibri"/>
              </a:rPr>
              <a:t>→  Sales intelligence trigger logic built</a:t>
            </a:r>
          </a:p>
        </p:txBody>
      </p:sp>
      <p:sp>
        <p:nvSpPr>
          <p:cNvPr id="40" name="Rectangle 39"/>
          <p:cNvSpPr/>
          <p:nvPr/>
        </p:nvSpPr>
        <p:spPr>
          <a:xfrm>
            <a:off x="4389120" y="464515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80559" y="4718304"/>
            <a:ext cx="3401568" cy="274320"/>
          </a:xfrm>
          <a:prstGeom prst="rect">
            <a:avLst/>
          </a:prstGeom>
          <a:noFill/>
        </p:spPr>
        <p:txBody>
          <a:bodyPr wrap="square">
            <a:spAutoFit/>
          </a:bodyPr>
          <a:lstStyle/>
          <a:p>
            <a:pPr algn="l"/>
            <a:r>
              <a:rPr sz="950" b="0" i="0">
                <a:solidFill>
                  <a:srgbClr val="1A1A2E"/>
                </a:solidFill>
                <a:latin typeface="Calibri"/>
              </a:rPr>
              <a:t>→  R&amp;D division formally established</a:t>
            </a:r>
          </a:p>
        </p:txBody>
      </p:sp>
      <p:sp>
        <p:nvSpPr>
          <p:cNvPr id="42" name="Rectangle 41"/>
          <p:cNvSpPr/>
          <p:nvPr/>
        </p:nvSpPr>
        <p:spPr>
          <a:xfrm>
            <a:off x="4389120" y="512064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480559" y="5193792"/>
            <a:ext cx="3401568" cy="274320"/>
          </a:xfrm>
          <a:prstGeom prst="rect">
            <a:avLst/>
          </a:prstGeom>
          <a:noFill/>
        </p:spPr>
        <p:txBody>
          <a:bodyPr wrap="square">
            <a:spAutoFit/>
          </a:bodyPr>
          <a:lstStyle/>
          <a:p>
            <a:pPr algn="l"/>
            <a:r>
              <a:rPr sz="950" b="0" i="0">
                <a:solidFill>
                  <a:srgbClr val="1A1A2E"/>
                </a:solidFill>
                <a:latin typeface="Calibri"/>
              </a:rPr>
              <a:t>→  Begin documenting QREs for Form 6765</a:t>
            </a:r>
          </a:p>
        </p:txBody>
      </p:sp>
      <p:sp>
        <p:nvSpPr>
          <p:cNvPr id="44" name="Rectangle 43"/>
          <p:cNvSpPr/>
          <p:nvPr/>
        </p:nvSpPr>
        <p:spPr>
          <a:xfrm>
            <a:off x="8284463" y="804672"/>
            <a:ext cx="3822191" cy="5468112"/>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8284463" y="804672"/>
            <a:ext cx="3822191" cy="877824"/>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421624" y="841248"/>
            <a:ext cx="3547872" cy="310896"/>
          </a:xfrm>
          <a:prstGeom prst="rect">
            <a:avLst/>
          </a:prstGeom>
          <a:noFill/>
        </p:spPr>
        <p:txBody>
          <a:bodyPr wrap="square">
            <a:spAutoFit/>
          </a:bodyPr>
          <a:lstStyle/>
          <a:p>
            <a:pPr algn="l"/>
            <a:r>
              <a:rPr sz="1300" b="1" i="0">
                <a:solidFill>
                  <a:srgbClr val="FFFFFF"/>
                </a:solidFill>
                <a:latin typeface="Calibri"/>
              </a:rPr>
              <a:t>Days 61–90</a:t>
            </a:r>
          </a:p>
        </p:txBody>
      </p:sp>
      <p:sp>
        <p:nvSpPr>
          <p:cNvPr id="47" name="TextBox 46"/>
          <p:cNvSpPr txBox="1"/>
          <p:nvPr/>
        </p:nvSpPr>
        <p:spPr>
          <a:xfrm>
            <a:off x="8421624" y="1152144"/>
            <a:ext cx="3547872" cy="402336"/>
          </a:xfrm>
          <a:prstGeom prst="rect">
            <a:avLst/>
          </a:prstGeom>
          <a:noFill/>
        </p:spPr>
        <p:txBody>
          <a:bodyPr wrap="square">
            <a:spAutoFit/>
          </a:bodyPr>
          <a:lstStyle/>
          <a:p>
            <a:pPr algn="l"/>
            <a:r>
              <a:rPr sz="1100" b="0" i="0">
                <a:solidFill>
                  <a:srgbClr val="FFFFFF"/>
                </a:solidFill>
                <a:latin typeface="Calibri"/>
              </a:rPr>
              <a:t>Measure + Evaluate Tier 2</a:t>
            </a:r>
          </a:p>
        </p:txBody>
      </p:sp>
      <p:sp>
        <p:nvSpPr>
          <p:cNvPr id="48" name="Rectangle 47"/>
          <p:cNvSpPr/>
          <p:nvPr/>
        </p:nvSpPr>
        <p:spPr>
          <a:xfrm>
            <a:off x="8394191" y="179222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485632" y="1865376"/>
            <a:ext cx="3401568" cy="274320"/>
          </a:xfrm>
          <a:prstGeom prst="rect">
            <a:avLst/>
          </a:prstGeom>
          <a:noFill/>
        </p:spPr>
        <p:txBody>
          <a:bodyPr wrap="square">
            <a:spAutoFit/>
          </a:bodyPr>
          <a:lstStyle/>
          <a:p>
            <a:pPr algn="l"/>
            <a:r>
              <a:rPr sz="950" b="0" i="0">
                <a:solidFill>
                  <a:srgbClr val="1A1A2E"/>
                </a:solidFill>
                <a:latin typeface="Calibri"/>
              </a:rPr>
              <a:t>→  Migrate Zapier → n8n, cut $49/mo</a:t>
            </a:r>
          </a:p>
        </p:txBody>
      </p:sp>
      <p:sp>
        <p:nvSpPr>
          <p:cNvPr id="50" name="Rectangle 49"/>
          <p:cNvSpPr/>
          <p:nvPr/>
        </p:nvSpPr>
        <p:spPr>
          <a:xfrm>
            <a:off x="8394191" y="226771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485632" y="2340864"/>
            <a:ext cx="3401568" cy="274320"/>
          </a:xfrm>
          <a:prstGeom prst="rect">
            <a:avLst/>
          </a:prstGeom>
          <a:noFill/>
        </p:spPr>
        <p:txBody>
          <a:bodyPr wrap="square">
            <a:spAutoFit/>
          </a:bodyPr>
          <a:lstStyle/>
          <a:p>
            <a:pPr algn="l"/>
            <a:r>
              <a:rPr sz="950" b="0" i="0">
                <a:solidFill>
                  <a:srgbClr val="1A1A2E"/>
                </a:solidFill>
                <a:latin typeface="Calibri"/>
              </a:rPr>
              <a:t>→  Track: calls/rep before vs after</a:t>
            </a:r>
          </a:p>
        </p:txBody>
      </p:sp>
      <p:sp>
        <p:nvSpPr>
          <p:cNvPr id="52" name="Rectangle 51"/>
          <p:cNvSpPr/>
          <p:nvPr/>
        </p:nvSpPr>
        <p:spPr>
          <a:xfrm>
            <a:off x="8394191" y="274320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85632" y="2816352"/>
            <a:ext cx="3401568" cy="274320"/>
          </a:xfrm>
          <a:prstGeom prst="rect">
            <a:avLst/>
          </a:prstGeom>
          <a:noFill/>
        </p:spPr>
        <p:txBody>
          <a:bodyPr wrap="square">
            <a:spAutoFit/>
          </a:bodyPr>
          <a:lstStyle/>
          <a:p>
            <a:pPr algn="l"/>
            <a:r>
              <a:rPr sz="950" b="0" i="0">
                <a:solidFill>
                  <a:srgbClr val="1A1A2E"/>
                </a:solidFill>
                <a:latin typeface="Calibri"/>
              </a:rPr>
              <a:t>→  Track: CRM completeness score</a:t>
            </a:r>
          </a:p>
        </p:txBody>
      </p:sp>
      <p:sp>
        <p:nvSpPr>
          <p:cNvPr id="54" name="Rectangle 53"/>
          <p:cNvSpPr/>
          <p:nvPr/>
        </p:nvSpPr>
        <p:spPr>
          <a:xfrm>
            <a:off x="8394191" y="3218688"/>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485632" y="3291840"/>
            <a:ext cx="3401568" cy="274320"/>
          </a:xfrm>
          <a:prstGeom prst="rect">
            <a:avLst/>
          </a:prstGeom>
          <a:noFill/>
        </p:spPr>
        <p:txBody>
          <a:bodyPr wrap="square">
            <a:spAutoFit/>
          </a:bodyPr>
          <a:lstStyle/>
          <a:p>
            <a:pPr algn="l"/>
            <a:r>
              <a:rPr sz="950" b="0" i="0">
                <a:solidFill>
                  <a:srgbClr val="1A1A2E"/>
                </a:solidFill>
                <a:latin typeface="Calibri"/>
              </a:rPr>
              <a:t>→  Track: drive-by to maintenance route time</a:t>
            </a:r>
          </a:p>
        </p:txBody>
      </p:sp>
      <p:sp>
        <p:nvSpPr>
          <p:cNvPr id="56" name="Rectangle 55"/>
          <p:cNvSpPr/>
          <p:nvPr/>
        </p:nvSpPr>
        <p:spPr>
          <a:xfrm>
            <a:off x="8394191" y="3694176"/>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485632" y="3767328"/>
            <a:ext cx="3401568" cy="274320"/>
          </a:xfrm>
          <a:prstGeom prst="rect">
            <a:avLst/>
          </a:prstGeom>
          <a:noFill/>
        </p:spPr>
        <p:txBody>
          <a:bodyPr wrap="square">
            <a:spAutoFit/>
          </a:bodyPr>
          <a:lstStyle/>
          <a:p>
            <a:pPr algn="l"/>
            <a:r>
              <a:rPr sz="950" b="0" i="0">
                <a:solidFill>
                  <a:srgbClr val="1A1A2E"/>
                </a:solidFill>
                <a:latin typeface="Calibri"/>
              </a:rPr>
              <a:t>→  Track: sales leads from inspections</a:t>
            </a:r>
          </a:p>
        </p:txBody>
      </p:sp>
      <p:sp>
        <p:nvSpPr>
          <p:cNvPr id="58" name="Rectangle 57"/>
          <p:cNvSpPr/>
          <p:nvPr/>
        </p:nvSpPr>
        <p:spPr>
          <a:xfrm>
            <a:off x="8394191" y="4169664"/>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485632" y="4242816"/>
            <a:ext cx="3401568" cy="274320"/>
          </a:xfrm>
          <a:prstGeom prst="rect">
            <a:avLst/>
          </a:prstGeom>
          <a:noFill/>
        </p:spPr>
        <p:txBody>
          <a:bodyPr wrap="square">
            <a:spAutoFit/>
          </a:bodyPr>
          <a:lstStyle/>
          <a:p>
            <a:pPr algn="l"/>
            <a:r>
              <a:rPr sz="950" b="0" i="0">
                <a:solidFill>
                  <a:srgbClr val="1A1A2E"/>
                </a:solidFill>
                <a:latin typeface="Calibri"/>
              </a:rPr>
              <a:t>→  Evaluate Tier 2 if team hit 5 reps</a:t>
            </a:r>
          </a:p>
        </p:txBody>
      </p:sp>
      <p:sp>
        <p:nvSpPr>
          <p:cNvPr id="60" name="Rectangle 59"/>
          <p:cNvSpPr/>
          <p:nvPr/>
        </p:nvSpPr>
        <p:spPr>
          <a:xfrm>
            <a:off x="8394191" y="4645152"/>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85632" y="4718304"/>
            <a:ext cx="3401568" cy="274320"/>
          </a:xfrm>
          <a:prstGeom prst="rect">
            <a:avLst/>
          </a:prstGeom>
          <a:noFill/>
        </p:spPr>
        <p:txBody>
          <a:bodyPr wrap="square">
            <a:spAutoFit/>
          </a:bodyPr>
          <a:lstStyle/>
          <a:p>
            <a:pPr algn="l"/>
            <a:r>
              <a:rPr sz="950" b="0" i="0">
                <a:solidFill>
                  <a:srgbClr val="1A1A2E"/>
                </a:solidFill>
                <a:latin typeface="Calibri"/>
              </a:rPr>
              <a:t>→  90-day review: full ROI presentation to Ian</a:t>
            </a:r>
          </a:p>
        </p:txBody>
      </p:sp>
      <p:sp>
        <p:nvSpPr>
          <p:cNvPr id="62" name="Rectangle 61"/>
          <p:cNvSpPr/>
          <p:nvPr/>
        </p:nvSpPr>
        <p:spPr>
          <a:xfrm>
            <a:off x="8394191" y="5120640"/>
            <a:ext cx="3584448" cy="42062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485632" y="5193792"/>
            <a:ext cx="3401568" cy="274320"/>
          </a:xfrm>
          <a:prstGeom prst="rect">
            <a:avLst/>
          </a:prstGeom>
          <a:noFill/>
        </p:spPr>
        <p:txBody>
          <a:bodyPr wrap="square">
            <a:spAutoFit/>
          </a:bodyPr>
          <a:lstStyle/>
          <a:p>
            <a:pPr algn="l"/>
            <a:r>
              <a:rPr sz="950" b="0" i="0">
                <a:solidFill>
                  <a:srgbClr val="1A1A2E"/>
                </a:solidFill>
                <a:latin typeface="Calibri"/>
              </a:rPr>
              <a:t>→  Year 1 R&amp;D credit preparation begins</a:t>
            </a:r>
          </a:p>
        </p:txBody>
      </p:sp>
      <p:sp>
        <p:nvSpPr>
          <p:cNvPr id="64" name="Rectangle 63"/>
          <p:cNvSpPr/>
          <p:nvPr/>
        </p:nvSpPr>
        <p:spPr>
          <a:xfrm>
            <a:off x="274320" y="6336792"/>
            <a:ext cx="11521440" cy="384048"/>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457200" y="6373368"/>
            <a:ext cx="11247120" cy="292608"/>
          </a:xfrm>
          <a:prstGeom prst="rect">
            <a:avLst/>
          </a:prstGeom>
          <a:noFill/>
        </p:spPr>
        <p:txBody>
          <a:bodyPr wrap="square">
            <a:spAutoFit/>
          </a:bodyPr>
          <a:lstStyle/>
          <a:p>
            <a:pPr algn="l"/>
            <a:r>
              <a:rPr sz="950" b="0" i="0">
                <a:solidFill>
                  <a:srgbClr val="FFFFFF"/>
                </a:solidFill>
                <a:latin typeface="Calibri"/>
              </a:rPr>
              <a:t>Key principle: Tier 1 generates immediate ROI. Tier 3 builds in parallel. By Day 90, The Joseph Group has both a working SaaS stack AND a proprietary system it owns.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6F9"/>
        </a:solidFill>
        <a:effectLst/>
      </p:bgPr>
    </p:bg>
    <p:spTree>
      <p:nvGrpSpPr>
        <p:cNvPr id="1" name=""/>
        <p:cNvGrpSpPr/>
        <p:nvPr/>
      </p:nvGrpSpPr>
      <p:grpSpPr/>
      <p:sp>
        <p:nvSpPr>
          <p:cNvPr id="2" name="Rectangle 1"/>
          <p:cNvSpPr/>
          <p:nvPr/>
        </p:nvSpPr>
        <p:spPr>
          <a:xfrm>
            <a:off x="0" y="0"/>
            <a:ext cx="12188952" cy="658368"/>
          </a:xfrm>
          <a:prstGeom prst="rect">
            <a:avLst/>
          </a:prstGeom>
          <a:solidFill>
            <a:srgbClr val="1D9E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30000" cy="502920"/>
          </a:xfrm>
          <a:prstGeom prst="rect">
            <a:avLst/>
          </a:prstGeom>
          <a:noFill/>
        </p:spPr>
        <p:txBody>
          <a:bodyPr wrap="square">
            <a:spAutoFit/>
          </a:bodyPr>
          <a:lstStyle/>
          <a:p>
            <a:pPr algn="l"/>
            <a:r>
              <a:rPr sz="1700" b="1" i="0">
                <a:solidFill>
                  <a:srgbClr val="FFFFFF"/>
                </a:solidFill>
                <a:latin typeface="Calibri"/>
              </a:rPr>
              <a:t>ROI Summary — Default: 3 Reps, 5 Managers  |  Adjustable in Live Calculator</a:t>
            </a:r>
          </a:p>
        </p:txBody>
      </p:sp>
      <p:sp>
        <p:nvSpPr>
          <p:cNvPr id="4" name="Rectangle 3"/>
          <p:cNvSpPr/>
          <p:nvPr/>
        </p:nvSpPr>
        <p:spPr>
          <a:xfrm>
            <a:off x="274320" y="822960"/>
            <a:ext cx="3794760" cy="1335024"/>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84048" y="896112"/>
            <a:ext cx="3566160" cy="301752"/>
          </a:xfrm>
          <a:prstGeom prst="rect">
            <a:avLst/>
          </a:prstGeom>
          <a:noFill/>
        </p:spPr>
        <p:txBody>
          <a:bodyPr wrap="square">
            <a:spAutoFit/>
          </a:bodyPr>
          <a:lstStyle/>
          <a:p>
            <a:pPr algn="l"/>
            <a:r>
              <a:rPr sz="1000" b="1" i="0">
                <a:solidFill>
                  <a:srgbClr val="666677"/>
                </a:solidFill>
                <a:latin typeface="Calibri"/>
              </a:rPr>
              <a:t>Admin time recovered</a:t>
            </a:r>
          </a:p>
        </p:txBody>
      </p:sp>
      <p:sp>
        <p:nvSpPr>
          <p:cNvPr id="6" name="TextBox 5"/>
          <p:cNvSpPr txBox="1"/>
          <p:nvPr/>
        </p:nvSpPr>
        <p:spPr>
          <a:xfrm>
            <a:off x="384048" y="1170432"/>
            <a:ext cx="3566160" cy="566928"/>
          </a:xfrm>
          <a:prstGeom prst="rect">
            <a:avLst/>
          </a:prstGeom>
          <a:noFill/>
        </p:spPr>
        <p:txBody>
          <a:bodyPr wrap="square">
            <a:spAutoFit/>
          </a:bodyPr>
          <a:lstStyle/>
          <a:p>
            <a:pPr algn="l"/>
            <a:r>
              <a:rPr sz="2800" b="1" i="0">
                <a:solidFill>
                  <a:srgbClr val="185FA5"/>
                </a:solidFill>
                <a:latin typeface="Calibri"/>
              </a:rPr>
              <a:t>$150,000</a:t>
            </a:r>
          </a:p>
        </p:txBody>
      </p:sp>
      <p:sp>
        <p:nvSpPr>
          <p:cNvPr id="7" name="TextBox 6"/>
          <p:cNvSpPr txBox="1"/>
          <p:nvPr/>
        </p:nvSpPr>
        <p:spPr>
          <a:xfrm>
            <a:off x="384048" y="1719072"/>
            <a:ext cx="3566160" cy="329184"/>
          </a:xfrm>
          <a:prstGeom prst="rect">
            <a:avLst/>
          </a:prstGeom>
          <a:noFill/>
        </p:spPr>
        <p:txBody>
          <a:bodyPr wrap="square">
            <a:spAutoFit/>
          </a:bodyPr>
          <a:lstStyle/>
          <a:p>
            <a:pPr algn="l"/>
            <a:r>
              <a:rPr sz="900" b="0" i="1">
                <a:solidFill>
                  <a:srgbClr val="666677"/>
                </a:solidFill>
                <a:latin typeface="Calibri"/>
              </a:rPr>
              <a:t>3 reps × 3 hrs/day × $40 × 250 days</a:t>
            </a:r>
          </a:p>
        </p:txBody>
      </p:sp>
      <p:sp>
        <p:nvSpPr>
          <p:cNvPr id="8" name="Rectangle 7"/>
          <p:cNvSpPr/>
          <p:nvPr/>
        </p:nvSpPr>
        <p:spPr>
          <a:xfrm>
            <a:off x="4224528" y="822960"/>
            <a:ext cx="3794760" cy="133502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334256" y="896112"/>
            <a:ext cx="3566160" cy="301752"/>
          </a:xfrm>
          <a:prstGeom prst="rect">
            <a:avLst/>
          </a:prstGeom>
          <a:noFill/>
        </p:spPr>
        <p:txBody>
          <a:bodyPr wrap="square">
            <a:spAutoFit/>
          </a:bodyPr>
          <a:lstStyle/>
          <a:p>
            <a:pPr algn="l"/>
            <a:r>
              <a:rPr sz="1000" b="1" i="0">
                <a:solidFill>
                  <a:srgbClr val="666677"/>
                </a:solidFill>
                <a:latin typeface="Calibri"/>
              </a:rPr>
              <a:t>New mandates revenue</a:t>
            </a:r>
          </a:p>
        </p:txBody>
      </p:sp>
      <p:sp>
        <p:nvSpPr>
          <p:cNvPr id="10" name="TextBox 9"/>
          <p:cNvSpPr txBox="1"/>
          <p:nvPr/>
        </p:nvSpPr>
        <p:spPr>
          <a:xfrm>
            <a:off x="4334256" y="1170432"/>
            <a:ext cx="3566160" cy="566928"/>
          </a:xfrm>
          <a:prstGeom prst="rect">
            <a:avLst/>
          </a:prstGeom>
          <a:noFill/>
        </p:spPr>
        <p:txBody>
          <a:bodyPr wrap="square">
            <a:spAutoFit/>
          </a:bodyPr>
          <a:lstStyle/>
          <a:p>
            <a:pPr algn="l"/>
            <a:r>
              <a:rPr sz="2800" b="1" i="0">
                <a:solidFill>
                  <a:srgbClr val="1D9E75"/>
                </a:solidFill>
                <a:latin typeface="Calibri"/>
              </a:rPr>
              <a:t>$81,000</a:t>
            </a:r>
          </a:p>
        </p:txBody>
      </p:sp>
      <p:sp>
        <p:nvSpPr>
          <p:cNvPr id="11" name="TextBox 10"/>
          <p:cNvSpPr txBox="1"/>
          <p:nvPr/>
        </p:nvSpPr>
        <p:spPr>
          <a:xfrm>
            <a:off x="4334256" y="1719072"/>
            <a:ext cx="3566160" cy="329184"/>
          </a:xfrm>
          <a:prstGeom prst="rect">
            <a:avLst/>
          </a:prstGeom>
          <a:noFill/>
        </p:spPr>
        <p:txBody>
          <a:bodyPr wrap="square">
            <a:spAutoFit/>
          </a:bodyPr>
          <a:lstStyle/>
          <a:p>
            <a:pPr algn="l"/>
            <a:r>
              <a:rPr sz="900" b="0" i="1">
                <a:solidFill>
                  <a:srgbClr val="666677"/>
                </a:solidFill>
                <a:latin typeface="Calibri"/>
              </a:rPr>
              <a:t>3 extra calls/day, 15% close, $1,800 fee</a:t>
            </a:r>
          </a:p>
        </p:txBody>
      </p:sp>
      <p:sp>
        <p:nvSpPr>
          <p:cNvPr id="12" name="Rectangle 11"/>
          <p:cNvSpPr/>
          <p:nvPr/>
        </p:nvSpPr>
        <p:spPr>
          <a:xfrm>
            <a:off x="8174736" y="822960"/>
            <a:ext cx="3794760" cy="1335024"/>
          </a:xfrm>
          <a:prstGeom prst="rect">
            <a:avLst/>
          </a:prstGeom>
          <a:solidFill>
            <a:srgbClr val="FAEED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84464" y="896112"/>
            <a:ext cx="3566160" cy="301752"/>
          </a:xfrm>
          <a:prstGeom prst="rect">
            <a:avLst/>
          </a:prstGeom>
          <a:noFill/>
        </p:spPr>
        <p:txBody>
          <a:bodyPr wrap="square">
            <a:spAutoFit/>
          </a:bodyPr>
          <a:lstStyle/>
          <a:p>
            <a:pPr algn="l"/>
            <a:r>
              <a:rPr sz="1000" b="1" i="0">
                <a:solidFill>
                  <a:srgbClr val="666677"/>
                </a:solidFill>
                <a:latin typeface="Calibri"/>
              </a:rPr>
              <a:t>Drive-by time saved</a:t>
            </a:r>
          </a:p>
        </p:txBody>
      </p:sp>
      <p:sp>
        <p:nvSpPr>
          <p:cNvPr id="14" name="TextBox 13"/>
          <p:cNvSpPr txBox="1"/>
          <p:nvPr/>
        </p:nvSpPr>
        <p:spPr>
          <a:xfrm>
            <a:off x="8284464" y="1170432"/>
            <a:ext cx="3566160" cy="566928"/>
          </a:xfrm>
          <a:prstGeom prst="rect">
            <a:avLst/>
          </a:prstGeom>
          <a:noFill/>
        </p:spPr>
        <p:txBody>
          <a:bodyPr wrap="square">
            <a:spAutoFit/>
          </a:bodyPr>
          <a:lstStyle/>
          <a:p>
            <a:pPr algn="l"/>
            <a:r>
              <a:rPr sz="2800" b="1" i="0">
                <a:solidFill>
                  <a:srgbClr val="BA7517"/>
                </a:solidFill>
                <a:latin typeface="Calibri"/>
              </a:rPr>
              <a:t>$82,500</a:t>
            </a:r>
          </a:p>
        </p:txBody>
      </p:sp>
      <p:sp>
        <p:nvSpPr>
          <p:cNvPr id="15" name="TextBox 14"/>
          <p:cNvSpPr txBox="1"/>
          <p:nvPr/>
        </p:nvSpPr>
        <p:spPr>
          <a:xfrm>
            <a:off x="8284464" y="1719072"/>
            <a:ext cx="3566160" cy="329184"/>
          </a:xfrm>
          <a:prstGeom prst="rect">
            <a:avLst/>
          </a:prstGeom>
          <a:noFill/>
        </p:spPr>
        <p:txBody>
          <a:bodyPr wrap="square">
            <a:spAutoFit/>
          </a:bodyPr>
          <a:lstStyle/>
          <a:p>
            <a:pPr algn="l"/>
            <a:r>
              <a:rPr sz="900" b="0" i="1">
                <a:solidFill>
                  <a:srgbClr val="666677"/>
                </a:solidFill>
                <a:latin typeface="Calibri"/>
              </a:rPr>
              <a:t>5 mgrs × 20/wk × 1.5h × $22 × 50 wks</a:t>
            </a:r>
          </a:p>
        </p:txBody>
      </p:sp>
      <p:sp>
        <p:nvSpPr>
          <p:cNvPr id="16" name="Rectangle 15"/>
          <p:cNvSpPr/>
          <p:nvPr/>
        </p:nvSpPr>
        <p:spPr>
          <a:xfrm>
            <a:off x="274320" y="2304288"/>
            <a:ext cx="3794760" cy="1335024"/>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84048" y="2377440"/>
            <a:ext cx="3566160" cy="301752"/>
          </a:xfrm>
          <a:prstGeom prst="rect">
            <a:avLst/>
          </a:prstGeom>
          <a:noFill/>
        </p:spPr>
        <p:txBody>
          <a:bodyPr wrap="square">
            <a:spAutoFit/>
          </a:bodyPr>
          <a:lstStyle/>
          <a:p>
            <a:pPr algn="l"/>
            <a:r>
              <a:rPr sz="1000" b="1" i="0">
                <a:solidFill>
                  <a:srgbClr val="666677"/>
                </a:solidFill>
                <a:latin typeface="Calibri"/>
              </a:rPr>
              <a:t>Maintenance routing</a:t>
            </a:r>
          </a:p>
        </p:txBody>
      </p:sp>
      <p:sp>
        <p:nvSpPr>
          <p:cNvPr id="18" name="TextBox 17"/>
          <p:cNvSpPr txBox="1"/>
          <p:nvPr/>
        </p:nvSpPr>
        <p:spPr>
          <a:xfrm>
            <a:off x="384048" y="2651760"/>
            <a:ext cx="3566160" cy="566928"/>
          </a:xfrm>
          <a:prstGeom prst="rect">
            <a:avLst/>
          </a:prstGeom>
          <a:noFill/>
        </p:spPr>
        <p:txBody>
          <a:bodyPr wrap="square">
            <a:spAutoFit/>
          </a:bodyPr>
          <a:lstStyle/>
          <a:p>
            <a:pPr algn="l"/>
            <a:r>
              <a:rPr sz="2800" b="1" i="0">
                <a:solidFill>
                  <a:srgbClr val="185FA5"/>
                </a:solidFill>
                <a:latin typeface="Calibri"/>
              </a:rPr>
              <a:t>$208,000</a:t>
            </a:r>
          </a:p>
        </p:txBody>
      </p:sp>
      <p:sp>
        <p:nvSpPr>
          <p:cNvPr id="19" name="TextBox 18"/>
          <p:cNvSpPr txBox="1"/>
          <p:nvPr/>
        </p:nvSpPr>
        <p:spPr>
          <a:xfrm>
            <a:off x="384048" y="3200400"/>
            <a:ext cx="3566160" cy="329184"/>
          </a:xfrm>
          <a:prstGeom prst="rect">
            <a:avLst/>
          </a:prstGeom>
          <a:noFill/>
        </p:spPr>
        <p:txBody>
          <a:bodyPr wrap="square">
            <a:spAutoFit/>
          </a:bodyPr>
          <a:lstStyle/>
          <a:p>
            <a:pPr algn="l"/>
            <a:r>
              <a:rPr sz="900" b="0" i="1">
                <a:solidFill>
                  <a:srgbClr val="666677"/>
                </a:solidFill>
                <a:latin typeface="Calibri"/>
              </a:rPr>
              <a:t>5 mgrs × 20 drive-bys × 52 wks × $8</a:t>
            </a:r>
          </a:p>
        </p:txBody>
      </p:sp>
      <p:sp>
        <p:nvSpPr>
          <p:cNvPr id="20" name="Rectangle 19"/>
          <p:cNvSpPr/>
          <p:nvPr/>
        </p:nvSpPr>
        <p:spPr>
          <a:xfrm>
            <a:off x="4224528" y="2304288"/>
            <a:ext cx="3794760" cy="133502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334256" y="2377440"/>
            <a:ext cx="3566160" cy="301752"/>
          </a:xfrm>
          <a:prstGeom prst="rect">
            <a:avLst/>
          </a:prstGeom>
          <a:noFill/>
        </p:spPr>
        <p:txBody>
          <a:bodyPr wrap="square">
            <a:spAutoFit/>
          </a:bodyPr>
          <a:lstStyle/>
          <a:p>
            <a:pPr algn="l"/>
            <a:r>
              <a:rPr sz="1000" b="1" i="0">
                <a:solidFill>
                  <a:srgbClr val="666677"/>
                </a:solidFill>
                <a:latin typeface="Calibri"/>
              </a:rPr>
              <a:t>Drive-by lead revenue</a:t>
            </a:r>
          </a:p>
        </p:txBody>
      </p:sp>
      <p:sp>
        <p:nvSpPr>
          <p:cNvPr id="22" name="TextBox 21"/>
          <p:cNvSpPr txBox="1"/>
          <p:nvPr/>
        </p:nvSpPr>
        <p:spPr>
          <a:xfrm>
            <a:off x="4334256" y="2651760"/>
            <a:ext cx="3566160" cy="566928"/>
          </a:xfrm>
          <a:prstGeom prst="rect">
            <a:avLst/>
          </a:prstGeom>
          <a:noFill/>
        </p:spPr>
        <p:txBody>
          <a:bodyPr wrap="square">
            <a:spAutoFit/>
          </a:bodyPr>
          <a:lstStyle/>
          <a:p>
            <a:pPr algn="l"/>
            <a:r>
              <a:rPr sz="2800" b="1" i="0">
                <a:solidFill>
                  <a:srgbClr val="1D9E75"/>
                </a:solidFill>
                <a:latin typeface="Calibri"/>
              </a:rPr>
              <a:t>$27,000</a:t>
            </a:r>
          </a:p>
        </p:txBody>
      </p:sp>
      <p:sp>
        <p:nvSpPr>
          <p:cNvPr id="23" name="TextBox 22"/>
          <p:cNvSpPr txBox="1"/>
          <p:nvPr/>
        </p:nvSpPr>
        <p:spPr>
          <a:xfrm>
            <a:off x="4334256" y="3200400"/>
            <a:ext cx="3566160" cy="329184"/>
          </a:xfrm>
          <a:prstGeom prst="rect">
            <a:avLst/>
          </a:prstGeom>
          <a:noFill/>
        </p:spPr>
        <p:txBody>
          <a:bodyPr wrap="square">
            <a:spAutoFit/>
          </a:bodyPr>
          <a:lstStyle/>
          <a:p>
            <a:pPr algn="l"/>
            <a:r>
              <a:rPr sz="900" b="0" i="1">
                <a:solidFill>
                  <a:srgbClr val="666677"/>
                </a:solidFill>
                <a:latin typeface="Calibri"/>
              </a:rPr>
              <a:t>25 leads × $1,800 × 30% credit</a:t>
            </a:r>
          </a:p>
        </p:txBody>
      </p:sp>
      <p:sp>
        <p:nvSpPr>
          <p:cNvPr id="24" name="Rectangle 23"/>
          <p:cNvSpPr/>
          <p:nvPr/>
        </p:nvSpPr>
        <p:spPr>
          <a:xfrm>
            <a:off x="8174736" y="2304288"/>
            <a:ext cx="3794760" cy="1335024"/>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84464" y="2377440"/>
            <a:ext cx="3566160" cy="301752"/>
          </a:xfrm>
          <a:prstGeom prst="rect">
            <a:avLst/>
          </a:prstGeom>
          <a:noFill/>
        </p:spPr>
        <p:txBody>
          <a:bodyPr wrap="square">
            <a:spAutoFit/>
          </a:bodyPr>
          <a:lstStyle/>
          <a:p>
            <a:pPr algn="l"/>
            <a:r>
              <a:rPr sz="1000" b="1" i="0">
                <a:solidFill>
                  <a:srgbClr val="666677"/>
                </a:solidFill>
                <a:latin typeface="Calibri"/>
              </a:rPr>
              <a:t>Gross annual savings</a:t>
            </a:r>
          </a:p>
        </p:txBody>
      </p:sp>
      <p:sp>
        <p:nvSpPr>
          <p:cNvPr id="26" name="TextBox 25"/>
          <p:cNvSpPr txBox="1"/>
          <p:nvPr/>
        </p:nvSpPr>
        <p:spPr>
          <a:xfrm>
            <a:off x="8284464" y="2651760"/>
            <a:ext cx="3566160" cy="566928"/>
          </a:xfrm>
          <a:prstGeom prst="rect">
            <a:avLst/>
          </a:prstGeom>
          <a:noFill/>
        </p:spPr>
        <p:txBody>
          <a:bodyPr wrap="square">
            <a:spAutoFit/>
          </a:bodyPr>
          <a:lstStyle/>
          <a:p>
            <a:pPr algn="l"/>
            <a:r>
              <a:rPr sz="2800" b="1" i="0">
                <a:solidFill>
                  <a:srgbClr val="534AB7"/>
                </a:solidFill>
                <a:latin typeface="Calibri"/>
              </a:rPr>
              <a:t>$548,500</a:t>
            </a:r>
          </a:p>
        </p:txBody>
      </p:sp>
      <p:sp>
        <p:nvSpPr>
          <p:cNvPr id="27" name="TextBox 26"/>
          <p:cNvSpPr txBox="1"/>
          <p:nvPr/>
        </p:nvSpPr>
        <p:spPr>
          <a:xfrm>
            <a:off x="8284464" y="3200400"/>
            <a:ext cx="3566160" cy="329184"/>
          </a:xfrm>
          <a:prstGeom prst="rect">
            <a:avLst/>
          </a:prstGeom>
          <a:noFill/>
        </p:spPr>
        <p:txBody>
          <a:bodyPr wrap="square">
            <a:spAutoFit/>
          </a:bodyPr>
          <a:lstStyle/>
          <a:p>
            <a:pPr algn="l"/>
            <a:r>
              <a:rPr sz="900" b="0" i="1">
                <a:solidFill>
                  <a:srgbClr val="666677"/>
                </a:solidFill>
                <a:latin typeface="Calibri"/>
              </a:rPr>
              <a:t>Before any costs — total system benefit</a:t>
            </a:r>
          </a:p>
        </p:txBody>
      </p:sp>
      <p:sp>
        <p:nvSpPr>
          <p:cNvPr id="28" name="Rectangle 27"/>
          <p:cNvSpPr/>
          <p:nvPr/>
        </p:nvSpPr>
        <p:spPr>
          <a:xfrm>
            <a:off x="274320" y="3803904"/>
            <a:ext cx="7882127" cy="23774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7200" y="3895344"/>
            <a:ext cx="7498079" cy="310896"/>
          </a:xfrm>
          <a:prstGeom prst="rect">
            <a:avLst/>
          </a:prstGeom>
          <a:noFill/>
        </p:spPr>
        <p:txBody>
          <a:bodyPr wrap="square">
            <a:spAutoFit/>
          </a:bodyPr>
          <a:lstStyle/>
          <a:p>
            <a:pPr algn="l"/>
            <a:r>
              <a:rPr sz="1200" b="1" i="0">
                <a:solidFill>
                  <a:srgbClr val="1A1A2E"/>
                </a:solidFill>
                <a:latin typeface="Calibri"/>
              </a:rPr>
              <a:t>Cost by Tier — Same Savings, Different Investment Structure</a:t>
            </a:r>
          </a:p>
        </p:txBody>
      </p:sp>
      <p:sp>
        <p:nvSpPr>
          <p:cNvPr id="30" name="Rectangle 29"/>
          <p:cNvSpPr/>
          <p:nvPr/>
        </p:nvSpPr>
        <p:spPr>
          <a:xfrm>
            <a:off x="420624" y="4297680"/>
            <a:ext cx="219456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5488" y="4352544"/>
            <a:ext cx="2103120" cy="219456"/>
          </a:xfrm>
          <a:prstGeom prst="rect">
            <a:avLst/>
          </a:prstGeom>
          <a:noFill/>
        </p:spPr>
        <p:txBody>
          <a:bodyPr wrap="square">
            <a:spAutoFit/>
          </a:bodyPr>
          <a:lstStyle/>
          <a:p>
            <a:pPr algn="l"/>
            <a:r>
              <a:rPr sz="900" b="1" i="0">
                <a:solidFill>
                  <a:srgbClr val="FFFFFF"/>
                </a:solidFill>
                <a:latin typeface="Calibri"/>
              </a:rPr>
              <a:t>Tier</a:t>
            </a:r>
          </a:p>
        </p:txBody>
      </p:sp>
      <p:sp>
        <p:nvSpPr>
          <p:cNvPr id="32" name="Rectangle 31"/>
          <p:cNvSpPr/>
          <p:nvPr/>
        </p:nvSpPr>
        <p:spPr>
          <a:xfrm>
            <a:off x="2633472" y="4297680"/>
            <a:ext cx="100584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88336" y="4352544"/>
            <a:ext cx="914400" cy="219456"/>
          </a:xfrm>
          <a:prstGeom prst="rect">
            <a:avLst/>
          </a:prstGeom>
          <a:noFill/>
        </p:spPr>
        <p:txBody>
          <a:bodyPr wrap="square">
            <a:spAutoFit/>
          </a:bodyPr>
          <a:lstStyle/>
          <a:p>
            <a:pPr algn="l"/>
            <a:r>
              <a:rPr sz="900" b="1" i="0">
                <a:solidFill>
                  <a:srgbClr val="FFFFFF"/>
                </a:solidFill>
                <a:latin typeface="Calibri"/>
              </a:rPr>
              <a:t>Tools/yr</a:t>
            </a:r>
          </a:p>
        </p:txBody>
      </p:sp>
      <p:sp>
        <p:nvSpPr>
          <p:cNvPr id="34" name="Rectangle 33"/>
          <p:cNvSpPr/>
          <p:nvPr/>
        </p:nvSpPr>
        <p:spPr>
          <a:xfrm>
            <a:off x="3657600" y="4297680"/>
            <a:ext cx="100584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12463" y="4352544"/>
            <a:ext cx="914400" cy="219456"/>
          </a:xfrm>
          <a:prstGeom prst="rect">
            <a:avLst/>
          </a:prstGeom>
          <a:noFill/>
        </p:spPr>
        <p:txBody>
          <a:bodyPr wrap="square">
            <a:spAutoFit/>
          </a:bodyPr>
          <a:lstStyle/>
          <a:p>
            <a:pPr algn="l"/>
            <a:r>
              <a:rPr sz="900" b="1" i="0">
                <a:solidFill>
                  <a:srgbClr val="FFFFFF"/>
                </a:solidFill>
                <a:latin typeface="Calibri"/>
              </a:rPr>
              <a:t>Salary</a:t>
            </a:r>
          </a:p>
        </p:txBody>
      </p:sp>
      <p:sp>
        <p:nvSpPr>
          <p:cNvPr id="36" name="Rectangle 35"/>
          <p:cNvSpPr/>
          <p:nvPr/>
        </p:nvSpPr>
        <p:spPr>
          <a:xfrm>
            <a:off x="4681728" y="4297680"/>
            <a:ext cx="91440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736592" y="4352544"/>
            <a:ext cx="822960" cy="219456"/>
          </a:xfrm>
          <a:prstGeom prst="rect">
            <a:avLst/>
          </a:prstGeom>
          <a:noFill/>
        </p:spPr>
        <p:txBody>
          <a:bodyPr wrap="square">
            <a:spAutoFit/>
          </a:bodyPr>
          <a:lstStyle/>
          <a:p>
            <a:pPr algn="l"/>
            <a:r>
              <a:rPr sz="900" b="1" i="0">
                <a:solidFill>
                  <a:srgbClr val="FFFFFF"/>
                </a:solidFill>
                <a:latin typeface="Calibri"/>
              </a:rPr>
              <a:t>R&amp;D Credit</a:t>
            </a:r>
          </a:p>
        </p:txBody>
      </p:sp>
      <p:sp>
        <p:nvSpPr>
          <p:cNvPr id="38" name="Rectangle 37"/>
          <p:cNvSpPr/>
          <p:nvPr/>
        </p:nvSpPr>
        <p:spPr>
          <a:xfrm>
            <a:off x="5614416" y="4297680"/>
            <a:ext cx="109728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669280" y="4352544"/>
            <a:ext cx="1005839" cy="219456"/>
          </a:xfrm>
          <a:prstGeom prst="rect">
            <a:avLst/>
          </a:prstGeom>
          <a:noFill/>
        </p:spPr>
        <p:txBody>
          <a:bodyPr wrap="square">
            <a:spAutoFit/>
          </a:bodyPr>
          <a:lstStyle/>
          <a:p>
            <a:pPr algn="l"/>
            <a:r>
              <a:rPr sz="900" b="1" i="0">
                <a:solidFill>
                  <a:srgbClr val="FFFFFF"/>
                </a:solidFill>
                <a:latin typeface="Calibri"/>
              </a:rPr>
              <a:t>Net Cost</a:t>
            </a:r>
          </a:p>
        </p:txBody>
      </p:sp>
      <p:sp>
        <p:nvSpPr>
          <p:cNvPr id="40" name="Rectangle 39"/>
          <p:cNvSpPr/>
          <p:nvPr/>
        </p:nvSpPr>
        <p:spPr>
          <a:xfrm>
            <a:off x="6729984" y="4297680"/>
            <a:ext cx="1097280" cy="329184"/>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784848" y="4352544"/>
            <a:ext cx="1005839" cy="219456"/>
          </a:xfrm>
          <a:prstGeom prst="rect">
            <a:avLst/>
          </a:prstGeom>
          <a:noFill/>
        </p:spPr>
        <p:txBody>
          <a:bodyPr wrap="square">
            <a:spAutoFit/>
          </a:bodyPr>
          <a:lstStyle/>
          <a:p>
            <a:pPr algn="l"/>
            <a:r>
              <a:rPr sz="900" b="1" i="0">
                <a:solidFill>
                  <a:srgbClr val="FFFFFF"/>
                </a:solidFill>
                <a:latin typeface="Calibri"/>
              </a:rPr>
              <a:t>Recommend</a:t>
            </a:r>
          </a:p>
        </p:txBody>
      </p:sp>
      <p:sp>
        <p:nvSpPr>
          <p:cNvPr id="42" name="Rectangle 41"/>
          <p:cNvSpPr/>
          <p:nvPr/>
        </p:nvSpPr>
        <p:spPr>
          <a:xfrm>
            <a:off x="420624" y="4663440"/>
            <a:ext cx="7863840" cy="420624"/>
          </a:xfrm>
          <a:prstGeom prst="rect">
            <a:avLst/>
          </a:prstGeom>
          <a:solidFill>
            <a:srgbClr val="E6F1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93776" y="4745736"/>
            <a:ext cx="2121408" cy="256032"/>
          </a:xfrm>
          <a:prstGeom prst="rect">
            <a:avLst/>
          </a:prstGeom>
          <a:noFill/>
        </p:spPr>
        <p:txBody>
          <a:bodyPr wrap="square">
            <a:spAutoFit/>
          </a:bodyPr>
          <a:lstStyle/>
          <a:p>
            <a:pPr algn="l"/>
            <a:r>
              <a:rPr sz="950" b="1" i="0">
                <a:solidFill>
                  <a:srgbClr val="185FA5"/>
                </a:solidFill>
                <a:latin typeface="Calibri"/>
              </a:rPr>
              <a:t>Tier 1 — Lean</a:t>
            </a:r>
          </a:p>
        </p:txBody>
      </p:sp>
      <p:sp>
        <p:nvSpPr>
          <p:cNvPr id="44" name="TextBox 43"/>
          <p:cNvSpPr txBox="1"/>
          <p:nvPr/>
        </p:nvSpPr>
        <p:spPr>
          <a:xfrm>
            <a:off x="2724912" y="4745736"/>
            <a:ext cx="932688" cy="256032"/>
          </a:xfrm>
          <a:prstGeom prst="rect">
            <a:avLst/>
          </a:prstGeom>
          <a:noFill/>
        </p:spPr>
        <p:txBody>
          <a:bodyPr wrap="square">
            <a:spAutoFit/>
          </a:bodyPr>
          <a:lstStyle/>
          <a:p>
            <a:pPr algn="ctr"/>
            <a:r>
              <a:rPr sz="950" b="0" i="0">
                <a:solidFill>
                  <a:srgbClr val="666677"/>
                </a:solidFill>
                <a:latin typeface="Calibri"/>
              </a:rPr>
              <a:t>$1,536</a:t>
            </a:r>
          </a:p>
        </p:txBody>
      </p:sp>
      <p:sp>
        <p:nvSpPr>
          <p:cNvPr id="45" name="TextBox 44"/>
          <p:cNvSpPr txBox="1"/>
          <p:nvPr/>
        </p:nvSpPr>
        <p:spPr>
          <a:xfrm>
            <a:off x="3767328" y="4745736"/>
            <a:ext cx="932688" cy="256032"/>
          </a:xfrm>
          <a:prstGeom prst="rect">
            <a:avLst/>
          </a:prstGeom>
          <a:noFill/>
        </p:spPr>
        <p:txBody>
          <a:bodyPr wrap="square">
            <a:spAutoFit/>
          </a:bodyPr>
          <a:lstStyle/>
          <a:p>
            <a:pPr algn="ctr"/>
            <a:r>
              <a:rPr sz="950" b="0" i="0">
                <a:solidFill>
                  <a:srgbClr val="A32D2D"/>
                </a:solidFill>
                <a:latin typeface="Calibri"/>
              </a:rPr>
              <a:t>$80,000</a:t>
            </a:r>
          </a:p>
        </p:txBody>
      </p:sp>
      <p:sp>
        <p:nvSpPr>
          <p:cNvPr id="46" name="TextBox 45"/>
          <p:cNvSpPr txBox="1"/>
          <p:nvPr/>
        </p:nvSpPr>
        <p:spPr>
          <a:xfrm>
            <a:off x="4718304" y="4745736"/>
            <a:ext cx="841248" cy="256032"/>
          </a:xfrm>
          <a:prstGeom prst="rect">
            <a:avLst/>
          </a:prstGeom>
          <a:noFill/>
        </p:spPr>
        <p:txBody>
          <a:bodyPr wrap="square">
            <a:spAutoFit/>
          </a:bodyPr>
          <a:lstStyle/>
          <a:p>
            <a:pPr algn="ctr"/>
            <a:r>
              <a:rPr sz="950" b="0" i="0">
                <a:solidFill>
                  <a:srgbClr val="1D9E75"/>
                </a:solidFill>
                <a:latin typeface="Calibri"/>
              </a:rPr>
              <a:t>+$3,959</a:t>
            </a:r>
          </a:p>
        </p:txBody>
      </p:sp>
      <p:sp>
        <p:nvSpPr>
          <p:cNvPr id="47" name="TextBox 46"/>
          <p:cNvSpPr txBox="1"/>
          <p:nvPr/>
        </p:nvSpPr>
        <p:spPr>
          <a:xfrm>
            <a:off x="5577840" y="4745736"/>
            <a:ext cx="1024128" cy="256032"/>
          </a:xfrm>
          <a:prstGeom prst="rect">
            <a:avLst/>
          </a:prstGeom>
          <a:noFill/>
        </p:spPr>
        <p:txBody>
          <a:bodyPr wrap="square">
            <a:spAutoFit/>
          </a:bodyPr>
          <a:lstStyle/>
          <a:p>
            <a:pPr algn="ctr"/>
            <a:r>
              <a:rPr sz="950" b="1" i="0">
                <a:solidFill>
                  <a:srgbClr val="185FA5"/>
                </a:solidFill>
                <a:latin typeface="Calibri"/>
              </a:rPr>
              <a:t>$77,577</a:t>
            </a:r>
          </a:p>
        </p:txBody>
      </p:sp>
      <p:sp>
        <p:nvSpPr>
          <p:cNvPr id="48" name="TextBox 47"/>
          <p:cNvSpPr txBox="1"/>
          <p:nvPr/>
        </p:nvSpPr>
        <p:spPr>
          <a:xfrm>
            <a:off x="6620256" y="4745736"/>
            <a:ext cx="1591056" cy="256032"/>
          </a:xfrm>
          <a:prstGeom prst="rect">
            <a:avLst/>
          </a:prstGeom>
          <a:noFill/>
        </p:spPr>
        <p:txBody>
          <a:bodyPr wrap="square">
            <a:spAutoFit/>
          </a:bodyPr>
          <a:lstStyle/>
          <a:p>
            <a:pPr algn="ctr"/>
            <a:r>
              <a:rPr sz="950" b="0" i="0">
                <a:solidFill>
                  <a:srgbClr val="1A1A2E"/>
                </a:solidFill>
                <a:latin typeface="Calibri"/>
              </a:rPr>
              <a:t>Start today</a:t>
            </a:r>
          </a:p>
        </p:txBody>
      </p:sp>
      <p:sp>
        <p:nvSpPr>
          <p:cNvPr id="49" name="Rectangle 48"/>
          <p:cNvSpPr/>
          <p:nvPr/>
        </p:nvSpPr>
        <p:spPr>
          <a:xfrm>
            <a:off x="420624" y="5138927"/>
            <a:ext cx="7863840" cy="420624"/>
          </a:xfrm>
          <a:prstGeom prst="rect">
            <a:avLst/>
          </a:prstGeom>
          <a:solidFill>
            <a:srgbClr val="EAF3D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93776" y="5221223"/>
            <a:ext cx="2121408" cy="256032"/>
          </a:xfrm>
          <a:prstGeom prst="rect">
            <a:avLst/>
          </a:prstGeom>
          <a:noFill/>
        </p:spPr>
        <p:txBody>
          <a:bodyPr wrap="square">
            <a:spAutoFit/>
          </a:bodyPr>
          <a:lstStyle/>
          <a:p>
            <a:pPr algn="l"/>
            <a:r>
              <a:rPr sz="950" b="1" i="0">
                <a:solidFill>
                  <a:srgbClr val="1D9E75"/>
                </a:solidFill>
                <a:latin typeface="Calibri"/>
              </a:rPr>
              <a:t>Tier 2 — Enterprise</a:t>
            </a:r>
          </a:p>
        </p:txBody>
      </p:sp>
      <p:sp>
        <p:nvSpPr>
          <p:cNvPr id="51" name="TextBox 50"/>
          <p:cNvSpPr txBox="1"/>
          <p:nvPr/>
        </p:nvSpPr>
        <p:spPr>
          <a:xfrm>
            <a:off x="2724912" y="5221223"/>
            <a:ext cx="932688" cy="256032"/>
          </a:xfrm>
          <a:prstGeom prst="rect">
            <a:avLst/>
          </a:prstGeom>
          <a:noFill/>
        </p:spPr>
        <p:txBody>
          <a:bodyPr wrap="square">
            <a:spAutoFit/>
          </a:bodyPr>
          <a:lstStyle/>
          <a:p>
            <a:pPr algn="ctr"/>
            <a:r>
              <a:rPr sz="950" b="0" i="0">
                <a:solidFill>
                  <a:srgbClr val="666677"/>
                </a:solidFill>
                <a:latin typeface="Calibri"/>
              </a:rPr>
              <a:t>$6,480</a:t>
            </a:r>
          </a:p>
        </p:txBody>
      </p:sp>
      <p:sp>
        <p:nvSpPr>
          <p:cNvPr id="52" name="TextBox 51"/>
          <p:cNvSpPr txBox="1"/>
          <p:nvPr/>
        </p:nvSpPr>
        <p:spPr>
          <a:xfrm>
            <a:off x="3767328" y="5221223"/>
            <a:ext cx="932688" cy="256032"/>
          </a:xfrm>
          <a:prstGeom prst="rect">
            <a:avLst/>
          </a:prstGeom>
          <a:noFill/>
        </p:spPr>
        <p:txBody>
          <a:bodyPr wrap="square">
            <a:spAutoFit/>
          </a:bodyPr>
          <a:lstStyle/>
          <a:p>
            <a:pPr algn="ctr"/>
            <a:r>
              <a:rPr sz="950" b="0" i="0">
                <a:solidFill>
                  <a:srgbClr val="A32D2D"/>
                </a:solidFill>
                <a:latin typeface="Calibri"/>
              </a:rPr>
              <a:t>$80,000</a:t>
            </a:r>
          </a:p>
        </p:txBody>
      </p:sp>
      <p:sp>
        <p:nvSpPr>
          <p:cNvPr id="53" name="TextBox 52"/>
          <p:cNvSpPr txBox="1"/>
          <p:nvPr/>
        </p:nvSpPr>
        <p:spPr>
          <a:xfrm>
            <a:off x="4718304" y="5221223"/>
            <a:ext cx="841248" cy="256032"/>
          </a:xfrm>
          <a:prstGeom prst="rect">
            <a:avLst/>
          </a:prstGeom>
          <a:noFill/>
        </p:spPr>
        <p:txBody>
          <a:bodyPr wrap="square">
            <a:spAutoFit/>
          </a:bodyPr>
          <a:lstStyle/>
          <a:p>
            <a:pPr algn="ctr"/>
            <a:r>
              <a:rPr sz="950" b="0" i="0">
                <a:solidFill>
                  <a:srgbClr val="1D9E75"/>
                </a:solidFill>
                <a:latin typeface="Calibri"/>
              </a:rPr>
              <a:t>+$3,959</a:t>
            </a:r>
          </a:p>
        </p:txBody>
      </p:sp>
      <p:sp>
        <p:nvSpPr>
          <p:cNvPr id="54" name="TextBox 53"/>
          <p:cNvSpPr txBox="1"/>
          <p:nvPr/>
        </p:nvSpPr>
        <p:spPr>
          <a:xfrm>
            <a:off x="5577840" y="5221223"/>
            <a:ext cx="1024128" cy="256032"/>
          </a:xfrm>
          <a:prstGeom prst="rect">
            <a:avLst/>
          </a:prstGeom>
          <a:noFill/>
        </p:spPr>
        <p:txBody>
          <a:bodyPr wrap="square">
            <a:spAutoFit/>
          </a:bodyPr>
          <a:lstStyle/>
          <a:p>
            <a:pPr algn="ctr"/>
            <a:r>
              <a:rPr sz="950" b="1" i="0">
                <a:solidFill>
                  <a:srgbClr val="1D9E75"/>
                </a:solidFill>
                <a:latin typeface="Calibri"/>
              </a:rPr>
              <a:t>$82,521</a:t>
            </a:r>
          </a:p>
        </p:txBody>
      </p:sp>
      <p:sp>
        <p:nvSpPr>
          <p:cNvPr id="55" name="TextBox 54"/>
          <p:cNvSpPr txBox="1"/>
          <p:nvPr/>
        </p:nvSpPr>
        <p:spPr>
          <a:xfrm>
            <a:off x="6620256" y="5221223"/>
            <a:ext cx="1591056" cy="256032"/>
          </a:xfrm>
          <a:prstGeom prst="rect">
            <a:avLst/>
          </a:prstGeom>
          <a:noFill/>
        </p:spPr>
        <p:txBody>
          <a:bodyPr wrap="square">
            <a:spAutoFit/>
          </a:bodyPr>
          <a:lstStyle/>
          <a:p>
            <a:pPr algn="ctr"/>
            <a:r>
              <a:rPr sz="950" b="0" i="0">
                <a:solidFill>
                  <a:srgbClr val="1A1A2E"/>
                </a:solidFill>
                <a:latin typeface="Calibri"/>
              </a:rPr>
              <a:t>5+ reps</a:t>
            </a:r>
          </a:p>
        </p:txBody>
      </p:sp>
      <p:sp>
        <p:nvSpPr>
          <p:cNvPr id="56" name="Rectangle 55"/>
          <p:cNvSpPr/>
          <p:nvPr/>
        </p:nvSpPr>
        <p:spPr>
          <a:xfrm>
            <a:off x="420624" y="5614415"/>
            <a:ext cx="7863840" cy="420624"/>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93776" y="5696711"/>
            <a:ext cx="2121408" cy="256032"/>
          </a:xfrm>
          <a:prstGeom prst="rect">
            <a:avLst/>
          </a:prstGeom>
          <a:noFill/>
        </p:spPr>
        <p:txBody>
          <a:bodyPr wrap="square">
            <a:spAutoFit/>
          </a:bodyPr>
          <a:lstStyle/>
          <a:p>
            <a:pPr algn="l"/>
            <a:r>
              <a:rPr sz="950" b="1" i="0">
                <a:solidFill>
                  <a:srgbClr val="534AB7"/>
                </a:solidFill>
                <a:latin typeface="Calibri"/>
              </a:rPr>
              <a:t>Tier 3 — Build / R&amp;D</a:t>
            </a:r>
          </a:p>
        </p:txBody>
      </p:sp>
      <p:sp>
        <p:nvSpPr>
          <p:cNvPr id="58" name="TextBox 57"/>
          <p:cNvSpPr txBox="1"/>
          <p:nvPr/>
        </p:nvSpPr>
        <p:spPr>
          <a:xfrm>
            <a:off x="2724912" y="5696711"/>
            <a:ext cx="932688" cy="256032"/>
          </a:xfrm>
          <a:prstGeom prst="rect">
            <a:avLst/>
          </a:prstGeom>
          <a:noFill/>
        </p:spPr>
        <p:txBody>
          <a:bodyPr wrap="square">
            <a:spAutoFit/>
          </a:bodyPr>
          <a:lstStyle/>
          <a:p>
            <a:pPr algn="ctr"/>
            <a:r>
              <a:rPr sz="950" b="0" i="0">
                <a:solidFill>
                  <a:srgbClr val="666677"/>
                </a:solidFill>
                <a:latin typeface="Calibri"/>
              </a:rPr>
              <a:t>$1,620</a:t>
            </a:r>
          </a:p>
        </p:txBody>
      </p:sp>
      <p:sp>
        <p:nvSpPr>
          <p:cNvPr id="59" name="TextBox 58"/>
          <p:cNvSpPr txBox="1"/>
          <p:nvPr/>
        </p:nvSpPr>
        <p:spPr>
          <a:xfrm>
            <a:off x="3767328" y="5696711"/>
            <a:ext cx="932688" cy="256032"/>
          </a:xfrm>
          <a:prstGeom prst="rect">
            <a:avLst/>
          </a:prstGeom>
          <a:noFill/>
        </p:spPr>
        <p:txBody>
          <a:bodyPr wrap="square">
            <a:spAutoFit/>
          </a:bodyPr>
          <a:lstStyle/>
          <a:p>
            <a:pPr algn="ctr"/>
            <a:r>
              <a:rPr sz="950" b="0" i="0">
                <a:solidFill>
                  <a:srgbClr val="A32D2D"/>
                </a:solidFill>
                <a:latin typeface="Calibri"/>
              </a:rPr>
              <a:t>$80,000</a:t>
            </a:r>
          </a:p>
        </p:txBody>
      </p:sp>
      <p:sp>
        <p:nvSpPr>
          <p:cNvPr id="60" name="TextBox 59"/>
          <p:cNvSpPr txBox="1"/>
          <p:nvPr/>
        </p:nvSpPr>
        <p:spPr>
          <a:xfrm>
            <a:off x="4718304" y="5696711"/>
            <a:ext cx="841248" cy="256032"/>
          </a:xfrm>
          <a:prstGeom prst="rect">
            <a:avLst/>
          </a:prstGeom>
          <a:noFill/>
        </p:spPr>
        <p:txBody>
          <a:bodyPr wrap="square">
            <a:spAutoFit/>
          </a:bodyPr>
          <a:lstStyle/>
          <a:p>
            <a:pPr algn="ctr"/>
            <a:r>
              <a:rPr sz="950" b="0" i="0">
                <a:solidFill>
                  <a:srgbClr val="1D9E75"/>
                </a:solidFill>
                <a:latin typeface="Calibri"/>
              </a:rPr>
              <a:t>+$3,959</a:t>
            </a:r>
          </a:p>
        </p:txBody>
      </p:sp>
      <p:sp>
        <p:nvSpPr>
          <p:cNvPr id="61" name="TextBox 60"/>
          <p:cNvSpPr txBox="1"/>
          <p:nvPr/>
        </p:nvSpPr>
        <p:spPr>
          <a:xfrm>
            <a:off x="5577840" y="5696711"/>
            <a:ext cx="1024128" cy="256032"/>
          </a:xfrm>
          <a:prstGeom prst="rect">
            <a:avLst/>
          </a:prstGeom>
          <a:noFill/>
        </p:spPr>
        <p:txBody>
          <a:bodyPr wrap="square">
            <a:spAutoFit/>
          </a:bodyPr>
          <a:lstStyle/>
          <a:p>
            <a:pPr algn="ctr"/>
            <a:r>
              <a:rPr sz="950" b="1" i="0">
                <a:solidFill>
                  <a:srgbClr val="534AB7"/>
                </a:solidFill>
                <a:latin typeface="Calibri"/>
              </a:rPr>
              <a:t>$77,661</a:t>
            </a:r>
          </a:p>
        </p:txBody>
      </p:sp>
      <p:sp>
        <p:nvSpPr>
          <p:cNvPr id="62" name="TextBox 61"/>
          <p:cNvSpPr txBox="1"/>
          <p:nvPr/>
        </p:nvSpPr>
        <p:spPr>
          <a:xfrm>
            <a:off x="6620256" y="5696711"/>
            <a:ext cx="1591056" cy="256032"/>
          </a:xfrm>
          <a:prstGeom prst="rect">
            <a:avLst/>
          </a:prstGeom>
          <a:noFill/>
        </p:spPr>
        <p:txBody>
          <a:bodyPr wrap="square">
            <a:spAutoFit/>
          </a:bodyPr>
          <a:lstStyle/>
          <a:p>
            <a:pPr algn="ctr"/>
            <a:r>
              <a:rPr sz="950" b="0" i="0">
                <a:solidFill>
                  <a:srgbClr val="1A1A2E"/>
                </a:solidFill>
                <a:latin typeface="Calibri"/>
              </a:rPr>
              <a:t>Own the IP</a:t>
            </a:r>
          </a:p>
        </p:txBody>
      </p:sp>
      <p:sp>
        <p:nvSpPr>
          <p:cNvPr id="63" name="Rectangle 62"/>
          <p:cNvSpPr/>
          <p:nvPr/>
        </p:nvSpPr>
        <p:spPr>
          <a:xfrm>
            <a:off x="8366760" y="3803904"/>
            <a:ext cx="3520440" cy="23774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458200" y="3950208"/>
            <a:ext cx="3337560" cy="594360"/>
          </a:xfrm>
          <a:prstGeom prst="rect">
            <a:avLst/>
          </a:prstGeom>
          <a:noFill/>
        </p:spPr>
        <p:txBody>
          <a:bodyPr wrap="square">
            <a:spAutoFit/>
          </a:bodyPr>
          <a:lstStyle/>
          <a:p>
            <a:pPr algn="ctr"/>
            <a:r>
              <a:rPr sz="1300" b="1" i="0">
                <a:solidFill>
                  <a:srgbClr val="FFFFFF"/>
                </a:solidFill>
                <a:latin typeface="Calibri"/>
              </a:rPr>
              <a:t>Net Annual
Benefit</a:t>
            </a:r>
          </a:p>
        </p:txBody>
      </p:sp>
      <p:sp>
        <p:nvSpPr>
          <p:cNvPr id="65" name="TextBox 64"/>
          <p:cNvSpPr txBox="1"/>
          <p:nvPr/>
        </p:nvSpPr>
        <p:spPr>
          <a:xfrm>
            <a:off x="8458200" y="4526280"/>
            <a:ext cx="3337560" cy="658368"/>
          </a:xfrm>
          <a:prstGeom prst="rect">
            <a:avLst/>
          </a:prstGeom>
          <a:noFill/>
        </p:spPr>
        <p:txBody>
          <a:bodyPr wrap="square">
            <a:spAutoFit/>
          </a:bodyPr>
          <a:lstStyle/>
          <a:p>
            <a:pPr algn="ctr"/>
            <a:r>
              <a:rPr sz="3400" b="1" i="0">
                <a:solidFill>
                  <a:srgbClr val="1D9E75"/>
                </a:solidFill>
                <a:latin typeface="Calibri"/>
              </a:rPr>
              <a:t>$469,000+</a:t>
            </a:r>
          </a:p>
        </p:txBody>
      </p:sp>
      <p:sp>
        <p:nvSpPr>
          <p:cNvPr id="66" name="TextBox 65"/>
          <p:cNvSpPr txBox="1"/>
          <p:nvPr/>
        </p:nvSpPr>
        <p:spPr>
          <a:xfrm>
            <a:off x="8458200" y="5166360"/>
            <a:ext cx="3337560" cy="749808"/>
          </a:xfrm>
          <a:prstGeom prst="rect">
            <a:avLst/>
          </a:prstGeom>
          <a:noFill/>
        </p:spPr>
        <p:txBody>
          <a:bodyPr wrap="square">
            <a:spAutoFit/>
          </a:bodyPr>
          <a:lstStyle/>
          <a:p>
            <a:pPr algn="ctr"/>
            <a:r>
              <a:rPr sz="1200" b="0" i="0">
                <a:solidFill>
                  <a:srgbClr val="CCCCD8"/>
                </a:solidFill>
                <a:latin typeface="Calibri"/>
              </a:rPr>
              <a:t>ROI: 597%
Payback: ~2 months</a:t>
            </a:r>
          </a:p>
        </p:txBody>
      </p:sp>
      <p:sp>
        <p:nvSpPr>
          <p:cNvPr id="67" name="Rectangle 66"/>
          <p:cNvSpPr/>
          <p:nvPr/>
        </p:nvSpPr>
        <p:spPr>
          <a:xfrm>
            <a:off x="274320" y="6272784"/>
            <a:ext cx="11521440" cy="438912"/>
          </a:xfrm>
          <a:prstGeom prst="rect">
            <a:avLst/>
          </a:prstGeom>
          <a:solidFill>
            <a:srgbClr val="EEED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457200" y="6327648"/>
            <a:ext cx="11247120" cy="310896"/>
          </a:xfrm>
          <a:prstGeom prst="rect">
            <a:avLst/>
          </a:prstGeom>
          <a:noFill/>
        </p:spPr>
        <p:txBody>
          <a:bodyPr wrap="square">
            <a:spAutoFit/>
          </a:bodyPr>
          <a:lstStyle/>
          <a:p>
            <a:pPr algn="ctr"/>
            <a:r>
              <a:rPr sz="950" b="0" i="1">
                <a:solidFill>
                  <a:srgbClr val="534AB7"/>
                </a:solidFill>
                <a:latin typeface="Calibri"/>
              </a:rPr>
              <a:t>All numbers are adjustable — use the interactive ROI + R&amp;D Calculator delivered alongside this presentation for live scenario modelling with all three tiers.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0040" cy="6858000"/>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749808"/>
            <a:ext cx="8229600" cy="329184"/>
          </a:xfrm>
          <a:prstGeom prst="rect">
            <a:avLst/>
          </a:prstGeom>
          <a:noFill/>
        </p:spPr>
        <p:txBody>
          <a:bodyPr wrap="square">
            <a:spAutoFit/>
          </a:bodyPr>
          <a:lstStyle/>
          <a:p>
            <a:pPr algn="l"/>
            <a:r>
              <a:rPr sz="1100" b="1" i="0">
                <a:solidFill>
                  <a:srgbClr val="534AB7"/>
                </a:solidFill>
                <a:latin typeface="Calibri"/>
              </a:rPr>
              <a:t>THE JOSEPH GROUP</a:t>
            </a:r>
          </a:p>
        </p:txBody>
      </p:sp>
      <p:sp>
        <p:nvSpPr>
          <p:cNvPr id="5" name="TextBox 4"/>
          <p:cNvSpPr txBox="1"/>
          <p:nvPr/>
        </p:nvSpPr>
        <p:spPr>
          <a:xfrm>
            <a:off x="566928" y="1115568"/>
            <a:ext cx="9144000" cy="658368"/>
          </a:xfrm>
          <a:prstGeom prst="rect">
            <a:avLst/>
          </a:prstGeom>
          <a:noFill/>
        </p:spPr>
        <p:txBody>
          <a:bodyPr wrap="square">
            <a:spAutoFit/>
          </a:bodyPr>
          <a:lstStyle/>
          <a:p>
            <a:pPr algn="l"/>
            <a:r>
              <a:rPr sz="3600" b="1" i="0">
                <a:solidFill>
                  <a:srgbClr val="FFFFFF"/>
                </a:solidFill>
                <a:latin typeface="Calibri"/>
              </a:rPr>
              <a:t>The Ask — In Plain English</a:t>
            </a:r>
          </a:p>
        </p:txBody>
      </p:sp>
      <p:sp>
        <p:nvSpPr>
          <p:cNvPr id="6" name="Rectangle 5"/>
          <p:cNvSpPr/>
          <p:nvPr/>
        </p:nvSpPr>
        <p:spPr>
          <a:xfrm>
            <a:off x="566928" y="1883664"/>
            <a:ext cx="8321040" cy="45720"/>
          </a:xfrm>
          <a:prstGeom prst="rect">
            <a:avLst/>
          </a:prstGeom>
          <a:solidFill>
            <a:srgbClr val="185F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048256"/>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2139696"/>
            <a:ext cx="1737360" cy="292608"/>
          </a:xfrm>
          <a:prstGeom prst="rect">
            <a:avLst/>
          </a:prstGeom>
          <a:noFill/>
        </p:spPr>
        <p:txBody>
          <a:bodyPr wrap="square">
            <a:spAutoFit/>
          </a:bodyPr>
          <a:lstStyle/>
          <a:p>
            <a:pPr algn="l"/>
            <a:r>
              <a:rPr sz="1000" b="1" i="0">
                <a:solidFill>
                  <a:srgbClr val="534AB7"/>
                </a:solidFill>
                <a:latin typeface="Calibri"/>
              </a:rPr>
              <a:t>Title:</a:t>
            </a:r>
          </a:p>
        </p:txBody>
      </p:sp>
      <p:sp>
        <p:nvSpPr>
          <p:cNvPr id="9" name="TextBox 8"/>
          <p:cNvSpPr txBox="1"/>
          <p:nvPr/>
        </p:nvSpPr>
        <p:spPr>
          <a:xfrm>
            <a:off x="2487168" y="2139696"/>
            <a:ext cx="6309360" cy="292608"/>
          </a:xfrm>
          <a:prstGeom prst="rect">
            <a:avLst/>
          </a:prstGeom>
          <a:noFill/>
        </p:spPr>
        <p:txBody>
          <a:bodyPr wrap="square">
            <a:spAutoFit/>
          </a:bodyPr>
          <a:lstStyle/>
          <a:p>
            <a:pPr algn="l"/>
            <a:r>
              <a:rPr sz="1000" b="0" i="0">
                <a:solidFill>
                  <a:srgbClr val="FFFFFF"/>
                </a:solidFill>
                <a:latin typeface="Calibri"/>
              </a:rPr>
              <a:t>Director of AI &amp; Technology Operations — reports to Ian Joseph</a:t>
            </a:r>
          </a:p>
        </p:txBody>
      </p:sp>
      <p:sp>
        <p:nvSpPr>
          <p:cNvPr id="10" name="Rectangle 9"/>
          <p:cNvSpPr/>
          <p:nvPr/>
        </p:nvSpPr>
        <p:spPr>
          <a:xfrm>
            <a:off x="566928" y="2560320"/>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2651760"/>
            <a:ext cx="1737360" cy="292608"/>
          </a:xfrm>
          <a:prstGeom prst="rect">
            <a:avLst/>
          </a:prstGeom>
          <a:noFill/>
        </p:spPr>
        <p:txBody>
          <a:bodyPr wrap="square">
            <a:spAutoFit/>
          </a:bodyPr>
          <a:lstStyle/>
          <a:p>
            <a:pPr algn="l"/>
            <a:r>
              <a:rPr sz="1000" b="1" i="0">
                <a:solidFill>
                  <a:srgbClr val="534AB7"/>
                </a:solidFill>
                <a:latin typeface="Calibri"/>
              </a:rPr>
              <a:t>Starting salary:</a:t>
            </a:r>
          </a:p>
        </p:txBody>
      </p:sp>
      <p:sp>
        <p:nvSpPr>
          <p:cNvPr id="12" name="TextBox 11"/>
          <p:cNvSpPr txBox="1"/>
          <p:nvPr/>
        </p:nvSpPr>
        <p:spPr>
          <a:xfrm>
            <a:off x="2487168" y="2651760"/>
            <a:ext cx="6309360" cy="292608"/>
          </a:xfrm>
          <a:prstGeom prst="rect">
            <a:avLst/>
          </a:prstGeom>
          <a:noFill/>
        </p:spPr>
        <p:txBody>
          <a:bodyPr wrap="square">
            <a:spAutoFit/>
          </a:bodyPr>
          <a:lstStyle/>
          <a:p>
            <a:pPr algn="l"/>
            <a:r>
              <a:rPr sz="1000" b="0" i="0">
                <a:solidFill>
                  <a:srgbClr val="FFFFFF"/>
                </a:solidFill>
                <a:latin typeface="Calibri"/>
              </a:rPr>
              <a:t>$60,000–$65,000 — entry level, below AI market rate ($85K–$147K), fair for scope</a:t>
            </a:r>
          </a:p>
        </p:txBody>
      </p:sp>
      <p:sp>
        <p:nvSpPr>
          <p:cNvPr id="13" name="Rectangle 12"/>
          <p:cNvSpPr/>
          <p:nvPr/>
        </p:nvSpPr>
        <p:spPr>
          <a:xfrm>
            <a:off x="566928" y="3072384"/>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163824"/>
            <a:ext cx="1737360" cy="292608"/>
          </a:xfrm>
          <a:prstGeom prst="rect">
            <a:avLst/>
          </a:prstGeom>
          <a:noFill/>
        </p:spPr>
        <p:txBody>
          <a:bodyPr wrap="square">
            <a:spAutoFit/>
          </a:bodyPr>
          <a:lstStyle/>
          <a:p>
            <a:pPr algn="l"/>
            <a:r>
              <a:rPr sz="1000" b="1" i="0">
                <a:solidFill>
                  <a:srgbClr val="534AB7"/>
                </a:solidFill>
                <a:latin typeface="Calibri"/>
              </a:rPr>
              <a:t>90-day review:</a:t>
            </a:r>
          </a:p>
        </p:txBody>
      </p:sp>
      <p:sp>
        <p:nvSpPr>
          <p:cNvPr id="15" name="TextBox 14"/>
          <p:cNvSpPr txBox="1"/>
          <p:nvPr/>
        </p:nvSpPr>
        <p:spPr>
          <a:xfrm>
            <a:off x="2487168" y="3163824"/>
            <a:ext cx="6309360" cy="292608"/>
          </a:xfrm>
          <a:prstGeom prst="rect">
            <a:avLst/>
          </a:prstGeom>
          <a:noFill/>
        </p:spPr>
        <p:txBody>
          <a:bodyPr wrap="square">
            <a:spAutoFit/>
          </a:bodyPr>
          <a:lstStyle/>
          <a:p>
            <a:pPr algn="l"/>
            <a:r>
              <a:rPr sz="1000" b="0" i="0">
                <a:solidFill>
                  <a:srgbClr val="FFFFFF"/>
                </a:solidFill>
                <a:latin typeface="Calibri"/>
              </a:rPr>
              <a:t>Written into offer. Deliverables met → conversation moves to $75,000–$85,000</a:t>
            </a:r>
          </a:p>
        </p:txBody>
      </p:sp>
      <p:sp>
        <p:nvSpPr>
          <p:cNvPr id="16" name="Rectangle 15"/>
          <p:cNvSpPr/>
          <p:nvPr/>
        </p:nvSpPr>
        <p:spPr>
          <a:xfrm>
            <a:off x="566928" y="3584448"/>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675888"/>
            <a:ext cx="1737360" cy="292608"/>
          </a:xfrm>
          <a:prstGeom prst="rect">
            <a:avLst/>
          </a:prstGeom>
          <a:noFill/>
        </p:spPr>
        <p:txBody>
          <a:bodyPr wrap="square">
            <a:spAutoFit/>
          </a:bodyPr>
          <a:lstStyle/>
          <a:p>
            <a:pPr algn="l"/>
            <a:r>
              <a:rPr sz="1000" b="1" i="0">
                <a:solidFill>
                  <a:srgbClr val="534AB7"/>
                </a:solidFill>
                <a:latin typeface="Calibri"/>
              </a:rPr>
              <a:t>Tools budget:</a:t>
            </a:r>
          </a:p>
        </p:txBody>
      </p:sp>
      <p:sp>
        <p:nvSpPr>
          <p:cNvPr id="18" name="TextBox 17"/>
          <p:cNvSpPr txBox="1"/>
          <p:nvPr/>
        </p:nvSpPr>
        <p:spPr>
          <a:xfrm>
            <a:off x="2487168" y="3675888"/>
            <a:ext cx="6309360" cy="292608"/>
          </a:xfrm>
          <a:prstGeom prst="rect">
            <a:avLst/>
          </a:prstGeom>
          <a:noFill/>
        </p:spPr>
        <p:txBody>
          <a:bodyPr wrap="square">
            <a:spAutoFit/>
          </a:bodyPr>
          <a:lstStyle/>
          <a:p>
            <a:pPr algn="l"/>
            <a:r>
              <a:rPr sz="1000" b="0" i="0">
                <a:solidFill>
                  <a:srgbClr val="FFFFFF"/>
                </a:solidFill>
                <a:latin typeface="Calibri"/>
              </a:rPr>
              <a:t>$128/mo Tier 1 worst case · $135/mo Tier 3 infra · negligible vs savings generated</a:t>
            </a:r>
          </a:p>
        </p:txBody>
      </p:sp>
      <p:sp>
        <p:nvSpPr>
          <p:cNvPr id="19" name="Rectangle 18"/>
          <p:cNvSpPr/>
          <p:nvPr/>
        </p:nvSpPr>
        <p:spPr>
          <a:xfrm>
            <a:off x="566928" y="4096512"/>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4187952"/>
            <a:ext cx="1737360" cy="292608"/>
          </a:xfrm>
          <a:prstGeom prst="rect">
            <a:avLst/>
          </a:prstGeom>
          <a:noFill/>
        </p:spPr>
        <p:txBody>
          <a:bodyPr wrap="square">
            <a:spAutoFit/>
          </a:bodyPr>
          <a:lstStyle/>
          <a:p>
            <a:pPr algn="l"/>
            <a:r>
              <a:rPr sz="1000" b="1" i="0">
                <a:solidFill>
                  <a:srgbClr val="534AB7"/>
                </a:solidFill>
                <a:latin typeface="Calibri"/>
              </a:rPr>
              <a:t>R&amp;D credit:</a:t>
            </a:r>
          </a:p>
        </p:txBody>
      </p:sp>
      <p:sp>
        <p:nvSpPr>
          <p:cNvPr id="21" name="TextBox 20"/>
          <p:cNvSpPr txBox="1"/>
          <p:nvPr/>
        </p:nvSpPr>
        <p:spPr>
          <a:xfrm>
            <a:off x="2487168" y="4187952"/>
            <a:ext cx="6309360" cy="292608"/>
          </a:xfrm>
          <a:prstGeom prst="rect">
            <a:avLst/>
          </a:prstGeom>
          <a:noFill/>
        </p:spPr>
        <p:txBody>
          <a:bodyPr wrap="square">
            <a:spAutoFit/>
          </a:bodyPr>
          <a:lstStyle/>
          <a:p>
            <a:pPr algn="l"/>
            <a:r>
              <a:rPr sz="1000" b="0" i="0">
                <a:solidFill>
                  <a:srgbClr val="FFFFFF"/>
                </a:solidFill>
                <a:latin typeface="Calibri"/>
              </a:rPr>
              <a:t>~$3,959 Year 1 returns to Joseph Group · grows to ~$17K over 3 years</a:t>
            </a:r>
          </a:p>
        </p:txBody>
      </p:sp>
      <p:sp>
        <p:nvSpPr>
          <p:cNvPr id="22" name="Rectangle 21"/>
          <p:cNvSpPr/>
          <p:nvPr/>
        </p:nvSpPr>
        <p:spPr>
          <a:xfrm>
            <a:off x="566928" y="4608576"/>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8368" y="4700016"/>
            <a:ext cx="1737360" cy="292608"/>
          </a:xfrm>
          <a:prstGeom prst="rect">
            <a:avLst/>
          </a:prstGeom>
          <a:noFill/>
        </p:spPr>
        <p:txBody>
          <a:bodyPr wrap="square">
            <a:spAutoFit/>
          </a:bodyPr>
          <a:lstStyle/>
          <a:p>
            <a:pPr algn="l"/>
            <a:r>
              <a:rPr sz="1000" b="1" i="0">
                <a:solidFill>
                  <a:srgbClr val="534AB7"/>
                </a:solidFill>
                <a:latin typeface="Calibri"/>
              </a:rPr>
              <a:t>IP ownership:</a:t>
            </a:r>
          </a:p>
        </p:txBody>
      </p:sp>
      <p:sp>
        <p:nvSpPr>
          <p:cNvPr id="24" name="TextBox 23"/>
          <p:cNvSpPr txBox="1"/>
          <p:nvPr/>
        </p:nvSpPr>
        <p:spPr>
          <a:xfrm>
            <a:off x="2487168" y="4700016"/>
            <a:ext cx="6309360" cy="292608"/>
          </a:xfrm>
          <a:prstGeom prst="rect">
            <a:avLst/>
          </a:prstGeom>
          <a:noFill/>
        </p:spPr>
        <p:txBody>
          <a:bodyPr wrap="square">
            <a:spAutoFit/>
          </a:bodyPr>
          <a:lstStyle/>
          <a:p>
            <a:pPr algn="l"/>
            <a:r>
              <a:rPr sz="1000" b="0" i="0">
                <a:solidFill>
                  <a:srgbClr val="FFFFFF"/>
                </a:solidFill>
                <a:latin typeface="Calibri"/>
              </a:rPr>
              <a:t>100% of Tier 3 code, n8n workflows, database schema belongs to The Joseph Group</a:t>
            </a:r>
          </a:p>
        </p:txBody>
      </p:sp>
      <p:sp>
        <p:nvSpPr>
          <p:cNvPr id="25" name="Rectangle 24"/>
          <p:cNvSpPr/>
          <p:nvPr/>
        </p:nvSpPr>
        <p:spPr>
          <a:xfrm>
            <a:off x="566928" y="5120640"/>
            <a:ext cx="8339327" cy="457200"/>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58368" y="5212080"/>
            <a:ext cx="1737360" cy="292608"/>
          </a:xfrm>
          <a:prstGeom prst="rect">
            <a:avLst/>
          </a:prstGeom>
          <a:noFill/>
        </p:spPr>
        <p:txBody>
          <a:bodyPr wrap="square">
            <a:spAutoFit/>
          </a:bodyPr>
          <a:lstStyle/>
          <a:p>
            <a:pPr algn="l"/>
            <a:r>
              <a:rPr sz="1000" b="1" i="0">
                <a:solidFill>
                  <a:srgbClr val="534AB7"/>
                </a:solidFill>
                <a:latin typeface="Calibri"/>
              </a:rPr>
              <a:t>Structure:</a:t>
            </a:r>
          </a:p>
        </p:txBody>
      </p:sp>
      <p:sp>
        <p:nvSpPr>
          <p:cNvPr id="27" name="TextBox 26"/>
          <p:cNvSpPr txBox="1"/>
          <p:nvPr/>
        </p:nvSpPr>
        <p:spPr>
          <a:xfrm>
            <a:off x="2487168" y="5212080"/>
            <a:ext cx="6309360" cy="292608"/>
          </a:xfrm>
          <a:prstGeom prst="rect">
            <a:avLst/>
          </a:prstGeom>
          <a:noFill/>
        </p:spPr>
        <p:txBody>
          <a:bodyPr wrap="square">
            <a:spAutoFit/>
          </a:bodyPr>
          <a:lstStyle/>
          <a:p>
            <a:pPr algn="l"/>
            <a:r>
              <a:rPr sz="1000" b="0" i="0">
                <a:solidFill>
                  <a:srgbClr val="FFFFFF"/>
                </a:solidFill>
                <a:latin typeface="Calibri"/>
              </a:rPr>
              <a:t>W2 preferred · or 1099 contract-to-hire at $35–40/hr if Ian wants trial period</a:t>
            </a:r>
          </a:p>
        </p:txBody>
      </p:sp>
      <p:sp>
        <p:nvSpPr>
          <p:cNvPr id="28" name="Rectangle 27"/>
          <p:cNvSpPr/>
          <p:nvPr/>
        </p:nvSpPr>
        <p:spPr>
          <a:xfrm>
            <a:off x="9308592" y="1115568"/>
            <a:ext cx="2578608" cy="5047488"/>
          </a:xfrm>
          <a:prstGeom prst="rect">
            <a:avLst/>
          </a:prstGeom>
          <a:solidFill>
            <a:srgbClr val="2525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45752" y="1234440"/>
            <a:ext cx="2331720" cy="274320"/>
          </a:xfrm>
          <a:prstGeom prst="rect">
            <a:avLst/>
          </a:prstGeom>
          <a:noFill/>
        </p:spPr>
        <p:txBody>
          <a:bodyPr wrap="square">
            <a:spAutoFit/>
          </a:bodyPr>
          <a:lstStyle/>
          <a:p>
            <a:pPr algn="l"/>
            <a:r>
              <a:rPr sz="1000" b="1" i="0">
                <a:solidFill>
                  <a:srgbClr val="FFFFFF"/>
                </a:solidFill>
                <a:latin typeface="Calibri"/>
              </a:rPr>
              <a:t>In the room:</a:t>
            </a:r>
          </a:p>
        </p:txBody>
      </p:sp>
      <p:sp>
        <p:nvSpPr>
          <p:cNvPr id="30" name="TextBox 29"/>
          <p:cNvSpPr txBox="1"/>
          <p:nvPr/>
        </p:nvSpPr>
        <p:spPr>
          <a:xfrm>
            <a:off x="9445752" y="1572768"/>
            <a:ext cx="2331720" cy="4434840"/>
          </a:xfrm>
          <a:prstGeom prst="rect">
            <a:avLst/>
          </a:prstGeom>
          <a:noFill/>
        </p:spPr>
        <p:txBody>
          <a:bodyPr wrap="square">
            <a:spAutoFit/>
          </a:bodyPr>
          <a:lstStyle/>
          <a:p>
            <a:pPr algn="l"/>
            <a:r>
              <a:rPr sz="1000" b="0" i="1">
                <a:solidFill>
                  <a:srgbClr val="CCCCD8"/>
                </a:solidFill>
                <a:latin typeface="Calibri"/>
              </a:rPr>
              <a:t>"I am not asking for
engineer pay.
I am asking for $60K
to start — with one
condition: a 90-day
review with written
deliverables.
The tools cost $128
a month. A developer
costs $150 an hour.
The system pays for
itself in under
2 months.
And at Tier 3,
The Joseph Group
owns everything."</a:t>
            </a:r>
          </a:p>
        </p:txBody>
      </p:sp>
      <p:sp>
        <p:nvSpPr>
          <p:cNvPr id="31" name="Rectangle 30"/>
          <p:cNvSpPr/>
          <p:nvPr/>
        </p:nvSpPr>
        <p:spPr>
          <a:xfrm>
            <a:off x="566928" y="6291072"/>
            <a:ext cx="10972800" cy="384048"/>
          </a:xfrm>
          <a:prstGeom prst="rect">
            <a:avLst/>
          </a:prstGeom>
          <a:solidFill>
            <a:srgbClr val="534AB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6336792"/>
            <a:ext cx="10698480" cy="274320"/>
          </a:xfrm>
          <a:prstGeom prst="rect">
            <a:avLst/>
          </a:prstGeom>
          <a:noFill/>
        </p:spPr>
        <p:txBody>
          <a:bodyPr wrap="square">
            <a:spAutoFit/>
          </a:bodyPr>
          <a:lstStyle/>
          <a:p>
            <a:pPr algn="l"/>
            <a:r>
              <a:rPr sz="950" b="0" i="0">
                <a:solidFill>
                  <a:srgbClr val="FFFFFF"/>
                </a:solidFill>
                <a:latin typeface="Calibri"/>
              </a:rPr>
              <a:t>Michael M.   |   April 13, 2026   |   Confidential   |   See interactive calculator for live scenario modelling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